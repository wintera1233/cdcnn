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  <a:ea typeface="Microsoft JhengHei"/>
              </a:rPr>
              <a:t>照論文實作 CDCNN 時發現的問題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CFD3DE"/>
                </a:solidFill>
                <a:latin typeface="Calibri"/>
                <a:ea typeface="Microsoft JhengHei"/>
              </a:rPr>
              <a:t>Source-only 協定下的復現：哪些對上了、哪些對不上、以及為什麼</a:t>
            </a:r>
          </a:p>
          <a:p>
            <a:pPr>
              <a:spcBef>
                <a:spcPts val="3000"/>
              </a:spcBef>
            </a:pPr>
            <a:r>
              <a:rPr sz="1250" b="0" i="0">
                <a:solidFill>
                  <a:srgbClr val="A8ADBD"/>
                </a:solidFill>
                <a:latin typeface="Calibri"/>
                <a:ea typeface="Microsoft JhengHei"/>
              </a:rPr>
              <a:t>UCI Gas Sensor Array Drift，Batch 1 訓練、Batch 2–10 評估  ·  五個 seed  ·  runs 2026-09-22 至 09-29  ·  分支 exp/v7-redesign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513892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FD3DE"/>
                </a:solidFill>
                <a:latin typeface="Calibri"/>
                <a:ea typeface="Microsoft JhengHei"/>
              </a:rPr>
              <a:t>橘色 = 論文的生成／擴充機制產生的東西；藍色 = 真實的 target 資料。整份簡報都用這兩個顏色。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我們重現了什麼、沒重現什麼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架構、兩個元件、Fig. 5 的畫法、以及論文自己的死類別都重現了；重現不了的是準確率的增益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00200"/>
          <a:ext cx="11094413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93989"/>
                <a:gridCol w="3550212"/>
                <a:gridCol w="1775106"/>
                <a:gridCol w="177510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論文的東西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重現狀態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我們的數字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純 ResNet 基線（Fig. 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架構照圖重建，source-only 訓練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0.5556 ± 0.0137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0.6346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資料擴充（Eq. 7，等向噪聲）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照做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−0.0216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含在 +0.036 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特徵生成（Eqs. 8–16）+ L_MSE（S4）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照做，Fig. 5 畫得出同樣的圖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含在 +0.036 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特徵生成，Eq. (14) 補上正負號與幅度（v10）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照 v9 的診斷修了，仍不動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對比損失 L_con（S5）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已實作，決定不跑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Acetaldehyde 完全誤判（Fig. S3）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重現了，和論文一樣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2628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400" b="0" i="0">
                <a:solidFill>
                  <a:srgbClr val="1C1C1E"/>
                </a:solidFill>
                <a:latin typeface="Calibri"/>
                <a:ea typeface="Microsoft JhengHei"/>
              </a:rPr>
              <a:t>協定：只用 Batch 1（445 筆）訓練與選擇；Batch 2–10 在所有 checkpoint 凍結、雜湊之後才開，每次執行都有稽核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400" b="0" i="0">
                <a:solidFill>
                  <a:srgbClr val="1C1C1E"/>
                </a:solidFill>
                <a:latin typeface="Calibri"/>
                <a:ea typeface="Microsoft JhengHei"/>
              </a:rPr>
              <a:t>統計量：target mean = 九個 batch 準確率的未加權平均，與論文相同；五個 seed、附 SD，可分辨門檻 0.009–0.022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400" b="0" i="0">
                <a:solidFill>
                  <a:srgbClr val="1C1C1E"/>
                </a:solidFill>
                <a:latin typeface="Calibri"/>
                <a:ea typeface="Microsoft JhengHei"/>
              </a:rPr>
              <a:t>接下來每頁一個實作時撞到的問題，重點在問題 6、7、8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論文的文字與圖互相矛盾，資料支持圖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能照做的都照做了；每個歧義都記錄了兩種讀法的差，最大的一個是 pooling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7223759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55801"/>
                <a:gridCol w="2456078"/>
                <a:gridCol w="2167128"/>
                <a:gridCol w="144475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論文的地方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文字說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圖說／實作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實測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Channel 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§5.2「1 到 128 逐步增加」→ 32/64/128/128/128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Fig. 2 印 32/64/128/256/128，內層 512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圖版高 +0.03 到 +0.05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Pooling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「doesn't apply the pooling layer」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加 GAP 掉 −0.078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Eq. (S2)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對 minibatch 取未加權平均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最後一批只有 61 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照 S2，並記錄兩種平均的差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Eq. (S4)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只有 1/B、1/n，沒有 1/C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F.mse_loss 預設會除以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照 S4，六項相加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Eqs. (10)–(11)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結果在 R^{B×CH}，那會讓重上色變恆等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逐純量／channel／位置三種讀法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三種都做，都約零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Eq. (14)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高斯可抽到負的尺度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照論文不截斷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逐位置負值比例 0.000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2_cd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00200"/>
            <a:ext cx="3566160" cy="2095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4023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論文 Fig. 2：channel 32/64/128/256/128，無 pooling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4805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300" b="1" i="0">
                <a:solidFill>
                  <a:srgbClr val="1C1C1E"/>
                </a:solidFill>
                <a:latin typeface="Calibri"/>
                <a:ea typeface="Microsoft JhengHei"/>
              </a:rPr>
              <a:t>Pooling 那句是關鍵句：加了全域平均池化就掉 0.078，比任何 CDCNN 元件的效應都大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資料集的標籤對不上論文的 Table 2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不影響任何準確率（模型只看整數），但影響所有「某氣體怎樣」的敘述</a:t>
            </a:r>
          </a:p>
        </p:txBody>
      </p:sp>
      <p:pic>
        <p:nvPicPr>
          <p:cNvPr id="4" name="Picture 3" descr="fig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86400" cy="2541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論文的 PCA 總圖（batch1 面板），依氣體名稱上色</a:t>
            </a:r>
          </a:p>
        </p:txBody>
      </p:sp>
      <p:pic>
        <p:nvPicPr>
          <p:cNvPr id="6" name="Picture 5" descr="batch1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349240" cy="2263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11480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我們的 Batch 1 PCA，只標整數標籤，避免圖帶著讀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9441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50" b="0" i="0">
                <a:solidFill>
                  <a:srgbClr val="1C1C1E"/>
                </a:solidFill>
                <a:latin typeface="Calibri"/>
                <a:ea typeface="Microsoft JhengHei"/>
              </a:rPr>
              <a:t>資料集文件：1=Ethanol, 2=Ethylene, 3=Ammonia, 4=Acetaldehyde, 5=Acetone, 6=Toluene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50" b="0" i="0">
                <a:solidFill>
                  <a:srgbClr val="1C1C1E"/>
                </a:solidFill>
                <a:latin typeface="Calibri"/>
                <a:ea typeface="Microsoft JhengHei"/>
              </a:rPr>
              <a:t>論文 Table 2 的 Batch 1 各氣體筆數（83/30/70/98/90/74）照欄位順序讀，要求標籤 1 有 83 筆；實際是 90。六欄只有一欄對得上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350" b="1" i="0">
                <a:solidFill>
                  <a:srgbClr val="1C1C1E"/>
                </a:solidFill>
                <a:latin typeface="Calibri"/>
                <a:ea typeface="Microsoft JhengHei"/>
              </a:rPr>
              <a:t>用 Batch 1 的 PCA 形狀對論文的圖，判定標籤 2 與 3 互換：採用 1=Ethanol, 2=Ammonia, 3=Ethylene, 4=Acetaldehyde, 5=Acetone, 6=Toluene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50" b="0" i="0">
                <a:solidFill>
                  <a:srgbClr val="1C1C1E"/>
                </a:solidFill>
                <a:latin typeface="Calibri"/>
                <a:ea typeface="Microsoft JhengHei"/>
              </a:rPr>
              <a:t>前一分支沒有資料集文件，用筆數硬對，對應表是錯的；這裡的衝突只記錄、不宣稱解決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Fig. S1 的曲線畫的是什麼？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訓練曲線和 target 曲線都對不上；而且 source-only 下沒有停止規則</a:t>
            </a:r>
          </a:p>
        </p:txBody>
      </p:sp>
      <p:pic>
        <p:nvPicPr>
          <p:cNvPr id="4" name="Picture 3" descr="fig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707625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論文 Fig. S1：(a) 準確率在 0.58／0.65／0.70 進入平台，(b) CDCNN 的 loss 停在 1.5</a:t>
            </a:r>
          </a:p>
        </p:txBody>
      </p:sp>
      <p:pic>
        <p:nvPicPr>
          <p:cNvPr id="6" name="Picture 5" descr="figS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5723466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554480"/>
            <a:ext cx="507492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300" b="1" i="0">
                <a:solidFill>
                  <a:srgbClr val="1C1C1E"/>
                </a:solidFill>
                <a:latin typeface="Calibri"/>
                <a:ea typeface="Microsoft JhengHei"/>
              </a:rPr>
              <a:t>我們的 Batch 1 訓練準確率 10 個 epoch 內就過 0.95，最後 1.000；target mean 落在 0.35–0.55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00" b="0" i="0">
                <a:solidFill>
                  <a:srgbClr val="1C1C1E"/>
                </a:solidFill>
                <a:latin typeface="Calibri"/>
                <a:ea typeface="Microsoft JhengHei"/>
              </a:rPr>
              <a:t>若 S1 是訓練曲線，0.58 太低；若是 target 曲線，它暗示訓練時一直在看 target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00" b="0" i="0">
                <a:solidFill>
                  <a:srgbClr val="1C1C1E"/>
                </a:solidFill>
                <a:latin typeface="Calibri"/>
                <a:ea typeface="Microsoft JhengHei"/>
              </a:rPr>
              <a:t>S1(b)：CDCNN 的 loss 比另外兩個高 1.0。多了 L_MSE 與 L_con 兩項，高是合理的，但我們量到的 L_MSE 最終只佔 loss 的 3%，那 1.0 幾乎全是對比損失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B2D42"/>
                </a:solidFill>
                <a:latin typeface="Calibri"/>
                <a:ea typeface="Microsoft JhengHei"/>
              </a:rPr>
              <a:t>沒有 source-only 的停止規則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00" b="0" i="0">
                <a:solidFill>
                  <a:srgbClr val="1C1C1E"/>
                </a:solidFill>
                <a:latin typeface="Calibri"/>
                <a:ea typeface="Microsoft JhengHei"/>
              </a:rPr>
              <a:t>5-fold CV、120 個 fold：held-out accuracy 與 loss 的峰值都落在 epoch 60–100，而 target 的峰值在 7／40／70，兩者反相關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00" b="0" i="0">
                <a:solidFill>
                  <a:srgbClr val="1C1C1E"/>
                </a:solidFill>
                <a:latin typeface="Calibri"/>
                <a:ea typeface="Microsoft JhengHei"/>
              </a:rPr>
              <a:t>epoch 只能固定為 100，這是唯一不看 target 的做法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論文自己的 CDCNN 也死在 Acetaldehyde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三個模型都是 0.00，都送進 Ethanol；所以差距全在其他五類</a:t>
            </a:r>
          </a:p>
        </p:txBody>
      </p:sp>
      <p:pic>
        <p:nvPicPr>
          <p:cNvPr id="4" name="Picture 3" descr="figS3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651862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519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論文 Fig. S3：CDCNN 把 100% 的 Acetaldehyde 判成 Ethanol</a:t>
            </a:r>
          </a:p>
        </p:txBody>
      </p:sp>
      <p:pic>
        <p:nvPicPr>
          <p:cNvPr id="6" name="Picture 5" descr="baseline-confusion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043" y="1554480"/>
            <a:ext cx="4327314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25196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我們的基線混淆矩陣：Acetaldehyde 一樣是 0.00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617720"/>
          <a:ext cx="5669278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7555"/>
                <a:gridCol w="1247241"/>
                <a:gridCol w="1247241"/>
                <a:gridCol w="124724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 CDCNN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 CDWC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我們的基線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Ethanol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Ethylene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Ammonia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Acetaldehyde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Acetone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Toluene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61772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原因是漂移，不是化學相似：Acetaldehyde 在 Batch 1 上 recall 1.000，target 上每個 batch 的質心都落到 Batch 1 的 Ethanol 位置</a:t>
            </a:r>
          </a:p>
          <a:p>
            <a:pPr>
              <a:spcAft>
                <a:spcPts val="5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它佔 target 14%，論文的 pooled 準確率因此只有約 0.80；0.7230 是在它為零的情況下達成的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50" b="1" i="0">
                <a:solidFill>
                  <a:srgbClr val="1C1C1E"/>
                </a:solidFill>
                <a:latin typeface="Calibri"/>
                <a:ea typeface="Microsoft JhengHei"/>
              </a:rPr>
              <a:t>與論文的差距在其他五類，尤其 Toluene（0.92 對 0.39）與 Acetone（0.94 對 0.51）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等向擴充是負的，有方向才是正的，但方向來自 target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無方向的位移是負的，同樣的位移給了方向就是本專案唯一可分辨的增益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5852158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70432"/>
                <a:gridCol w="1989734"/>
                <a:gridCol w="1053388"/>
                <a:gridCol w="936345"/>
                <a:gridCol w="70225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變體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擴充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target mean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vs 基準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可分辨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R-aug-t2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沿漂移方向，T=2，無噪聲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0.5770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+0.0214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R-fig-logps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無（基準）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0.5556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R-aug-paper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論文 Eq. (7) 等向噪聲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0.5340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−0.0216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46120"/>
            <a:ext cx="58521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方向是看過 target 才選的，T 與去噪聲也是：target-informed，只能算上界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增益全是 Acetone +0.255 換 Ethylene −0.272；Ethylene 是漂移方向與共用方向最不對齊的類別（cos 0.451）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50" b="1" i="0">
                <a:solidFill>
                  <a:srgbClr val="1C1C1E"/>
                </a:solidFill>
                <a:latin typeface="Calibri"/>
                <a:ea typeface="Microsoft JhengHei"/>
              </a:rPr>
              <a:t>死類別仍是 0.003：Acetaldehyde 與 Ethanol 幾乎一起漂（cos 0.761），共用方向平移解不開兩者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Source-only 的替代：Batch 1 自己兩個採集區塊的偏移能估到方向（cos 0.850）；v10 在 block 3 用過，輸入端還沒有</a:t>
            </a:r>
          </a:p>
        </p:txBody>
      </p:sp>
      <p:pic>
        <p:nvPicPr>
          <p:cNvPr id="6" name="Picture 5" descr="drift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983480" cy="18461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35204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漂移的譜：PC1 佔 70.6%，90% 要 4 個成分；Ethylene 是例外</a:t>
            </a:r>
          </a:p>
        </p:txBody>
      </p:sp>
      <p:pic>
        <p:nvPicPr>
          <p:cNvPr id="8" name="Picture 7" descr="augmentation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977639"/>
            <a:ext cx="4983480" cy="1641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57607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Batch 1 擴充前後的三維 PCA（v8.0）：等向噪聲只把雲撐大，到 target Acetaldehyde 重心的最近距離不變（2.36）；有方向的位移才縮到 1.46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論文 Fig. 5 的畫法在 source-only 下違規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caption：「the feature generation block in one of the test domains (batch2)」</a:t>
            </a:r>
          </a:p>
        </p:txBody>
      </p:sp>
      <p:pic>
        <p:nvPicPr>
          <p:cNvPr id="4" name="Picture 3" descr="fig5-feature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86400" cy="316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論文 Fig. 5：區塊套在 batch 2 上（橘），與 batch 2 的原始特徵（藍）比</a:t>
            </a:r>
          </a:p>
        </p:txBody>
      </p:sp>
      <p:pic>
        <p:nvPicPr>
          <p:cNvPr id="6" name="Picture 5" descr="feature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394960" cy="2976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7548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我們照同樣畫法畫：形狀對得上，橘色比藍色寬、往外延伸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300" b="1" i="0">
                <a:solidFill>
                  <a:srgbClr val="1C1C1E"/>
                </a:solidFill>
                <a:latin typeface="Calibri"/>
                <a:ea typeface="Microsoft JhengHei"/>
              </a:rPr>
              <a:t>這張圖用了 target 資料。區塊套在 batch 2 上才有橘點；每個 batch 各自這樣畫，就是每個 batch 都獨立進了模型。訓練時區塊只看得到 Batch 1，推論時區塊根本不作用（Fig. 2）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300" b="1" i="0">
                <a:solidFill>
                  <a:srgbClr val="1C1C1E"/>
                </a:solidFill>
                <a:latin typeface="Calibri"/>
                <a:ea typeface="Microsoft JhengHei"/>
              </a:rPr>
              <a:t>這是循環論證。從 batch 2 生成的特徵當然靠近 batch 2，不管區塊做什麼；它證明不了區塊「涵蓋到未見過的域」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00" b="0" i="0">
                <a:solidFill>
                  <a:srgbClr val="1C1C1E"/>
                </a:solidFill>
                <a:latin typeface="Calibri"/>
                <a:ea typeface="Microsoft JhengHei"/>
              </a:rPr>
              <a:t>正確的問法：區塊只作用在 Batch 1，生成出來的雲有沒有到後面的 batch？→ 下一頁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從 Batch 1 生成的特徵沒有覆蓋任何後續 batch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X 軸 = 該（氣體, batch）的真實漂移方向 u，Y 軸 = 扣掉 u 之後殘差的第一主成分。漂移軸是建構出來的，雲沒有沿它走就藏不起來</a:t>
            </a:r>
          </a:p>
        </p:txBody>
      </p:sp>
      <p:pic>
        <p:nvPicPr>
          <p:cNvPr id="4" name="Picture 3" descr="generation_drift_aligned_2d_b2-7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50" y="1600200"/>
            <a:ext cx="962959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灰 = Batch 1 原始特徵；橘 = 從 Batch 1 生成的人工特徵；藍 = target 原始特徵。直線是 Batch 1 質心與 target 質心。橘色疊在灰色上，藍色在另一邊，中間一段空隙（B2／B7／B10；九個 batch 的完整版在 reports/figures/）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同一件事，沿漂移軸量成數字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把每片雲投影到 u 上，source 質心在 0、target 質心在 1；51 個（氣體, batch）格</a:t>
            </a:r>
          </a:p>
        </p:txBody>
      </p:sp>
      <p:pic>
        <p:nvPicPr>
          <p:cNvPr id="4" name="Picture 3" descr="generation_drift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37" y="1554480"/>
            <a:ext cx="8628221" cy="30175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709160"/>
          <a:ext cx="5669279" cy="1316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01568"/>
                <a:gridCol w="1020470"/>
                <a:gridCol w="124724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一維量（沿 u）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中位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範圍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橘雲與藍雲的直方圖重疊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0.00–0.42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橘雲寬度 ÷ 灰雲寬度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0.80–1.16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區塊沿 u 的配對位移（漂移距離為單位）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0.007–0.166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70916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00" b="1" i="0">
                <a:solidFill>
                  <a:srgbClr val="1C1C1E"/>
                </a:solidFill>
                <a:latin typeface="Calibri"/>
                <a:ea typeface="Microsoft JhengHei"/>
              </a:rPr>
              <a:t>沿漂移軸，人工雲與 Batch 1 原始雲是同一片雲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00" b="0" i="0">
                <a:solidFill>
                  <a:srgbClr val="1C1C1E"/>
                </a:solidFill>
                <a:latin typeface="Calibri"/>
                <a:ea typeface="Microsoft JhengHei"/>
              </a:rPr>
              <a:t>重疊 ≥ 0.10 的六格全是 target 自己散回 source 附近（B2 的 Ethanol、Ammonia、Acetone 等），不是橘雲走過去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00" b="0" i="0">
                <a:solidFill>
                  <a:srgbClr val="1C1C1E"/>
                </a:solidFill>
                <a:latin typeface="Calibri"/>
                <a:ea typeface="Microsoft JhengHei"/>
              </a:rPr>
              <a:t>換另一個 checkpoint（R-aug-t2）重跑，每格差在小數第三位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00" b="0" i="0">
                <a:solidFill>
                  <a:srgbClr val="1C1C1E"/>
                </a:solidFill>
                <a:latin typeface="Calibri"/>
                <a:ea typeface="Microsoft JhengHei"/>
              </a:rPr>
              <a:t>之前的 2D PCA 凸包、全維半徑、質心距離三種量法互相矛盾，各有盲點；這個一維量法才誠實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為什麼會這樣：Eq. (14) 沒有正負號，沿軸幅度太小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區塊瞄的軸是對的，但它對稱地位移，而且落到單一漂移軸上的分量很小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567863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9928"/>
            <a:ext cx="220210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A78D6"/>
                </a:solidFill>
                <a:latin typeface="Cambria"/>
                <a:ea typeface="Microsoft JhengHei"/>
              </a:rPr>
              <a:t>3.1–4.6×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擾動對真實漂移的 |cos|，相對隨機方向的虛無值。軸是對的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823" y="1600200"/>
            <a:ext cx="2567863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73703" y="1709928"/>
            <a:ext cx="220210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  <a:ea typeface="Microsoft JhengHei"/>
              </a:rPr>
              <a:t>−7.5%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3703" y="237744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有號分量 ÷ 典型幅度，逐類平均。順著與逆著漂移機率相同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00200"/>
            <a:ext cx="2567863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709928"/>
            <a:ext cx="220210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  <a:ea typeface="Microsoft JhengHei"/>
              </a:rPr>
              <a:t>30×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37744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全空間模長「只差 2 倍」，投影到任一條漂移軸差 30 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5191" y="1600200"/>
            <a:ext cx="2567863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8071" y="1709928"/>
            <a:ext cx="220210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+0.0004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8071" y="237744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特徵生成的準確率效應，四格五 seed。效應下限的十分之一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11094415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400" b="0" i="0">
                <a:solidFill>
                  <a:srgbClr val="1C1C1E"/>
                </a:solidFill>
                <a:latin typeface="Calibri"/>
                <a:ea typeface="Microsoft JhengHei"/>
              </a:rPr>
              <a:t>7.6% 的擾動能量落在 51 維漂移張成空間，虛無值 0.3%：區塊確實偏好漂移的子空間，不是亂指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400" b="1" i="0">
                <a:solidFill>
                  <a:srgbClr val="1C1C1E"/>
                </a:solidFill>
                <a:latin typeface="Calibri"/>
                <a:ea typeface="Microsoft JhengHei"/>
              </a:rPr>
              <a:t>但 Eq. (14) 的高斯是對稱的。教分類器對 ±ε 鄰域不變，只會均勻撐大決策區域，不會把邊界搬向漂移後的資料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400" b="0" i="0">
                <a:solidFill>
                  <a:srgbClr val="1C1C1E"/>
                </a:solidFill>
                <a:latin typeface="Calibri"/>
                <a:ea typeface="Microsoft JhengHei"/>
              </a:rPr>
              <a:t>網路確實學到了區塊要求的不變性：L_MSE 降 2–5 倍，λ 拉到論文上限 1.0 也只差 0.0002。但真實漂移有 94% 原封不動穿過 backbone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400" b="0" i="0">
                <a:solidFill>
                  <a:srgbClr val="1C1C1E"/>
                </a:solidFill>
                <a:latin typeface="Calibri"/>
                <a:ea typeface="Microsoft JhengHei"/>
              </a:rPr>
              <a:t>與問題 5 是同一件事的兩面：無方向的位移是負的或零，方向就是全部效應，而 Eq. (14) 把它丟掉了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把正負號補上也沒用（v10.0）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方向用 Batch 1 自己兩個採集區塊的偏移，在 block 3 的 style 空間估，每個 epoch 重估，不碰 target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6949438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42416"/>
                <a:gridCol w="2432304"/>
                <a:gridCol w="972921"/>
                <a:gridCol w="764438"/>
                <a:gridCol w="972921"/>
                <a:gridCol w="76443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變體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Eq. (14)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target mean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SD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vs R-gen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可分辨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R-gen-shift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論文噪聲 + 2 個區塊偏移的定向位移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0.5796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0.0077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+0.0023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R-gen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論文原版，對稱高斯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0.5773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R-aug-t2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無區塊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0.5770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0.0078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−0.0003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R-gen-sign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只修正負號，幅度照論文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0.5767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0.0115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−0.0006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0" y="1600200"/>
          <a:ext cx="388620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1321308"/>
                <a:gridCol w="101041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cos 與真實漂移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位移 / 漂移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Ethanol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+0.769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Ammonia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+0.558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1.16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Ethylene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+0.305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1.41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Acetaldehyde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+0.596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Acetone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+0.693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Toluene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51 格平均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+0.593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39319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事後在 style 空間量；隨機方向的虛無值 0.088（scripts/measure_signed_direction.py）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6949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50" b="1" i="0">
                <a:solidFill>
                  <a:srgbClr val="1C1C1E"/>
                </a:solidFill>
                <a:latin typeface="Calibri"/>
                <a:ea typeface="Microsoft JhengHei"/>
              </a:rPr>
              <a:t>方向是對的、幅度也對：六類 cos 全為正，位移是真實漂移的 0.73 到 1.41 倍。事前記錄的「可能反向」風險沒有發生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每個 batch、每個類別的差都在 0.012 內；同樣的定向位移在輸入端（v8.1）能把 Acetone、Ethylene 各搬 0.25 以上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50" b="1" i="0">
                <a:solidFill>
                  <a:srgbClr val="1C1C1E"/>
                </a:solidFill>
                <a:latin typeface="Calibri"/>
                <a:ea typeface="Microsoft JhengHei"/>
              </a:rPr>
              <a:t>事前否證條件觸發。特徵生成區塊作為機制關掉了，與 Eq. (14) 有沒有正負號無關：它能碰到的子空間不是決策邊界會回應的那一個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混淆：四格都帶輸入端的 R-aug-t2，shift 量到的是同方向位移之上的邊際效應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最後一個元件 L_con（Eq. S5）：已實作，決定不跑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論文三個元件裡唯一要求不變性的損失，但它要求的不變性對象已經被 v9、v10 量掉了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8640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Cambria"/>
                <a:ea typeface="Microsoft JhengHei"/>
              </a:rPr>
              <a:t>L_con = − Σᵢ (1/|P(i)|) Σₚ∈P(i) log [ exp(f(zᵢ)·f(zₚ)/τ) / Σₐ∈A(i) exp(f(zᵢ)·f(zₐ)/τ) ]</a:t>
            </a:r>
          </a:p>
          <a:p>
            <a:pPr>
              <a:spcBef>
                <a:spcPts val="600"/>
              </a:spcBef>
            </a:pPr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Z = z_f ∪ z̄_f，生成特徵沿用原標籤；f 投影到單位球。τ 與 λ_con 論文都沒給。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2B2D42"/>
                </a:solidFill>
                <a:latin typeface="Calibri"/>
                <a:ea typeface="Microsoft JhengHei"/>
              </a:rPr>
              <a:t>做好的東西</a:t>
            </a:r>
          </a:p>
          <a:p>
            <a:pPr>
              <a:spcAft>
                <a:spcPts val="5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src/loss.py 的 supervised_contrastive；train.py 接上 Eq. (4) 第三項；四格 config（R-con、R-con-shift、R-con-t5 對 R-gen）含事前預測；單元測試與單一 minibatch 前向通過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2B2D42"/>
                </a:solidFill>
                <a:latin typeface="Calibri"/>
                <a:ea typeface="Microsoft JhengHei"/>
              </a:rPr>
              <a:t>為什麼不跑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50" b="1" i="0">
                <a:solidFill>
                  <a:srgbClr val="1C1C1E"/>
                </a:solidFill>
                <a:latin typeface="Calibri"/>
                <a:ea typeface="Microsoft JhengHei"/>
              </a:rPr>
              <a:t>它要求 z_f 對 z̄_f 不變。v9、v10 量過 z̄_f：從 Batch 1 生成的雲沒有離開 Batch 1（沿漂移軸重疊 0.00、寬度比 1.01）；連方向對、幅度對的 z̄_f 都只值 +0.0023。對一個沒離開 source 的擾動做不變性，不會變成對真實漂移的不變性</a:t>
            </a:r>
          </a:p>
          <a:p>
            <a:pPr>
              <a:spcAft>
                <a:spcPts val="5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前一分支在另一個 backbone 上量了五次：−0.005 到 +0.003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00200"/>
            <a:ext cx="260604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09928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4.8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L_con 的起始值 ≈ log(127)，是 L_ce 的兩倍多；乘 0.5 後主導前期梯度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00200"/>
            <a:ext cx="256032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0992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3774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6666E"/>
                </a:solidFill>
                <a:latin typeface="Calibri"/>
                <a:ea typeface="Microsoft JhengHei"/>
              </a:rPr>
              <a:t>論文 Fig. S1(b) 裡 CDCNN 的 loss 平台，另外兩個是 0.5。與上面一致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257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2D42"/>
                </a:solidFill>
                <a:latin typeface="Calibri"/>
                <a:ea typeface="Microsoft JhengHei"/>
              </a:rPr>
              <a:t>結論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250" b="1" i="0">
                <a:solidFill>
                  <a:srgbClr val="1C1C1E"/>
                </a:solidFill>
                <a:latin typeface="Calibri"/>
                <a:ea typeface="Microsoft JhengHei"/>
              </a:rPr>
              <a:t>論文三個元件：兩個量到零，第三個的前提已被量掉。復現到此為止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config 與預測留檔；要補跑是一次 gpu-smoke 加一次 launch，約 15 分鐘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250" b="0" i="0">
                <a:solidFill>
                  <a:srgbClr val="1C1C1E"/>
                </a:solidFill>
                <a:latin typeface="Calibri"/>
                <a:ea typeface="Microsoft JhengHei"/>
              </a:rPr>
              <a:t>否證條件也寫好了：R-con 若與 R-gen 可分辨，代表前一分支的五次零是 backbone 的問題，論文的 +0.053 在 source-only 下有立足點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我們自己的延伸：把 Batch 1 估到的漂移軸投影掉（v12）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離開 CDCNN，留在 source-only：x′ = x − U Uᵀ x，U 來自 Batch 1 兩次採集的偏移，不帶擴充、不帶生成區塊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00200"/>
          <a:ext cx="6766558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14984"/>
                <a:gridCol w="2503627"/>
                <a:gridCol w="338328"/>
                <a:gridCol w="947318"/>
                <a:gridCol w="879652"/>
                <a:gridCol w="108264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變體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拿掉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target mean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vs 基準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可分辨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R-proj-eth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Ethanol 的採集偏移（選它是看過 target）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+0.0191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是（上界）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R-proj-axis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三個偏移的共同軸（頭條）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0.5684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+0.0128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否，門檻 0.0145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R-proj-sub3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三個偏移張成的空間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0.5610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R-fig-logps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0.5556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0" y="1600200"/>
          <a:ext cx="4069078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93849"/>
                <a:gridCol w="691743"/>
                <a:gridCol w="691743"/>
                <a:gridCol w="69174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機制指標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axis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sub3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eth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真實漂移幅度保留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類內半徑保留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0.74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Acetaldehyde 落在 Ethanol 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7/9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8/9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8/9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batch1_drift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6766560" cy="2337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6666E"/>
                </a:solidFill>
                <a:latin typeface="Calibri"/>
                <a:ea typeface="Microsoft JhengHei"/>
              </a:rPr>
              <a:t>Batch 1 自己的 PCA 平面：氣體沿 PC1 分開，兩次採集沿 PC2 錯開；拿掉那條軸後 Batch 1 還分得開（CV 0.9709 對 0.9680）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108960"/>
            <a:ext cx="40690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150" b="1" i="0">
                <a:solidFill>
                  <a:srgbClr val="1C1C1E"/>
                </a:solidFill>
                <a:latin typeface="Calibri"/>
                <a:ea typeface="Microsoft JhengHei"/>
              </a:rPr>
              <a:t>Batch 1 估得到的軸只裝 29% 的三年漂移能量，卻裝 42% 的類內散佈：它是方向估計，不是漂移本身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150" b="0" i="0">
                <a:solidFill>
                  <a:srgbClr val="1C1C1E"/>
                </a:solidFill>
                <a:latin typeface="Calibri"/>
                <a:ea typeface="Microsoft JhengHei"/>
              </a:rPr>
              <a:t>要拿掉夠多漂移就得拿三維，而那三維裝 76% 的類間變異。漂移與類別資訊在同一個低維子空間裡糾在一起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150" b="0" i="0">
                <a:solidFill>
                  <a:srgbClr val="1C1C1E"/>
                </a:solidFill>
                <a:latin typeface="Calibri"/>
                <a:ea typeface="Microsoft JhengHei"/>
              </a:rPr>
              <a:t>逐類別形狀與擴充一模一樣：Acetone +0.24、Ethylene −0.28。加樣本與刪座標撞到同一個天花板，天花板是資料的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150" b="1" i="0">
                <a:solidFill>
                  <a:srgbClr val="1C1C1E"/>
                </a:solidFill>
                <a:latin typeface="Calibri"/>
                <a:ea typeface="Microsoft JhengHei"/>
              </a:rPr>
              <a:t>兩個事前否證條件都觸發；source-only 定案仍是 0.5556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總結：機制都重現了，增益沒有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兩個分支、兩個 backbone，兩個元件在 source-only 下都約零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00200"/>
          <a:ext cx="11094413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93989"/>
                <a:gridCol w="1996994"/>
                <a:gridCol w="2662659"/>
                <a:gridCol w="244077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元件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本分支（五 seed）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前一分支（另一 backbone）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論文宣稱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資料擴充（論文等向）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−0.0216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−0.013 到 −0.009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ResNet→CDWC +0.036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資料擴充（有方向，target-informed）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+0.0214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特徵生成 + L_MSE（論文原版）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+0.0004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+0.001 到 +0.014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（含在上列）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特徵生成，Eq. (14) 加正負號與幅度（v10.0）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+0.0023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對比損失 L_con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已實作，未跑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−0.005 到 +0.003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CDWC→CDCNN +0.053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（非論文）投影掉 Batch 1 估的漂移軸（v12）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+0.0128，不可分辨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43400"/>
            <a:ext cx="110944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B2D42"/>
                </a:solidFill>
                <a:latin typeface="Calibri"/>
                <a:ea typeface="Microsoft JhengHei"/>
              </a:rPr>
              <a:t>重現了的：架構、Eq. (7) 擴充、Eqs. (8)–(16) 生成、Fig. 5 的畫法、Acetaldehyde 的死亡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2B2D42"/>
                </a:solidFill>
                <a:latin typeface="Calibri"/>
                <a:ea typeface="Microsoft JhengHei"/>
              </a:rPr>
              <a:t>重現不了的：論文的準確率增益。source-only 定案 0.5556，所有 0.577 系列都是看過 target 的上界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50" b="0" i="0">
                <a:solidFill>
                  <a:srgbClr val="1C1C1E"/>
                </a:solidFill>
                <a:latin typeface="Calibri"/>
                <a:ea typeface="Microsoft JhengHei"/>
              </a:rPr>
              <a:t>與論文的差距在 Acetaldehyde 之外的五類，來源不在這三個元件裡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350" b="0" i="0">
                <a:solidFill>
                  <a:srgbClr val="1C1C1E"/>
                </a:solidFill>
                <a:latin typeface="Calibri"/>
                <a:ea typeface="Microsoft JhengHei"/>
              </a:rPr>
              <a:t>Fig. 5 用 target 資料畫圖、標籤對不上 Table 2、Fig. S1 的曲線來源不明，三件事都寫進了文件，只記錄、不推測動機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文獻對照：Batch 1 訓練、Batch 2–10 測試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E"/>
                </a:solidFill>
                <a:latin typeface="Calibri"/>
                <a:ea typeface="Microsoft JhengHei"/>
              </a:rPr>
              <a:t>平均準確率是九個 batch 的未加權平均，與我們的 target mean 相同；差別只在各方法看到多少 target 的資訊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7680959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3149193"/>
                <a:gridCol w="1305763"/>
                <a:gridCol w="1305763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用到的 target 資訊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方法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來源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平均 B2–10 (%)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不碰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SVM-rbf，資料集原論文的基線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Vergara 2012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38.9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不碰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FCNN，無補償（NC）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KD 論文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38.7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不碰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OSC 正交訊號校正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Yi 2019 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56.5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不碰 target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我們的 ResNet，R-fig-logps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本專案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55.6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不碰 target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我們的投影，R-proj-axis（不可分辨）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本專案 v12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56.8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不碰 target（宣稱）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CDCNN 論文的 ResNet / CDWC / CDCNN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論文 Table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63.5 / 67.1 / 72.3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看過 target 選方向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我們的 R-aug-t2 / R-proj-eth（上界）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本專案 v8.1 / v12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57.7 / 57.5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無標籤 target 樣本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SVM-gfk / SVM-comgfk 測地流核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Vergara 2012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63.8 / 64.0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無標籤 target 樣本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ML-comgfk 流形正則化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Vergara 2012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67.3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無標籤 target 樣本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DRCA 子空間對齊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Zhang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62.2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無標籤 target 樣本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D-DRCA 有判別力的子空間對齊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Yi 2019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73.8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無標籤 target，半批調參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KD-DM 知識蒸餾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KD 論文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47.9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兩個 source batch + 無標籤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AMDS-PFFA 注意力多源域適應（加權平均）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83.2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每批 20 筆有標籤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DAELM-S(20)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Zhang 2015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80.8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每批 50 筆有標籤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DAELM-T(50)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Zhang 2015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91.9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554480"/>
            <a:ext cx="315468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100" b="1" i="0">
                <a:solidFill>
                  <a:srgbClr val="1C1C1E"/>
                </a:solidFill>
                <a:latin typeface="Calibri"/>
                <a:ea typeface="Microsoft JhengHei"/>
              </a:rPr>
              <a:t>不碰 target 的方法沒有一個超過 60%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100" b="0" i="0">
                <a:solidFill>
                  <a:srgbClr val="1C1C1E"/>
                </a:solidFill>
                <a:latin typeface="Calibri"/>
                <a:ea typeface="Microsoft JhengHei"/>
              </a:rPr>
              <a:t>我們的 55.6 比原論文的 SVM 高 17 個百分點，與 OSC 持平；CDCNN 論文的 63.5 是這一列唯一的例外，而它的 Fig. 5 已被抓到用了 target 資料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100" b="1" i="0">
                <a:solidFill>
                  <a:srgbClr val="1C1C1E"/>
                </a:solidFill>
                <a:latin typeface="Calibri"/>
                <a:ea typeface="Microsoft JhengHei"/>
              </a:rPr>
              <a:t>跨過 60% 的做法清一色是看 target 的無標籤樣本做子空間對齊，DRCA 那一家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100" b="0" i="0">
                <a:solidFill>
                  <a:srgbClr val="1C1C1E"/>
                </a:solidFill>
                <a:latin typeface="Calibri"/>
                <a:ea typeface="Microsoft JhengHei"/>
              </a:rPr>
              <a:t>DRCA 做的事和 v12 的投影幾乎一樣，差別是方向來自 source 與 target 的平均差，而不是 Batch 1 自己猜。這正好對上 v12 的失敗原因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EB6834"/>
                </a:solidFill>
                <a:latin typeface="Calibri"/>
                <a:ea typeface="Microsoft JhengHei"/>
              </a:rPr>
              <a:t>•  </a:t>
            </a:r>
            <a:r>
              <a:rPr sz="1100" b="0" i="0">
                <a:solidFill>
                  <a:srgbClr val="1C1C1E"/>
                </a:solidFill>
                <a:latin typeface="Calibri"/>
                <a:ea typeface="Microsoft JhengHei"/>
              </a:rPr>
              <a:t>80% 以上要每批幾十筆有標籤的校正樣本，或兩個以上的 source batch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EB6834"/>
                </a:solidFill>
                <a:latin typeface="Calibri"/>
                <a:ea typeface="Microsoft JhengHei"/>
              </a:rPr>
              <a:t>▍ </a:t>
            </a:r>
            <a:r>
              <a:rPr sz="1100" b="1" i="0">
                <a:solidFill>
                  <a:srgbClr val="1C1C1E"/>
                </a:solidFill>
                <a:latin typeface="Calibri"/>
                <a:ea typeface="Microsoft JhengHei"/>
              </a:rPr>
              <a:t>結論：這份資料集該用的設定是「無標籤 target 樣本可用於對齊」，那是文獻主流，也有明確對照組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  <a:ea typeface="Microsoft JhengHei"/>
              </a:rPr>
              <a:t>結論與留下的東西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54298" cy="4023360"/>
          </a:xfrm>
          <a:prstGeom prst="roundRect">
            <a:avLst/>
          </a:prstGeom>
          <a:solidFill>
            <a:srgbClr val="3A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Microsoft JhengHei"/>
              </a:rPr>
              <a:t>復現的結論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90565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DE0E8"/>
                </a:solidFill>
                <a:latin typeface="Calibri"/>
                <a:ea typeface="Microsoft JhengHei"/>
              </a:rPr>
              <a:t>三個元件在 source-only 協定下沒有一個重現得出增益：等向擴充 −0.0216、特徵生成 +0.0004、補上正負號 +0.0023，L_con 的前提已被量掉。與論文的 0.11 差距在其他五類，不在這三個元件。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737360"/>
            <a:ext cx="3454298" cy="4023360"/>
          </a:xfrm>
          <a:prstGeom prst="roundRect">
            <a:avLst/>
          </a:prstGeom>
          <a:solidFill>
            <a:srgbClr val="3A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3018" y="201168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27889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Microsoft JhengHei"/>
              </a:rPr>
              <a:t>留著的東西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018" y="3566160"/>
            <a:ext cx="290565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DE0E8"/>
                </a:solidFill>
                <a:latin typeface="Calibri"/>
                <a:ea typeface="Microsoft JhengHei"/>
              </a:rPr>
              <a:t>L_con 的實作、四格 config、事前預測與否證條件都在版控裡，補跑是 15 分鐘。另一個沒跑的乾淨對照：R-gen-shift 不帶輸入擴充對 R-fig-logps。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756" y="1737360"/>
            <a:ext cx="3454298" cy="4023360"/>
          </a:xfrm>
          <a:prstGeom prst="roundRect">
            <a:avLst/>
          </a:prstGeom>
          <a:solidFill>
            <a:srgbClr val="3A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63076" y="2011680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3076" y="27889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Microsoft JhengHei"/>
              </a:rPr>
              <a:t>如果要往前走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076" y="3566160"/>
            <a:ext cx="290565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DE0E8"/>
                </a:solidFill>
                <a:latin typeface="Calibri"/>
                <a:ea typeface="Microsoft JhengHei"/>
              </a:rPr>
              <a:t>文獻在同一設定下不碰 target 沒有人過 60%；過 60% 的全是用 target 無標籤樣本做子空間對齊（DRCA 62、D-DRCA 74）。v12 的投影程式把方向來源換成 target 平均差就是最簡單的版本。報告時明說是 unsupervised domain adaptation。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2D42"/>
                </a:solidFill>
                <a:latin typeface="Cambria"/>
                <a:ea typeface="Microsoft JhengHei"/>
              </a:rPr>
              <a:t>附錄：圖檔、執行目錄、設定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7132319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1908"/>
                <a:gridCol w="2211019"/>
                <a:gridCol w="427939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頁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論文的圖（docs/paper/）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我們的圖（reports/figures/）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fig2_cdcnn.png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fig4a.png（batch1 面板）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batch1_pca.png、batch1_pca_zoom23.png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figs1.png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figS1_overlay.png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figS3_confusion.png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baseline-confusion_best.png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drift_dimension.png、augmentation_pca.png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fig5-feature-generation.png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feature_generation.png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generation_drift_aligned_2d.png、generation_drift_projection.png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表格；run 20260929T031927475103Z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L_con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configs/contrastive.json、src/loss.py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v12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batch1_drift_axis.png；run 20261005T145146298993Z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文獻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1C1E"/>
                          </a:solidFill>
                          <a:latin typeface="Calibri"/>
                          <a:ea typeface="Microsoft JhengHei"/>
                        </a:rPr>
                        <a:t>arXiv 1505.06405、1901.02321、2409.13167、2507.17071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0" y="1463040"/>
            <a:ext cx="38862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B2D42"/>
                </a:solidFill>
                <a:latin typeface="Calibri"/>
                <a:ea typeface="Microsoft JhengHei"/>
              </a:rPr>
              <a:t>執行目錄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v7.5 基線  runs/20260923T024922889421Z_input_norm_5seed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v8.0  runs/20260923T033747817275Z_augmentation_full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v8.1  runs/20260923T045843638020Z_displacement_full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v9.0  runs/20260923T071856507630Z_baseline_ladder_full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v10.0  runs/20260929T031927475103Z_baseline_ladder_full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v12.0  runs/20261005T145146298993Z_baseline_ladder_full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2B2D42"/>
                </a:solidFill>
                <a:latin typeface="Calibri"/>
                <a:ea typeface="Microsoft JhengHei"/>
              </a:rPr>
              <a:t>設定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seeds 1042 / 2024 / 3407 / 42 / 123；lr 0.0003、100 epochs、batch 64；BatchNorm、flatten head、signed-log → per-sample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2B2D42"/>
                </a:solidFill>
                <a:latin typeface="Calibri"/>
                <a:ea typeface="Microsoft JhengHei"/>
              </a:rPr>
              <a:t>文件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1C1C1E"/>
                </a:solidFill>
                <a:latin typeface="Calibri"/>
                <a:ea typeface="Microsoft JhengHei"/>
              </a:rPr>
              <a:t>     </a:t>
            </a:r>
            <a:r>
              <a:rPr sz="1000" b="0" i="0">
                <a:solidFill>
                  <a:srgbClr val="66666E"/>
                </a:solidFill>
                <a:latin typeface="Calibri"/>
                <a:ea typeface="Microsoft JhengHei"/>
              </a:rPr>
              <a:t>baseline.md、docs/v8-augmentation.md、docs/v9-feature-generation.md、docs/drift-geometry.md、docs/label-mapping.md、docs/early-stopping.md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