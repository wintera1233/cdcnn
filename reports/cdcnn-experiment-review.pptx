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103120"/>
            <a:ext cx="10820095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CDCNN 復現實驗回顧</a:t>
            </a:r>
          </a:p>
          <a:p>
            <a:pPr>
              <a:spcBef>
                <a:spcPts val="1400"/>
              </a:spcBef>
            </a:pPr>
            <a:r>
              <a:rPr sz="2000" b="0" i="0">
                <a:solidFill>
                  <a:srgbClr val="CADCFC"/>
                </a:solidFill>
                <a:latin typeface="Calibri"/>
              </a:rPr>
              <a:t>在嚴格 source-only 協定下復現對比域泛化卷積神經網路</a:t>
            </a:r>
          </a:p>
          <a:p>
            <a:pPr>
              <a:spcBef>
                <a:spcPts val="2600"/>
              </a:spcBef>
            </a:pPr>
            <a:r>
              <a:rPr sz="1300" b="0" i="0">
                <a:solidFill>
                  <a:srgbClr val="CADCFC"/>
                </a:solidFill>
                <a:latin typeface="Calibri"/>
              </a:rPr>
              <a:t>UCI Gas Sensor Array Drift · 11 輪實驗 · 約 200 個凍結檢查點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文獻回顧：問題與既有方法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Sensors and Actuators A 372 (2024) 115314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感測器漂移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MOS 氣體感測器因老化、中毒與環境波動，對同一氣體的響應隨時間偏移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電子鼻的長期辨識準確率與壽命因此大幅下降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既有方法的共同限制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PCA-SVM、LDA-SVM：手工特徵與線性／核轉換，無法擬合非線性長期漂移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SVM-GFK 等流形學習：仍需依賴目標域資料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TDACNN：4 個分類器的集成，54 K 參數，測試時仍需存取源域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文獻回顧：域泛化與對比學習的概念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論文 Fig. 1</a:t>
            </a:r>
          </a:p>
        </p:txBody>
      </p:sp>
      <p:pic>
        <p:nvPicPr>
          <p:cNvPr id="3" name="Picture 2" descr="paper_fig1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656759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156" y="1874519"/>
            <a:ext cx="3886739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(a) 一般深度學習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訓練與測試來自同一分布 P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(b) 域泛化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多個訓練域 P1…Pn，測試域從未被看過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(c) 對比學習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同標籤樣本在單位球上被拉近，異標籤被推開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文獻回顧：CDCNN 架構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論文 Fig. 2 — 我們的實作差異見後續</a:t>
            </a:r>
          </a:p>
        </p:txBody>
      </p:sp>
      <p:pic>
        <p:nvPicPr>
          <p:cNvPr id="3" name="Picture 2" descr="paper_fig2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315200" cy="42975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874519"/>
            <a:ext cx="3139135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五個 ResNet 區塊，Conv1d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特徵生成插在第 3 與第 4 區塊之間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對比損失接在 FC128 之前的 z_f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分類頭僅 0.77 K 參數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L2 loss 約束兩分支輸出一致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文獻回顧：機制① 資料擴充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論文 Fig. S5 與 Fig. 4</a:t>
            </a:r>
          </a:p>
        </p:txBody>
      </p:sp>
      <p:pic>
        <p:nvPicPr>
          <p:cNvPr id="3" name="Picture 2" descr="paper_figS5_au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5120640" cy="2285875"/>
          </a:xfrm>
          <a:prstGeom prst="rect">
            <a:avLst/>
          </a:prstGeom>
        </p:spPr>
      </p:pic>
      <p:pic>
        <p:nvPicPr>
          <p:cNvPr id="4" name="Picture 3" descr="paper_fig4_aug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00200"/>
            <a:ext cx="4329712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114800"/>
            <a:ext cx="51206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混合兩個樣本的均值與變異數，生成新的高斯分布後抽樣雜訊疊加到原訊號。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A5A66"/>
                </a:solidFill>
                <a:latin typeface="Calibri"/>
              </a:rPr>
              <a:t>右圖：相較白高斯雜訊與常數雜訊，CDCNN 的擴充在 PCA 空間產生明顯更大的分散。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文獻回顧：機制② 特徵生成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論文 Fig. S4(b) 與 Fig. 5</a:t>
            </a:r>
          </a:p>
        </p:txBody>
      </p:sp>
      <p:pic>
        <p:nvPicPr>
          <p:cNvPr id="3" name="Picture 2" descr="paper_figS4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394960" cy="2180071"/>
          </a:xfrm>
          <a:prstGeom prst="rect">
            <a:avLst/>
          </a:prstGeom>
        </p:spPr>
      </p:pic>
      <p:pic>
        <p:nvPicPr>
          <p:cNvPr id="4" name="Picture 3" descr="paper_fig5_feat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5029200" cy="27780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297680"/>
            <a:ext cx="53949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最大池化與最近鄰上採樣把隱特徵拆成高頻與低頻，替換低頻的風格統計量後重組。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5A5A66"/>
                </a:solidFill>
                <a:latin typeface="Calibri"/>
              </a:rPr>
              <a:t>右圖：橘色為生成特徵，覆蓋範圍遠大於原始特徵——這是他們宣稱能模擬未見漂移的依據。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文獻回顧：機制③ 監督式對比學習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聯合損失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L = L_ce + λ_MSE · L_MSE + λ_con · L_con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L_ce 維持分類能力；L_MSE 確保風格轉換前後標籤一致；L_con 整理特徵空間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論文的消融（CDWC = 移除對比學習）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0.6705 → 0.7230，對比學習貢獻 +5.25%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其中最大的單類改善是 Toluene：0.27 → 0.92</a:t>
            </a:r>
          </a:p>
          <a:p>
            <a:pPr lvl="1">
              <a:spcAft>
                <a:spcPts val="12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論文未提供 τ、λ_con 與投影維度的數值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文獻回顧：論文的方法比較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論文 Fig. 6</a:t>
            </a:r>
          </a:p>
        </p:txBody>
      </p:sp>
      <p:pic>
        <p:nvPicPr>
          <p:cNvPr id="3" name="Picture 2" descr="paper_fig6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5053263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104823" y="1874519"/>
            <a:ext cx="5401072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CDCNN 0.7230，所有比較方法中最高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TDACNN 0.7221 次之，但需 54 K 參數與集成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CDWC（移除對比學習）0.6705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ResNet 骨幹 0.6344</a:t>
            </a:r>
          </a:p>
          <a:p>
            <a:pPr lvl="1">
              <a:spcAft>
                <a:spcPts val="1200"/>
              </a:spcAft>
            </a:pPr>
            <a:r>
              <a:rPr sz="1200" b="0" i="0">
                <a:solidFill>
                  <a:srgbClr val="5A5A66"/>
                </a:solidFill>
                <a:latin typeface="Calibri"/>
              </a:rPr>
              <a:t>多數深度網路（VGG、GoogLeNet）在此資料集低於 0.25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文獻回顧：論文宣稱的表現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Batch 1 訓練、Batch 2–10 測試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3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4439"/>
                <a:gridCol w="2380420"/>
                <a:gridCol w="3895234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方法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平均準確率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CDCNN（本論文）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0.7230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Target-free，0.77 K 參數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TDACNN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0.7221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集成 4 分類器，54 K 參數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PCA-SVM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0.6860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DBNs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SVM-GFK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0.6400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ResNet（骨幹）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CDWC（移除對比學習）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0.6705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對比學習貢獻 +5.25%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111496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關鍵：論文自己的消融把 +5.25% 歸因於對比學習，並指出 Toluene 從 0.27 提升到 0.92。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我們的實驗協定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比論文更嚴格，且全程可稽核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只用 Batch 1（445 筆）做訓練、正規化擬合、交叉驗證與所有選擇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所有檢查點凍結並雜湊後，目標批次才各載入一次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五個固定種子、100 epochs、SGD、StepLR、batch 64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每次執行寫入獨立目錄，附洩漏稽核；違規即失敗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指標：target mean＝九個目標批次準確率的未加權平均（與論文相同）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正式的四階段結果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0420"/>
                <a:gridCol w="1082009"/>
                <a:gridCol w="1190210"/>
                <a:gridCol w="973808"/>
                <a:gridCol w="973808"/>
                <a:gridCol w="973808"/>
                <a:gridCol w="973808"/>
                <a:gridCol w="973808"/>
                <a:gridCol w="1298411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CV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B2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B4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B6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B8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B10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論文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B0 基線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0.978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0.48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0.29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0.634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A1 +增強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A2 +特徵生成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0.982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0.397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0.49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0.31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0.670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A3 +對比學習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95935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四個 stage 的 Batch 1 CV 都在 0.97–0.98：問題不在擬合，在泛化。A1 與 A2 比基線還差，順序沒有重現論文。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第一個發現：A3 的增益不是對比學習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v6.3 一次給了 A3 四樣東西，把它們拆開量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2705023"/>
                <a:gridCol w="270502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拆解出的成分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效果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改善的種子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LayerNorm 取代 BatchNorm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+0.0845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5/5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硬性界限 + 梯度裁剪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增強 + 特徵生成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−0.0328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0/5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對比損失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959352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BatchNorm 把 Batch 1 的統計量套到漂移資料上；LayerNorm 逐樣本正規化。增益最大的正是漂移最嚴重的批次。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對照論文後的轉折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論文的純 ResNet 基線 0.6344，贏過我們當時所有 stage（最高 0.4922）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差距在 CDCNN 三個元件「之外」——不是方法不夠，是上游有問題</a:t>
            </a:r>
          </a:p>
          <a:p>
            <a:pPr>
              <a:spcAft>
                <a:spcPts val="1200"/>
              </a:spcAft>
            </a:pPr>
            <a:r>
              <a:rPr sz="1900" b="1" i="0">
                <a:solidFill>
                  <a:srgbClr val="1E2761"/>
                </a:solidFill>
                <a:latin typeface="Cambria"/>
              </a:rPr>
              <a:t>讀完全文與補充資料後找到三個未聲明的差異：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對比損失應接在 FC128 之前、且沒有可學的投影 head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Eq. (16) 除以的是變異數而非標準差；Block 5 內層為 512 寬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論文本身亦有矛盾處：統計量維度前後不一致、Table 2 有兩處計數錯誤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突破：逐樣本輸入正規化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783080"/>
            <a:ext cx="2464993" cy="1600200"/>
          </a:xfrm>
          <a:prstGeom prst="roundRect">
            <a:avLst/>
          </a:prstGeom>
          <a:solidFill>
            <a:srgbClr val="F2F5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246499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mbria"/>
              </a:rPr>
              <a:t>+0.109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5A5A66"/>
                </a:solidFill>
                <a:latin typeface="Calibri"/>
              </a:rPr>
              <a:t>逐樣本輸入正規化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0833" y="1783080"/>
            <a:ext cx="2464993" cy="1600200"/>
          </a:xfrm>
          <a:prstGeom prst="roundRect">
            <a:avLst/>
          </a:prstGeom>
          <a:solidFill>
            <a:srgbClr val="F2F5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0833" y="1965960"/>
            <a:ext cx="246499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mbria"/>
              </a:rPr>
              <a:t>+0.085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5A5A66"/>
                </a:solidFill>
                <a:latin typeface="Calibri"/>
              </a:rPr>
              <a:t>LayerNorm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783080"/>
            <a:ext cx="2464993" cy="1600200"/>
          </a:xfrm>
          <a:prstGeom prst="roundRect">
            <a:avLst/>
          </a:prstGeom>
          <a:solidFill>
            <a:srgbClr val="F2F5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55867" y="1965960"/>
            <a:ext cx="246499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mbria"/>
              </a:rPr>
              <a:t>+0.149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5A5A66"/>
                </a:solidFill>
                <a:latin typeface="Calibri"/>
              </a:rPr>
              <a:t>兩者合併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40901" y="1783080"/>
            <a:ext cx="2464993" cy="1600200"/>
          </a:xfrm>
          <a:prstGeom prst="roundRect">
            <a:avLst/>
          </a:prstGeom>
          <a:solidFill>
            <a:srgbClr val="F2F5FC"/>
          </a:solidFill>
          <a:ln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0901" y="1965960"/>
            <a:ext cx="2464993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 i="0">
                <a:solidFill>
                  <a:srgbClr val="1E2761"/>
                </a:solidFill>
                <a:latin typeface="Cambria"/>
              </a:rPr>
              <a:t>0/5</a:t>
            </a:r>
          </a:p>
          <a:p>
            <a:pPr algn="ctr">
              <a:spcBef>
                <a:spcPts val="400"/>
              </a:spcBef>
            </a:pPr>
            <a:r>
              <a:rPr sz="1300" b="0" i="0">
                <a:solidFill>
                  <a:srgbClr val="5A5A66"/>
                </a:solidFill>
                <a:latin typeface="Calibri"/>
              </a:rPr>
              <a:t>壓極端值（clip）有效的種子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794760"/>
            <a:ext cx="10820095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在 Batch 1 的 scaler 下，Batch 2 有 |z| ≈ 1.5×10⁴ 的極端值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但 signed-log 與 clip 都無效——有效的是移除每個樣本自己的偏移與增益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兩者皆為 5/5 種子改善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進步從哪裡來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057"/>
                <a:gridCol w="432803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模型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 mean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A1 增強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A2 特徵生成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B0 基線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0.410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A3 完整 CDCNN（v6.3）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 LayerNorm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0.492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 逐樣本輸入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+ 界限（目前最佳）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0.561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論文 ResNet / CDWC / CDCNN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0.634 / 0.670 / 0.723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5495544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0.460 → 0.561，全部來自正規化，不是來自 CDCNN 的任何一個元件。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輸入修好後，CDCNN 元件仍然無效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4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8038"/>
                <a:gridCol w="3246028"/>
                <a:gridCol w="3246028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消融步驟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未正規化輸入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逐樣本正規化輸入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界限 + 梯度裁剪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−0.0022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+0.0044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增強 + 特徵生成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−0.0328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對比損失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−0.0049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575304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輸入條件不是阻礙它們的原因。同時，逐樣本正規化讓完整 CDCNN 也提升 +0.0738（A3 0.460 → 0.534）。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增強為什麼扣分：不是雜訊，是排程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雜訊縮小 20 倍（1.0 → 0.05），target mean 只變 +0.0026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零雜訊的純複製對照仍然扣 −0.0114（真實增強 −0.0131）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真正原因：增強 stage 有 890 筆而非 445 筆，在固定 100 epoch 下多了一倍的優化步數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本專案（與原本 v6.3）所有「A1 對 B0」的比較都被排程長度混淆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修正：每個 epoch 從增強池抽一份來源大小的子集，使步數對齊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對齊本身 +0.0043；種子標準差從 0.0364 降到 0.0136（最穩定的一組）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對比損失換到論文的位置：仍然是零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3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0047"/>
                <a:gridCol w="2705023"/>
                <a:gridCol w="2705023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接法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效果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改善的種子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我們的位置（FC128 後 + 可學 head）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3/5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論文的位置（FC128 前、無 head）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+0.0002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191256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五次獨立量測（v6.3 / v6.5 / v6.6 / v6.9 / v6.10）全部落在 −0.005 ～ +0.003。精確的說法：在本專案的 source-only 協定下與零無法區分——這不等於該機制本身無效。論文的增益集中在 Toluene（0.27 → 0.92），而 τ、λ 與投影維度論文從未提供、本專案也從未調校。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剩下的差距在哪：逐批次</a:t>
            </a:r>
          </a:p>
        </p:txBody>
      </p:sp>
      <p:pic>
        <p:nvPicPr>
          <p:cNvPr id="3" name="Picture 2" descr="fig3_per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31520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874519"/>
            <a:ext cx="3139135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B2、B3、B4 已追平或贏過論文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B2：我們 0.89，論文 0.83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差距集中在 B5–B10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B6：0.47 對 0.93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B8：0.27 對 0.72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剩下的差距在哪：逐類別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註：本專案原文件的氣體標籤對應有誤，已依論文 Table 2 逐批次比對更正（十批中八批完全吻合）</a:t>
            </a:r>
          </a:p>
        </p:txBody>
      </p:sp>
      <p:pic>
        <p:nvPicPr>
          <p:cNvPr id="3" name="Picture 2" descr="fig4_class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315200" cy="3169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874519"/>
            <a:ext cx="3139135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Ethylene 九批全部 0.00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9530 個樣本零命中，模型從不輸出這個標籤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Ammonia、Toluene 撐到 B5 之後崩潰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三類佔每個目標批次的 26–66%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錯誤流向哪裡</a:t>
            </a:r>
          </a:p>
        </p:txBody>
      </p:sp>
      <p:pic>
        <p:nvPicPr>
          <p:cNvPr id="3" name="Picture 2" descr="fig5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315200" cy="3059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874519"/>
            <a:ext cx="3139135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B6：Toluene 98% 被判成 Acetone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Ammonia 40% 判成 Ethanol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B8：Ammonia 68% 判成 Ethanol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Toluene 92% 判成 Acetone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預測分布偏向 Batch 1 的大類別：Acetone 被預測的頻率是實際的 2.4 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類別平衡：粗篩後否決</a:t>
            </a:r>
          </a:p>
          <a:p>
            <a:pPr>
              <a:spcBef>
                <a:spcPts val="600"/>
              </a:spcBef>
            </a:pPr>
            <a:r>
              <a:rPr sz="1500" b="0" i="1">
                <a:solidFill>
                  <a:srgbClr val="5A5A66"/>
                </a:solidFill>
                <a:latin typeface="Calibri"/>
              </a:rPr>
              <a:t>一個種子、6 分鐘，取代五種子的 35 分鐘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9626"/>
                <a:gridCol w="2813224"/>
                <a:gridCol w="2488621"/>
                <a:gridCol w="2488621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方式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Batch 1 CV（Ethylene）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目標（Ethylene）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 mean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無平衡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0.667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0.5521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類別加權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0.5485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平衡取樣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C0392B"/>
                          </a:solidFill>
                          <a:latin typeface="Calibri"/>
                        </a:rPr>
                        <a:t>0.5454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3575304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5A66"/>
                </a:solidFill>
                <a:latin typeface="Calibri"/>
              </a:rPr>
              <a:t>平衡在來源域完全有效，卻一點也沒傳遞到目標域：Ethylene 的問題是域偏移，不是類別不平衡。協定警訊：Batch 1 CV 的排序與目標準確率完全相反——我們的協定用 CV 選模型，這次會選到最差的。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論文自己也有一個死掉的類別</a:t>
            </a:r>
          </a:p>
        </p:txBody>
      </p:sp>
      <p:pic>
        <p:nvPicPr>
          <p:cNvPr id="3" name="Picture 2" descr="fig7_paper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7315200" cy="34913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66760" y="1874519"/>
            <a:ext cx="3139135" cy="43434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CDCNN 混淆矩陣有一列對角線是 0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比對他們的逐批次數字，最吻合的讀法是該類別就是 Ethylene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（推算 B6 = 0.93，論文報 0.9318）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我們的 Ethylene 零命中是重現了他們的限制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真正的差距是 Ammonia（0.94）與 Toluene（0.92）</a:t>
            </a:r>
          </a:p>
          <a:p>
            <a:pPr>
              <a:spcAft>
                <a:spcPts val="12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他們對比學習的增益幾乎就是 Toluene 一類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108200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結論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820095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CADCFC"/>
                </a:solidFill>
                <a:latin typeface="Cambria"/>
              </a:rPr>
              <a:t>1. </a:t>
            </a:r>
            <a:r>
              <a:rPr sz="1800" b="1" i="0">
                <a:solidFill>
                  <a:srgbClr val="FFFFFF"/>
                </a:solidFill>
                <a:latin typeface="Cambria"/>
              </a:rPr>
              <a:t>正規化是這個資料集上唯一有效的槓桿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    逐樣本輸入 +0.109、LayerNorm +0.085；模型從 0.460 提升到 0.561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ADCFC"/>
                </a:solidFill>
                <a:latin typeface="Cambria"/>
              </a:rPr>
              <a:t>2. </a:t>
            </a:r>
            <a:r>
              <a:rPr sz="1800" b="1" i="0">
                <a:solidFill>
                  <a:srgbClr val="FFFFFF"/>
                </a:solidFill>
                <a:latin typeface="Cambria"/>
              </a:rPr>
              <a:t>CDCNN 的三個機制在本協定下量不到貢獻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    對比損失五次獨立量測皆與零無法區分；這是特定協定與未調校超參數下的量測結果，不是一般性否定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ADCFC"/>
                </a:solidFill>
                <a:latin typeface="Cambria"/>
              </a:rPr>
              <a:t>3. </a:t>
            </a:r>
            <a:r>
              <a:rPr sz="1800" b="1" i="0">
                <a:solidFill>
                  <a:srgbClr val="FFFFFF"/>
                </a:solidFill>
                <a:latin typeface="Cambria"/>
              </a:rPr>
              <a:t>論文的宣稱有一部分無法重現，且論文自身也有一個完全失效的類別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    我們的 Ethylene 零命中重現了他們的限制；SVM 基線同樣為 0.002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CADCFC"/>
                </a:solidFill>
                <a:latin typeface="Cambria"/>
              </a:rPr>
              <a:t>4. </a:t>
            </a:r>
            <a:r>
              <a:rPr sz="1800" b="1" i="0">
                <a:solidFill>
                  <a:srgbClr val="FFFFFF"/>
                </a:solidFill>
                <a:latin typeface="Cambria"/>
              </a:rPr>
              <a:t>我們發現並修正了一個協定層級的混淆</a:t>
            </a:r>
          </a:p>
          <a:p>
            <a:pPr>
              <a:spcAft>
                <a:spcPts val="1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    固定 epoch 數讓增強組多了一倍訓練步數，使所有 A1 對 B0 的比較失效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後續方向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783080"/>
          <a:ext cx="1082009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07"/>
                <a:gridCol w="4003435"/>
                <a:gridCol w="5951052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優先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方向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理由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是什麼讓 Ammonia / Toluene 在 B5 後存活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論文的優勢與其對比消融的最大單類差異都在這裡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對比超參數 τ、λ、投影維度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論文從未提供，本專案也從未調校；可只用 Batch 1 CV 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其餘數值忠實度項目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σ′ 高斯取樣、Eq. (16) 的分母、Block 5 的 512 寬</a:t>
                      </a:r>
                    </a:p>
                  </a:txBody>
                  <a:tcPr>
                    <a:solidFill>
                      <a:srgbClr val="F2F5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epoch 協定的正式決定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對齊與不對齊各自固定不同的量，需要明確選一個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200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E2761"/>
                </a:solidFill>
                <a:latin typeface="Cambria"/>
              </a:rPr>
              <a:t>附錄：結果可信度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737360"/>
            <a:ext cx="10820095" cy="448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1" i="0">
                <a:solidFill>
                  <a:srgbClr val="C0392B"/>
                </a:solidFill>
                <a:latin typeface="Calibri"/>
              </a:rPr>
              <a:t>▍ </a:t>
            </a:r>
            <a:r>
              <a:rPr sz="1700" b="1" i="0">
                <a:solidFill>
                  <a:srgbClr val="1A1A1A"/>
                </a:solidFill>
                <a:latin typeface="Calibri"/>
              </a:rPr>
              <a:t>每次改動前都把所有既有 stage 用新舊程式碼各訓練一次，要求 bit-identical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最後一次檢查涵蓋 26 個 stage，全部相同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設定檔以凍結字面值固定其階段清單；驗證器兩次擋下會破壞既有執行的編輯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同環境內完全可重現；跨 torch 版本 CV 相同、target mean 可能差在小數第四位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每次執行自帶洩漏稽核，目標批次一律在凍結後才載入</a:t>
            </a:r>
          </a:p>
          <a:p>
            <a:pPr>
              <a:spcAft>
                <a:spcPts val="1200"/>
              </a:spcAft>
            </a:pPr>
            <a:r>
              <a:rPr sz="1700" b="0" i="0">
                <a:solidFill>
                  <a:srgbClr val="CADCFC"/>
                </a:solidFill>
                <a:latin typeface="Calibri"/>
              </a:rPr>
              <a:t>· </a:t>
            </a:r>
            <a:r>
              <a:rPr sz="1700" b="0" i="0">
                <a:solidFill>
                  <a:srgbClr val="1A1A1A"/>
                </a:solidFill>
                <a:latin typeface="Calibri"/>
              </a:rPr>
              <a:t>訓練環境固定為容器（torch 2.5.1+cu121），起因是一次 Xid 31 GPU 故障</a:t>
            </a:r>
          </a:p>
          <a:p>
            <a:pPr lvl="1">
              <a:spcAft>
                <a:spcPts val="1200"/>
              </a:spcAft>
            </a:pPr>
            <a:r>
              <a:rPr sz="1400" b="0" i="0">
                <a:solidFill>
                  <a:srgbClr val="5A5A66"/>
                </a:solidFill>
                <a:latin typeface="Calibri"/>
              </a:rPr>
              <a:t>過程中四次失誤均已記錄：session 中斷、報告產生器 KeyError、heredoc 引號、GPU 故障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