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Times New Roman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28" name="PlaceHolder 6"/>
          <p:cNvSpPr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2A43406C-E074-4372-9354-C5AA43045A8A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30E2455-F8C2-41A5-8F55-0F52110139E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0D99332-E1C5-4B99-AECA-E58855A6A9B3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24A3DF-65F0-4F0D-8875-34B99914CE38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9039220-202A-4742-8AB4-787C8CC1FB99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5C1AD0F-6F76-4DB2-84C3-374EFEF56059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CA" sz="2000" spc="-1" strike="noStrike">
                <a:latin typeface="Arial"/>
              </a:rPr>
              <a:t>Conv1D </a:t>
            </a:r>
            <a:r>
              <a:rPr b="0" lang="zh-TW" sz="2000" spc="-1" strike="noStrike">
                <a:latin typeface="Arial"/>
              </a:rPr>
              <a:t>增加 </a:t>
            </a:r>
            <a:r>
              <a:rPr b="0" lang="en-CA" sz="2000" spc="-1" strike="noStrike">
                <a:latin typeface="Arial"/>
              </a:rPr>
              <a:t>learned feature representations</a:t>
            </a:r>
            <a:r>
              <a:rPr b="0" lang="zh-TW" sz="2000" spc="-1" strike="noStrike">
                <a:latin typeface="Arial"/>
              </a:rPr>
              <a:t>，</a:t>
            </a:r>
            <a:r>
              <a:rPr b="0" lang="en-CA" sz="2000" spc="-1" strike="noStrike">
                <a:latin typeface="Arial"/>
              </a:rPr>
              <a:t>Pooling </a:t>
            </a:r>
            <a:r>
              <a:rPr b="0" lang="zh-TW" sz="2000" spc="-1" strike="noStrike">
                <a:latin typeface="Arial"/>
              </a:rPr>
              <a:t>壓縮時間軸，</a:t>
            </a:r>
            <a:r>
              <a:rPr b="0" lang="en-CA" sz="2000" spc="-1" strike="noStrike">
                <a:latin typeface="Arial"/>
              </a:rPr>
              <a:t>BN </a:t>
            </a:r>
            <a:r>
              <a:rPr b="0" lang="zh-TW" sz="2000" spc="-1" strike="noStrike">
                <a:latin typeface="Arial"/>
              </a:rPr>
              <a:t>穩定每個 </a:t>
            </a:r>
            <a:r>
              <a:rPr b="0" lang="en-CA" sz="2000" spc="-1" strike="noStrike">
                <a:latin typeface="Arial"/>
              </a:rPr>
              <a:t>feature channel </a:t>
            </a:r>
            <a:r>
              <a:rPr b="0" lang="zh-TW" sz="2000" spc="-1" strike="noStrike">
                <a:latin typeface="Arial"/>
              </a:rPr>
              <a:t>的數值分布。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1400F1F-B4FC-45E6-B4F4-E484DB521274}" type="slidenum">
              <a:rPr b="0" lang="en-US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DF36DA2-9EC1-4577-A302-96BC7F634E1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196640"/>
            <a:ext cx="822924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56851CC-9A05-4855-9EAA-207BB4AC92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822924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6AF5895-6E2C-409C-BB4C-9FDD79CE18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AE1AB1-8F0C-4B1D-BD08-8ACBB4B5DD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BF07C4A-D238-4E7D-AF05-845F2D235E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403640" y="116640"/>
            <a:ext cx="7282800" cy="33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91F4D54-9459-414F-AA49-E61D0F1CBC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BEB63E7-2839-477A-95CC-AC12D77F185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782BB4-B56A-4A6D-89F6-0696BBB9C3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771720"/>
            <a:ext cx="822924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BDC9070-57F3-4FE1-BE3F-AFB2227698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822924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771720"/>
            <a:ext cx="822924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931F576-B322-43D1-A07B-F181BB33D3C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5957B48-26E7-4A23-A8C3-056A0ADD95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19664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19664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77172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77172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77172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A92A02-464A-48F2-AFD2-B42BED4C5E8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7C4B43D-BF2E-4B5E-BD1A-57C292A62D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196640"/>
            <a:ext cx="822924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4A3A407-7755-4284-9EA7-DD0457A2C48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822924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1EB02A6-39D8-49AB-B066-456C7A020B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EDF9468-4B67-47DF-AB27-53482A309B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34EA3B3-3291-4921-AAF4-60D42A7553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1403640" y="116640"/>
            <a:ext cx="7282800" cy="33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9DEA681-D0D1-4BB6-9A8A-37DE9BAF27D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E91C57D-46D2-4E18-B1D3-558FC8BECAD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0F59429-D5FF-4F62-B952-8FA32ADAED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771720"/>
            <a:ext cx="822924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50C0E59-CFCF-4385-9A8F-99B5C71113C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822924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771720"/>
            <a:ext cx="822924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35D3F77-D3D1-45FE-B9A7-776DD1DC60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B353387-F3EA-4E3C-88FA-4BF2CCB264B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19664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19664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77172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77172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77172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698289C-06FD-4B71-9836-B080EF22B90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9499420-8788-4DF2-A0B2-C37403BDB9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196640"/>
            <a:ext cx="822924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69B473E-516D-4F56-BF00-4C8BE74C4E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822924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2EED6E4-8D8B-4582-82C6-8ADDCAA001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1D2E36F-7D58-4195-860C-DF07AC31903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0FE3D3B-3E2F-4F87-82A5-3EA779D73B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1403640" y="116640"/>
            <a:ext cx="7282800" cy="33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AD9D32E-758D-4AC5-8033-AB0457A7CA4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F015241-29E6-49A8-AF41-3585611563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492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36B6DE1-0546-483C-B8F7-DC0E1A2A58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771720"/>
            <a:ext cx="822924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59282C8-DA99-4348-89AE-60AEB69FA8D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822924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771720"/>
            <a:ext cx="822924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D8947BD-A6D3-479A-8422-1E324BED5A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19664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771720"/>
            <a:ext cx="40158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40D82F1-4A4E-4F66-B9BD-7B1EFB21F93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19664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19664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77172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77172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771720"/>
            <a:ext cx="2649600" cy="23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52BB8CF-4B3F-42F5-BBE2-73D221FE803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636000" y="1196640"/>
            <a:ext cx="5040360" cy="2664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zh-TW" sz="4400" spc="-1" strike="noStrike">
                <a:solidFill>
                  <a:srgbClr val="061641"/>
                </a:solidFill>
                <a:latin typeface="Times New Roman"/>
                <a:ea typeface="標楷體"/>
              </a:rPr>
              <a:t>按一下以編輯母片標題樣式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ffffff"/>
                </a:solidFill>
                <a:latin typeface="Times New Roman"/>
                <a:ea typeface="標楷體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ffff"/>
                </a:solidFill>
                <a:latin typeface="Times New Roman"/>
                <a:ea typeface="標楷體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ffffff"/>
                </a:solidFill>
                <a:latin typeface="Times New Roman"/>
                <a:ea typeface="標楷體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F82313E-0300-4289-91E0-1A10279A8F7F}" type="slidenum">
              <a:rPr b="0" lang="en-US" sz="1200" spc="-1" strike="noStrike">
                <a:solidFill>
                  <a:srgbClr val="ffffff"/>
                </a:solidFill>
                <a:latin typeface="Times New Roman"/>
                <a:ea typeface="標楷體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zh-TW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按一下以編輯母片標題樣式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Times New Roman"/>
                <a:ea typeface="標楷體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Times New Roman"/>
                <a:ea typeface="標楷體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Times New Roman"/>
                <a:ea typeface="標楷體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9A4D2BD-D71E-4A1A-AC66-3EAE90FC8265}" type="slidenum">
              <a:rPr b="0" lang="en-US" sz="1200" spc="-1" strike="noStrike">
                <a:solidFill>
                  <a:srgbClr val="8b8b8b"/>
                </a:solidFill>
                <a:latin typeface="Times New Roman"/>
                <a:ea typeface="標楷體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196640"/>
            <a:ext cx="8229240" cy="4929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3200" spc="-1" strike="noStrike">
                <a:solidFill>
                  <a:srgbClr val="000000"/>
                </a:solidFill>
                <a:latin typeface="Times New Roman"/>
                <a:ea typeface="標楷體"/>
              </a:rPr>
              <a:t>按一下以編輯母片文字樣式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第二層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第三層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第四層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第五層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619640" y="274680"/>
            <a:ext cx="706680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TW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按一下以編輯母片標題樣式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3200" spc="-1" strike="noStrike">
                <a:solidFill>
                  <a:srgbClr val="000000"/>
                </a:solidFill>
                <a:latin typeface="Times New Roman"/>
                <a:ea typeface="標楷體"/>
              </a:rPr>
              <a:t>按一下以編輯母片文字樣式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第二層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  <a:p>
            <a:pPr lvl="2" marL="11430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第三層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lvl="3" marL="16002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第四層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  <a:p>
            <a:pPr lvl="4" marL="20574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第五層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Times New Roman"/>
                <a:ea typeface="標楷體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Times New Roman"/>
                <a:ea typeface="標楷體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Times New Roman"/>
                <a:ea typeface="標楷體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860E706-1184-4D13-954F-6C19240F305F}" type="slidenum">
              <a:rPr b="0" lang="en-US" sz="1200" spc="-1" strike="noStrike">
                <a:solidFill>
                  <a:srgbClr val="8b8b8b"/>
                </a:solidFill>
                <a:latin typeface="Times New Roman"/>
                <a:ea typeface="標楷體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378600" y="1027440"/>
            <a:ext cx="5554800" cy="30664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61641"/>
                </a:solidFill>
                <a:latin typeface="Times New Roman"/>
                <a:ea typeface="標楷體"/>
              </a:rPr>
              <a:t>Contrastive domain generalization convolution neural network correcting the drift of gas sensors</a:t>
            </a:r>
            <a:br>
              <a:rPr sz="2000"/>
            </a:br>
            <a:br>
              <a:rPr sz="2000"/>
            </a:br>
            <a:r>
              <a:rPr b="0" lang="en-US" sz="1600" spc="-1" strike="noStrike">
                <a:solidFill>
                  <a:srgbClr val="061641"/>
                </a:solidFill>
                <a:latin typeface="Times New Roman"/>
                <a:ea typeface="標楷體"/>
              </a:rPr>
              <a:t>Sensors and Actuators A: Physical, 2024</a:t>
            </a:r>
            <a:br>
              <a:rPr sz="1600"/>
            </a:br>
            <a:r>
              <a:rPr b="0" lang="en-US" sz="1400" spc="-1" strike="noStrike">
                <a:solidFill>
                  <a:srgbClr val="061641"/>
                </a:solidFill>
                <a:latin typeface="Times New Roman"/>
                <a:ea typeface="標楷體"/>
              </a:rPr>
              <a:t>Jifeng Chu , Renhong Yao , Xianbo Huang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subTitle"/>
          </p:nvPr>
        </p:nvSpPr>
        <p:spPr>
          <a:xfrm>
            <a:off x="3636000" y="4716000"/>
            <a:ext cx="5040360" cy="1114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zh-TW" sz="1800" spc="-1" strike="noStrike">
                <a:solidFill>
                  <a:srgbClr val="ffffff"/>
                </a:solidFill>
                <a:latin typeface="標楷體"/>
                <a:ea typeface="標楷體"/>
              </a:rPr>
              <a:t>學生 </a:t>
            </a:r>
            <a:r>
              <a:rPr b="0" lang="en-US" sz="1800" spc="-1" strike="noStrike">
                <a:solidFill>
                  <a:srgbClr val="ffffff"/>
                </a:solidFill>
                <a:latin typeface="標楷體"/>
                <a:ea typeface="標楷體"/>
              </a:rPr>
              <a:t>: </a:t>
            </a:r>
            <a:r>
              <a:rPr b="0" lang="zh-TW" sz="1800" spc="-1" strike="noStrike">
                <a:solidFill>
                  <a:srgbClr val="ffffff"/>
                </a:solidFill>
                <a:latin typeface="標楷體"/>
                <a:ea typeface="標楷體"/>
              </a:rPr>
              <a:t>陳柏臻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zh-TW" sz="1800" spc="-1" strike="noStrike">
                <a:solidFill>
                  <a:srgbClr val="ffffff"/>
                </a:solidFill>
                <a:latin typeface="標楷體"/>
                <a:ea typeface="標楷體"/>
              </a:rPr>
              <a:t>指導教授 </a:t>
            </a:r>
            <a:r>
              <a:rPr b="0" lang="en-US" sz="1800" spc="-1" strike="noStrike">
                <a:solidFill>
                  <a:srgbClr val="ffffff"/>
                </a:solidFill>
                <a:latin typeface="標楷體"/>
                <a:ea typeface="標楷體"/>
              </a:rPr>
              <a:t>: </a:t>
            </a:r>
            <a:r>
              <a:rPr b="0" lang="zh-TW" sz="1800" spc="-1" strike="noStrike">
                <a:solidFill>
                  <a:srgbClr val="ffffff"/>
                </a:solidFill>
                <a:latin typeface="標楷體"/>
                <a:ea typeface="標楷體"/>
              </a:rPr>
              <a:t>鄭桂忠 教授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study summary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32" name="Table 4"/>
          <p:cNvGraphicFramePr/>
          <p:nvPr/>
        </p:nvGraphicFramePr>
        <p:xfrm>
          <a:off x="457200" y="1481400"/>
          <a:ext cx="8229240" cy="4608360"/>
        </p:xfrm>
        <a:graphic>
          <a:graphicData uri="http://schemas.openxmlformats.org/drawingml/2006/table">
            <a:tbl>
              <a:tblPr/>
              <a:tblGrid>
                <a:gridCol w="822960"/>
                <a:gridCol w="1398960"/>
                <a:gridCol w="1645920"/>
                <a:gridCol w="2468880"/>
                <a:gridCol w="1892520"/>
              </a:tblGrid>
              <a:tr h="65808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時間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主題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資料集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做了什麼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結果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</a:tr>
              <a:tr h="65808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05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濃度為錨的漂移校正遷移（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CDC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，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IEEE Sensors Letters 2020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）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UCI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漂移資料集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復現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CB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模型（自編碼器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多任務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MLP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，同時預測標籤與濃度）與遞迴式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CDC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遷移流程，每類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5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筆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transfer sample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CB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平均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91.55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（論文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91.85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）；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CDC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流程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10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到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92.54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，靜態微調只有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60.75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07-16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特徵擷取與特徵空間分析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Zenodo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長期漂移資料集：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62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顆感測器、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12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個月、三種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VOC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Savitzky–Golay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濾波；每顆感測器取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5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種特徵；用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PCA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看濃度與日間漂移的影響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建立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372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維特徵表，定出分類流程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07-23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特徵篩選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同上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移除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R0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、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Rmax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；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Pearson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相關性分群；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RANSAC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找各特徵的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inlier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inlier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比例最高約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0.68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；固定中心的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RANSAC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描述不了隨時間漂移的特徵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08-05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兩階段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MDIP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特徵選擇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同上；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Day 1–25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訓練、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Day 26–30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驗證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復現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MDIP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（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Liu &amp; Tang 2020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），加第二階段專門分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EtOH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與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Phenylethanol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14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個特徵達到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0.98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，特徵數減少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95%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以上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08-26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通用資料擴充評估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TI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漂移資料集：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3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批、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5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台裝置、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14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顆感測器、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5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種氣體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三層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1D CNN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基線；高斯噪聲、通道遮蔽、視窗切片三種擴充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跨批次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Macro-F1 0.74 </a:t>
                      </a:r>
                      <a:r>
                        <a:rPr b="0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是瓶頸；通用擴充幫助有限 → 轉向 </a:t>
                      </a:r>
                      <a:r>
                        <a:rPr b="0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CDCNN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88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09-22 → 10-22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CDCNN </a:t>
                      </a: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復現（本報告）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UCI </a:t>
                      </a: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漂移資料集：</a:t>
                      </a: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16 </a:t>
                      </a: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顆感測器、</a:t>
                      </a: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36 </a:t>
                      </a: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個月、</a:t>
                      </a: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6 </a:t>
                      </a: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種氣體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照 </a:t>
                      </a: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Fig. 2 </a:t>
                      </a: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重建、只用 </a:t>
                      </a: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</a:t>
                      </a: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；三個元件逐一加入；投影延伸；文獻對照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基線 </a:t>
                      </a: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0.5556</a:t>
                      </a: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；三個元件都無增益；文獻中不看 </a:t>
                      </a: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target </a:t>
                      </a: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的方法都在 </a:t>
                      </a:r>
                      <a:r>
                        <a:rPr b="1" lang="en-US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60% </a:t>
                      </a:r>
                      <a:r>
                        <a:rPr b="1" lang="zh-TW" sz="9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以下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30D4917-57FF-44DC-BBB9-433D382DD9AB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619640" y="274680"/>
            <a:ext cx="706680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zh-TW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目錄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343080" indent="-343080">
              <a:lnSpc>
                <a:spcPct val="15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問題與既有方法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5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Domain generalization and Contrastive learning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5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Methodology: CDCNN</a:t>
            </a:r>
            <a:br>
              <a:rPr sz="2800"/>
            </a:b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(Contrastive </a:t>
            </a:r>
            <a:r>
              <a:rPr b="0" lang="en-CA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domain generalization convolution neural network)</a:t>
            </a:r>
            <a:endParaRPr b="0" lang="en-US" sz="20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5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CDCNN</a:t>
            </a: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重現與探討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5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結論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  <a:p>
            <a:pPr>
              <a:lnSpc>
                <a:spcPct val="150000"/>
              </a:lnSpc>
              <a:spcBef>
                <a:spcPts val="561"/>
              </a:spcBef>
              <a:buNone/>
            </a:pP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1784C9FA-2B37-40D1-83F0-F67857CED979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000"/>
          </a:bodyPr>
          <a:p>
            <a:pPr algn="ctr">
              <a:lnSpc>
                <a:spcPct val="100000"/>
              </a:lnSpc>
              <a:buNone/>
            </a:pPr>
            <a:r>
              <a:rPr b="0" lang="zh-TW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問題與既有方法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457200" y="1352160"/>
            <a:ext cx="8229240" cy="4929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0000"/>
          </a:bodyPr>
          <a:p>
            <a:pPr marL="343080" indent="-34308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1e2761"/>
              </a:buClr>
              <a:buFont typeface="Arial"/>
              <a:buChar char="•"/>
            </a:pPr>
            <a:r>
              <a:rPr b="1" lang="zh-TW" sz="2800" spc="-1" strike="noStrike">
                <a:solidFill>
                  <a:srgbClr val="1e2761"/>
                </a:solidFill>
                <a:latin typeface="Cambria"/>
                <a:ea typeface="標楷體"/>
              </a:rPr>
              <a:t>感測器漂移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cadcfc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cadcfc"/>
                </a:solidFill>
                <a:latin typeface="Calibri"/>
                <a:ea typeface="標楷體"/>
              </a:rPr>
              <a:t>· </a:t>
            </a:r>
            <a:r>
              <a:rPr b="0" lang="en-US" sz="2400" spc="-1" strike="noStrike">
                <a:solidFill>
                  <a:srgbClr val="1a1a1a"/>
                </a:solidFill>
                <a:latin typeface="Calibri"/>
                <a:ea typeface="標楷體"/>
              </a:rPr>
              <a:t>MOS </a:t>
            </a:r>
            <a:r>
              <a:rPr b="0" lang="zh-TW" sz="2400" spc="-1" strike="noStrike">
                <a:solidFill>
                  <a:srgbClr val="1a1a1a"/>
                </a:solidFill>
                <a:latin typeface="Calibri"/>
                <a:ea typeface="標楷體"/>
              </a:rPr>
              <a:t>氣體感測器因元件老化與環境波動，對同一氣體的響應隨時間偏移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cadcfc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cadcfc"/>
                </a:solidFill>
                <a:latin typeface="Calibri"/>
                <a:ea typeface="標楷體"/>
              </a:rPr>
              <a:t>· </a:t>
            </a:r>
            <a:r>
              <a:rPr b="0" lang="zh-TW" sz="2400" spc="-1" strike="noStrike">
                <a:solidFill>
                  <a:srgbClr val="1a1a1a"/>
                </a:solidFill>
                <a:latin typeface="Calibri"/>
                <a:ea typeface="標楷體"/>
              </a:rPr>
              <a:t>電子鼻的長期辨識準確率與壽命因此大幅下降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00000"/>
              </a:lnSpc>
              <a:spcBef>
                <a:spcPts val="561"/>
              </a:spcBef>
              <a:spcAft>
                <a:spcPts val="1199"/>
              </a:spcAft>
              <a:buClr>
                <a:srgbClr val="1e2761"/>
              </a:buClr>
              <a:buFont typeface="Arial"/>
              <a:buChar char="•"/>
            </a:pPr>
            <a:r>
              <a:rPr b="1" lang="zh-TW" sz="2800" spc="-1" strike="noStrike">
                <a:solidFill>
                  <a:srgbClr val="1e2761"/>
                </a:solidFill>
                <a:latin typeface="Cambria"/>
                <a:ea typeface="標楷體"/>
              </a:rPr>
              <a:t>既有方法的限制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1a1a1a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1a1a1a"/>
                </a:solidFill>
                <a:latin typeface="Calibri"/>
                <a:ea typeface="標楷體"/>
              </a:rPr>
              <a:t>PCA-SVM</a:t>
            </a:r>
            <a:r>
              <a:rPr b="0" lang="zh-TW" sz="2400" spc="-1" strike="noStrike">
                <a:solidFill>
                  <a:srgbClr val="1a1a1a"/>
                </a:solidFill>
                <a:latin typeface="Calibri"/>
                <a:ea typeface="標楷體"/>
              </a:rPr>
              <a:t>、</a:t>
            </a:r>
            <a:r>
              <a:rPr b="0" lang="en-US" sz="2400" spc="-1" strike="noStrike">
                <a:solidFill>
                  <a:srgbClr val="1a1a1a"/>
                </a:solidFill>
                <a:latin typeface="Calibri"/>
                <a:ea typeface="標楷體"/>
              </a:rPr>
              <a:t>LDA-SVM</a:t>
            </a:r>
            <a:r>
              <a:rPr b="0" lang="zh-TW" sz="2400" spc="-1" strike="noStrike">
                <a:solidFill>
                  <a:srgbClr val="1a1a1a"/>
                </a:solidFill>
                <a:latin typeface="Calibri"/>
                <a:ea typeface="標楷體"/>
              </a:rPr>
              <a:t>：手工特徵與線性／ </a:t>
            </a:r>
            <a:r>
              <a:rPr b="0" lang="en-US" sz="2400" spc="-1" strike="noStrike">
                <a:solidFill>
                  <a:srgbClr val="1a1a1a"/>
                </a:solidFill>
                <a:latin typeface="Calibri"/>
                <a:ea typeface="標楷體"/>
              </a:rPr>
              <a:t>kernel </a:t>
            </a:r>
            <a:r>
              <a:rPr b="0" lang="zh-TW" sz="2400" spc="-1" strike="noStrike">
                <a:solidFill>
                  <a:srgbClr val="1a1a1a"/>
                </a:solidFill>
                <a:latin typeface="Calibri"/>
                <a:ea typeface="標楷體"/>
              </a:rPr>
              <a:t>轉換，無法擬合非線性長期漂移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1a1a1a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1a1a1a"/>
                </a:solidFill>
                <a:latin typeface="Calibri"/>
                <a:ea typeface="標楷體"/>
              </a:rPr>
              <a:t>SVM-GFK </a:t>
            </a:r>
            <a:r>
              <a:rPr b="0" lang="zh-TW" sz="2400" spc="-1" strike="noStrike">
                <a:solidFill>
                  <a:srgbClr val="1a1a1a"/>
                </a:solidFill>
                <a:latin typeface="Calibri"/>
                <a:ea typeface="標楷體"/>
              </a:rPr>
              <a:t>等流形學習或 </a:t>
            </a:r>
            <a:r>
              <a:rPr b="0" lang="en-US" sz="2400" spc="-1" strike="noStrike">
                <a:solidFill>
                  <a:srgbClr val="1a1a1a"/>
                </a:solidFill>
                <a:latin typeface="Calibri"/>
                <a:ea typeface="標楷體"/>
              </a:rPr>
              <a:t>transfer learning</a:t>
            </a:r>
            <a:r>
              <a:rPr b="0" lang="zh-TW" sz="2400" spc="-1" strike="noStrike">
                <a:solidFill>
                  <a:srgbClr val="1a1a1a"/>
                </a:solidFill>
                <a:latin typeface="Calibri"/>
                <a:ea typeface="標楷體"/>
              </a:rPr>
              <a:t>：需窺探 </a:t>
            </a:r>
            <a:r>
              <a:rPr b="0" lang="en-US" sz="2400" spc="-1" strike="noStrike">
                <a:solidFill>
                  <a:srgbClr val="1a1a1a"/>
                </a:solidFill>
                <a:latin typeface="Calibri"/>
                <a:ea typeface="標楷體"/>
              </a:rPr>
              <a:t>target domain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zh-TW" sz="2400" spc="-1" strike="noStrike">
                <a:solidFill>
                  <a:srgbClr val="000000"/>
                </a:solidFill>
                <a:latin typeface="Calibri"/>
                <a:ea typeface="標楷體"/>
              </a:rPr>
              <a:t>其他演算法大多也需要 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target domain </a:t>
            </a:r>
            <a:r>
              <a:rPr b="0" lang="zh-TW" sz="2400" spc="-1" strike="noStrike">
                <a:solidFill>
                  <a:srgbClr val="000000"/>
                </a:solidFill>
                <a:latin typeface="Calibri"/>
                <a:ea typeface="標楷體"/>
              </a:rPr>
              <a:t>的資料，難以在現實使用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00000"/>
              </a:lnSpc>
              <a:spcBef>
                <a:spcPts val="479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zh-TW" sz="2400" spc="-1" strike="noStrike">
                <a:solidFill>
                  <a:srgbClr val="000000"/>
                </a:solidFill>
                <a:latin typeface="Calibri"/>
                <a:ea typeface="標楷體"/>
              </a:rPr>
              <a:t>此方法相較傳統 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ResNet</a:t>
            </a:r>
            <a:r>
              <a:rPr b="0" lang="zh-TW" sz="2400" spc="-1" strike="noStrike">
                <a:solidFill>
                  <a:srgbClr val="000000"/>
                </a:solidFill>
                <a:latin typeface="Calibri"/>
                <a:ea typeface="標楷體"/>
              </a:rPr>
              <a:t>，在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target domain</a:t>
            </a:r>
            <a:r>
              <a:rPr b="0" lang="zh-TW" sz="2400" spc="-1" strike="noStrike">
                <a:solidFill>
                  <a:srgbClr val="000000"/>
                </a:solidFill>
                <a:latin typeface="Calibri"/>
                <a:ea typeface="標楷體"/>
              </a:rPr>
              <a:t>上的表現為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acuucracy</a:t>
            </a:r>
            <a:r>
              <a:rPr b="0" lang="zh-TW" sz="2400" spc="-1" strike="noStrike">
                <a:solidFill>
                  <a:srgbClr val="000000"/>
                </a:solidFill>
                <a:latin typeface="Calibri"/>
                <a:ea typeface="標楷體"/>
              </a:rPr>
              <a:t>提升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標楷體"/>
              </a:rPr>
              <a:t>0.05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474CE6A-8377-473C-94DF-8AA46AFAD2B8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619640" y="274680"/>
            <a:ext cx="706680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Domain generalization and Contrastive learning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8" name="Picture 4" descr=""/>
          <p:cNvPicPr/>
          <p:nvPr/>
        </p:nvPicPr>
        <p:blipFill>
          <a:blip r:embed="rId1"/>
          <a:stretch/>
        </p:blipFill>
        <p:spPr>
          <a:xfrm>
            <a:off x="1496160" y="1657440"/>
            <a:ext cx="6151320" cy="41965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444B427-47CF-48E6-BB58-3A6CFC9B019C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619640" y="274680"/>
            <a:ext cx="706680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00"/>
          </a:bodyPr>
          <a:p>
            <a:pPr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Methodology: CDCNN</a:t>
            </a:r>
            <a:br>
              <a:rPr sz="4400"/>
            </a:br>
            <a:r>
              <a:rPr b="0" lang="en-US" sz="2200" spc="-1" strike="noStrike">
                <a:solidFill>
                  <a:srgbClr val="000000"/>
                </a:solidFill>
                <a:latin typeface="Times New Roman"/>
                <a:ea typeface="標楷體"/>
              </a:rPr>
              <a:t>Contrastive </a:t>
            </a:r>
            <a:r>
              <a:rPr b="0" lang="en-CA" sz="2200" spc="-1" strike="noStrike">
                <a:solidFill>
                  <a:srgbClr val="000000"/>
                </a:solidFill>
                <a:latin typeface="Times New Roman"/>
                <a:ea typeface="標楷體"/>
              </a:rPr>
              <a:t>domain generalization convolution neural network</a:t>
            </a:r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0" name="Picture 4" descr=""/>
          <p:cNvPicPr/>
          <p:nvPr/>
        </p:nvPicPr>
        <p:blipFill>
          <a:blip r:embed="rId1"/>
          <a:stretch/>
        </p:blipFill>
        <p:spPr>
          <a:xfrm>
            <a:off x="914400" y="1738080"/>
            <a:ext cx="7314840" cy="42973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9FF0DCE-BB85-465D-B0AF-CF5A181B6BB2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000"/>
          </a:bodyPr>
          <a:p>
            <a:pPr algn="ctr">
              <a:lnSpc>
                <a:spcPct val="100000"/>
              </a:lnSpc>
              <a:buNone/>
            </a:pPr>
            <a:r>
              <a:rPr b="0" lang="en-CA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Data augmentation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8229240" cy="4929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研究者受到</a:t>
            </a: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VAE(Variational Auto Encoder</a:t>
            </a: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，變分自編碼器</a:t>
            </a: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)</a:t>
            </a: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啟發，設計一套專門的資料增強方法，將輸入資料轉換成機率模型並從中取樣並合成。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  <a:p>
            <a:pPr marL="45720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3" name="Picture 9" descr=""/>
          <p:cNvPicPr/>
          <p:nvPr/>
        </p:nvPicPr>
        <p:blipFill>
          <a:blip r:embed="rId1"/>
          <a:srcRect l="0" t="0" r="23502" b="-1407"/>
          <a:stretch/>
        </p:blipFill>
        <p:spPr>
          <a:xfrm>
            <a:off x="535680" y="1916640"/>
            <a:ext cx="4509000" cy="461160"/>
          </a:xfrm>
          <a:prstGeom prst="rect">
            <a:avLst/>
          </a:prstGeom>
          <a:ln w="0">
            <a:noFill/>
          </a:ln>
        </p:spPr>
      </p:pic>
      <p:pic>
        <p:nvPicPr>
          <p:cNvPr id="144" name="Picture 11" descr=""/>
          <p:cNvPicPr/>
          <p:nvPr/>
        </p:nvPicPr>
        <p:blipFill>
          <a:blip r:embed="rId2"/>
          <a:stretch/>
        </p:blipFill>
        <p:spPr>
          <a:xfrm>
            <a:off x="4312800" y="2400480"/>
            <a:ext cx="4181760" cy="3797640"/>
          </a:xfrm>
          <a:prstGeom prst="rect">
            <a:avLst/>
          </a:prstGeom>
          <a:ln w="0">
            <a:noFill/>
          </a:ln>
        </p:spPr>
      </p:pic>
      <p:sp>
        <p:nvSpPr>
          <p:cNvPr id="145" name="TextBox 13"/>
          <p:cNvSpPr/>
          <p:nvPr/>
        </p:nvSpPr>
        <p:spPr>
          <a:xfrm>
            <a:off x="4659480" y="6218280"/>
            <a:ext cx="37872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zh-TW" sz="1400" spc="-1" strike="noStrike">
                <a:solidFill>
                  <a:srgbClr val="5a5a66"/>
                </a:solidFill>
                <a:latin typeface="Calibri"/>
                <a:ea typeface="標楷體"/>
              </a:rPr>
              <a:t>相較白高斯雜訊與常數雜訊，</a:t>
            </a:r>
            <a:r>
              <a:rPr b="0" lang="en-US" sz="1400" spc="-1" strike="noStrike">
                <a:solidFill>
                  <a:srgbClr val="5a5a66"/>
                </a:solidFill>
                <a:latin typeface="Calibri"/>
                <a:ea typeface="標楷體"/>
              </a:rPr>
              <a:t>CDCNN </a:t>
            </a:r>
            <a:r>
              <a:rPr b="0" lang="zh-TW" sz="1400" spc="-1" strike="noStrike">
                <a:solidFill>
                  <a:srgbClr val="5a5a66"/>
                </a:solidFill>
                <a:latin typeface="Calibri"/>
                <a:ea typeface="標楷體"/>
              </a:rPr>
              <a:t>的擴充在 </a:t>
            </a:r>
            <a:r>
              <a:rPr b="0" lang="en-US" sz="1400" spc="-1" strike="noStrike">
                <a:solidFill>
                  <a:srgbClr val="5a5a66"/>
                </a:solidFill>
                <a:latin typeface="Calibri"/>
                <a:ea typeface="標楷體"/>
              </a:rPr>
              <a:t>PCA </a:t>
            </a:r>
            <a:r>
              <a:rPr b="0" lang="zh-TW" sz="1400" spc="-1" strike="noStrike">
                <a:solidFill>
                  <a:srgbClr val="5a5a66"/>
                </a:solidFill>
                <a:latin typeface="Calibri"/>
                <a:ea typeface="標楷體"/>
              </a:rPr>
              <a:t>空間產生明顯更大的分散。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6" name="TextBox 16"/>
          <p:cNvSpPr/>
          <p:nvPr/>
        </p:nvSpPr>
        <p:spPr>
          <a:xfrm>
            <a:off x="457200" y="2397960"/>
            <a:ext cx="3359880" cy="30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1. </a:t>
            </a:r>
            <a:r>
              <a:rPr b="0" lang="en-US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   </a:t>
            </a:r>
            <a:r>
              <a:rPr b="0" lang="zh-TW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計算其中一個氣體感測器訊號 </a:t>
            </a:r>
            <a:r>
              <a:rPr b="0" lang="en-US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j </a:t>
            </a:r>
            <a:r>
              <a:rPr b="0" lang="zh-TW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的資料平均與變異數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5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2.   </a:t>
            </a:r>
            <a:r>
              <a:rPr b="0" lang="zh-TW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再挑選同一個氣體資料中另一條不同的訊號 </a:t>
            </a:r>
            <a:r>
              <a:rPr b="0" lang="en-US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k </a:t>
            </a:r>
            <a:r>
              <a:rPr b="0" lang="zh-TW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計算平均與變異數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50000"/>
              </a:lnSpc>
              <a:buNone/>
            </a:pPr>
            <a:r>
              <a:rPr b="0" lang="en-US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3.   </a:t>
            </a:r>
            <a:r>
              <a:rPr b="0" lang="zh-TW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將兩者訊號以設定好的 參數</a:t>
            </a:r>
            <a:r>
              <a:rPr b="0" lang="el-GR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λ </a:t>
            </a:r>
            <a:r>
              <a:rPr b="0" lang="zh-TW" sz="1600" spc="-1" strike="noStrike">
                <a:solidFill>
                  <a:srgbClr val="000000"/>
                </a:solidFill>
                <a:latin typeface="Times New Roman"/>
                <a:ea typeface="標楷體"/>
              </a:rPr>
              <a:t>線性組合，得到混合平均值及混和變異數，再建立高斯分布模型，合成擴充訊號並保留原本的標籤。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46AE71B-EE18-4EAF-9D1F-C815011C4C9B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Times New Roman"/>
                <a:ea typeface="標楷體"/>
              </a:rPr>
              <a:t>Feature Generation</a:t>
            </a:r>
            <a:endParaRPr b="0" lang="en-US" sz="4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363960" y="1427040"/>
            <a:ext cx="4453200" cy="4929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25000"/>
          </a:bodyPr>
          <a:p>
            <a:pPr>
              <a:lnSpc>
                <a:spcPct val="150000"/>
              </a:lnSpc>
              <a:spcBef>
                <a:spcPts val="360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50000"/>
              </a:lnSpc>
              <a:spcBef>
                <a:spcPts val="1440"/>
              </a:spcBef>
              <a:buClr>
                <a:srgbClr val="000000"/>
              </a:buClr>
              <a:buFont typeface="Arial"/>
              <a:buChar char="•"/>
            </a:pPr>
            <a:r>
              <a:rPr b="1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高頻特徵：</a:t>
            </a: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先將訊號以 </a:t>
            </a:r>
            <a:r>
              <a:rPr b="0" lang="en-US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Maxpool() </a:t>
            </a: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取出，再用最近鄰上採樣</a:t>
            </a:r>
            <a:r>
              <a:rPr b="0" lang="en-US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(sample)</a:t>
            </a: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還原尺寸。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50000"/>
              </a:lnSpc>
              <a:spcBef>
                <a:spcPts val="1440"/>
              </a:spcBef>
              <a:buClr>
                <a:srgbClr val="000000"/>
              </a:buClr>
              <a:buFont typeface="Arial"/>
              <a:buChar char="•"/>
            </a:pPr>
            <a:r>
              <a:rPr b="1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低頻特徵：</a:t>
            </a: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原始特徵減去高頻特徵得到，這部分視為與</a:t>
            </a:r>
            <a:r>
              <a:rPr b="0" lang="en-US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domain</a:t>
            </a: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相關的緩慢變化。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50000"/>
              </a:lnSpc>
              <a:spcBef>
                <a:spcPts val="1440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將高頻特徵與另一組低頻特徵組合，可生成具原始分類標籤且帶有 </a:t>
            </a:r>
            <a:r>
              <a:rPr b="0" lang="en-US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domain </a:t>
            </a: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漂移的特徵訊號。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50000"/>
              </a:lnSpc>
              <a:spcBef>
                <a:spcPts val="1440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再進入 </a:t>
            </a:r>
            <a:r>
              <a:rPr b="0" lang="en-US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ResNet-4,5 </a:t>
            </a: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生成深層特徵，計算 </a:t>
            </a:r>
            <a:r>
              <a:rPr b="0" lang="en-US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Contrast Loss</a:t>
            </a: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。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50000"/>
              </a:lnSpc>
              <a:spcBef>
                <a:spcPts val="1440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最後在得到分類機率後計算</a:t>
            </a:r>
            <a:r>
              <a:rPr b="0" lang="en-US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MSE Loss</a:t>
            </a: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，確保兩種</a:t>
            </a:r>
            <a:r>
              <a:rPr b="0" lang="en-US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feature</a:t>
            </a:r>
            <a:r>
              <a:rPr b="0" lang="zh-TW" sz="7200" spc="-1" strike="noStrike">
                <a:solidFill>
                  <a:srgbClr val="000000"/>
                </a:solidFill>
                <a:latin typeface="Times New Roman"/>
                <a:ea typeface="標楷體"/>
              </a:rPr>
              <a:t>的預測結果一致。</a:t>
            </a:r>
            <a:endParaRPr b="0" lang="en-US" sz="7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9" name="Picture 9" descr=""/>
          <p:cNvPicPr/>
          <p:nvPr/>
        </p:nvPicPr>
        <p:blipFill>
          <a:blip r:embed="rId1"/>
          <a:stretch/>
        </p:blipFill>
        <p:spPr>
          <a:xfrm>
            <a:off x="4876560" y="1594800"/>
            <a:ext cx="3903120" cy="1577160"/>
          </a:xfrm>
          <a:prstGeom prst="rect">
            <a:avLst/>
          </a:prstGeom>
          <a:ln w="0">
            <a:noFill/>
          </a:ln>
        </p:spPr>
      </p:pic>
      <p:pic>
        <p:nvPicPr>
          <p:cNvPr id="150" name="Picture 10" descr=""/>
          <p:cNvPicPr/>
          <p:nvPr/>
        </p:nvPicPr>
        <p:blipFill>
          <a:blip r:embed="rId2"/>
          <a:stretch/>
        </p:blipFill>
        <p:spPr>
          <a:xfrm>
            <a:off x="5050800" y="3666600"/>
            <a:ext cx="3728880" cy="20595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88F8151-B4FB-4B30-AF56-335E3539778B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000"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Loss</a:t>
            </a:r>
            <a:r>
              <a:rPr b="0" lang="en-US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 Function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457200" y="1196640"/>
            <a:ext cx="8229240" cy="4929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343080" indent="-3430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損失函數</a:t>
            </a: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L</a:t>
            </a: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：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L</a:t>
            </a:r>
            <a:r>
              <a:rPr b="0" lang="en-US" sz="2400" spc="-1" strike="noStrike" baseline="-25000">
                <a:solidFill>
                  <a:srgbClr val="000000"/>
                </a:solidFill>
                <a:latin typeface="Times New Roman"/>
                <a:ea typeface="標楷體"/>
              </a:rPr>
              <a:t>ce</a:t>
            </a: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: Cross-Entropy loss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L</a:t>
            </a:r>
            <a:r>
              <a:rPr b="0" lang="en-US" sz="2400" spc="-1" strike="noStrike" baseline="-25000">
                <a:solidFill>
                  <a:srgbClr val="000000"/>
                </a:solidFill>
                <a:latin typeface="Times New Roman"/>
                <a:ea typeface="標楷體"/>
              </a:rPr>
              <a:t>MSE</a:t>
            </a: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: </a:t>
            </a:r>
            <a:r>
              <a:rPr b="0" lang="zh-TW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確保</a:t>
            </a: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generate feature </a:t>
            </a:r>
            <a:r>
              <a:rPr b="0" lang="zh-TW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跟原始特徵保持一致性。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marL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marL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	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L</a:t>
            </a:r>
            <a:r>
              <a:rPr b="0" lang="en-US" sz="2400" spc="-1" strike="noStrike" baseline="-25000">
                <a:solidFill>
                  <a:srgbClr val="000000"/>
                </a:solidFill>
                <a:latin typeface="Times New Roman"/>
                <a:ea typeface="標楷體"/>
              </a:rPr>
              <a:t>con</a:t>
            </a: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: </a:t>
            </a:r>
            <a:r>
              <a:rPr b="0" lang="zh-TW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使用 </a:t>
            </a: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dot-product similarity</a:t>
            </a:r>
            <a:r>
              <a:rPr b="0" lang="zh-TW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拉近同標籤樣本的距離。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  <a:p>
            <a:pPr marL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標楷體"/>
              </a:rPr>
              <a:t>	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3" name="Picture 5" descr=""/>
          <p:cNvPicPr/>
          <p:nvPr/>
        </p:nvPicPr>
        <p:blipFill>
          <a:blip r:embed="rId1"/>
          <a:stretch/>
        </p:blipFill>
        <p:spPr>
          <a:xfrm>
            <a:off x="3379320" y="1196640"/>
            <a:ext cx="4152960" cy="700560"/>
          </a:xfrm>
          <a:prstGeom prst="rect">
            <a:avLst/>
          </a:prstGeom>
          <a:ln w="0">
            <a:noFill/>
          </a:ln>
        </p:spPr>
      </p:pic>
      <p:pic>
        <p:nvPicPr>
          <p:cNvPr id="154" name="Picture 7" descr=""/>
          <p:cNvPicPr/>
          <p:nvPr/>
        </p:nvPicPr>
        <p:blipFill>
          <a:blip r:embed="rId2"/>
          <a:stretch/>
        </p:blipFill>
        <p:spPr>
          <a:xfrm>
            <a:off x="1826640" y="2154600"/>
            <a:ext cx="4505400" cy="916200"/>
          </a:xfrm>
          <a:prstGeom prst="rect">
            <a:avLst/>
          </a:prstGeom>
          <a:ln w="0">
            <a:noFill/>
          </a:ln>
        </p:spPr>
      </p:pic>
      <p:pic>
        <p:nvPicPr>
          <p:cNvPr id="155" name="Picture 9" descr=""/>
          <p:cNvPicPr/>
          <p:nvPr/>
        </p:nvPicPr>
        <p:blipFill>
          <a:blip r:embed="rId3"/>
          <a:stretch/>
        </p:blipFill>
        <p:spPr>
          <a:xfrm>
            <a:off x="1826640" y="3555000"/>
            <a:ext cx="5385600" cy="825480"/>
          </a:xfrm>
          <a:prstGeom prst="rect">
            <a:avLst/>
          </a:prstGeom>
          <a:ln w="0">
            <a:noFill/>
          </a:ln>
        </p:spPr>
      </p:pic>
      <p:pic>
        <p:nvPicPr>
          <p:cNvPr id="156" name="Picture 11" descr=""/>
          <p:cNvPicPr/>
          <p:nvPr/>
        </p:nvPicPr>
        <p:blipFill>
          <a:blip r:embed="rId4"/>
          <a:stretch/>
        </p:blipFill>
        <p:spPr>
          <a:xfrm>
            <a:off x="1636560" y="4865040"/>
            <a:ext cx="5870520" cy="14911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BAC5030-C5B5-46BD-84F4-78DB805E98C4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標楷體"/>
              </a:rPr>
              <a:t>Dataset:</a:t>
            </a:r>
            <a:r>
              <a:rPr b="0" lang="en-US" sz="3200" spc="-1" strike="noStrike">
                <a:solidFill>
                  <a:srgbClr val="000000"/>
                </a:solidFill>
                <a:latin typeface="Times New Roman"/>
                <a:ea typeface="標楷體"/>
              </a:rPr>
              <a:t> </a:t>
            </a:r>
            <a:r>
              <a:rPr b="0" lang="en-CA" sz="3200" spc="-1" strike="noStrike">
                <a:solidFill>
                  <a:srgbClr val="000000"/>
                </a:solidFill>
                <a:latin typeface="Times New Roman"/>
                <a:ea typeface="標楷體"/>
              </a:rPr>
              <a:t>UCI long-term sensor drift dataset </a:t>
            </a:r>
            <a:endParaRPr b="0" lang="en-US" sz="3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8" name="Content Placeholder 5" descr=""/>
          <p:cNvPicPr/>
          <p:nvPr/>
        </p:nvPicPr>
        <p:blipFill>
          <a:blip r:embed="rId1"/>
          <a:stretch/>
        </p:blipFill>
        <p:spPr>
          <a:xfrm>
            <a:off x="593640" y="3628440"/>
            <a:ext cx="7956360" cy="2032560"/>
          </a:xfrm>
          <a:prstGeom prst="rect">
            <a:avLst/>
          </a:prstGeom>
          <a:ln w="0">
            <a:noFill/>
          </a:ln>
        </p:spPr>
      </p:pic>
      <p:sp>
        <p:nvSpPr>
          <p:cNvPr id="159" name="Content Placeholder 3"/>
          <p:cNvSpPr/>
          <p:nvPr/>
        </p:nvSpPr>
        <p:spPr>
          <a:xfrm>
            <a:off x="457200" y="1196640"/>
            <a:ext cx="8229240" cy="49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36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個月採集時間</a:t>
            </a:r>
            <a:endParaRPr b="0" lang="en-US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13910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個樣本，根據時間切成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10 batches</a:t>
            </a:r>
            <a:endParaRPr b="0" lang="en-US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Label: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氨氣 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ammonia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、乙醛 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acetaldehyde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、丙酮 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acetone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、乙烯 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ethylene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、乙醇 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ethanol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、甲苯 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toluene</a:t>
            </a:r>
            <a:endParaRPr b="0" lang="en-US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16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顆 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MOS array</a:t>
            </a:r>
            <a:endParaRPr b="0" lang="en-US" sz="20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8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種特徵：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R</a:t>
            </a:r>
            <a:r>
              <a:rPr b="0" lang="en-US" sz="2000" spc="-1" strike="noStrike" baseline="-25000">
                <a:solidFill>
                  <a:srgbClr val="000000"/>
                </a:solidFill>
                <a:latin typeface="Times New Roman"/>
                <a:ea typeface="標楷體"/>
              </a:rPr>
              <a:t>max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、 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(R</a:t>
            </a:r>
            <a:r>
              <a:rPr b="0" lang="en-US" sz="2000" spc="-1" strike="noStrike" baseline="-25000">
                <a:solidFill>
                  <a:srgbClr val="000000"/>
                </a:solidFill>
                <a:latin typeface="Times New Roman"/>
                <a:ea typeface="標楷體"/>
              </a:rPr>
              <a:t>max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 – R</a:t>
            </a:r>
            <a:r>
              <a:rPr b="0" lang="en-US" sz="2000" spc="-1" strike="noStrike" baseline="-25000">
                <a:solidFill>
                  <a:srgbClr val="000000"/>
                </a:solidFill>
                <a:latin typeface="Times New Roman"/>
                <a:ea typeface="標楷體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)/R</a:t>
            </a:r>
            <a:r>
              <a:rPr b="0" lang="en-US" sz="2000" spc="-1" strike="noStrike" baseline="-25000">
                <a:solidFill>
                  <a:srgbClr val="000000"/>
                </a:solidFill>
                <a:latin typeface="Times New Roman"/>
                <a:ea typeface="標楷體"/>
              </a:rPr>
              <a:t>o</a:t>
            </a:r>
            <a:r>
              <a:rPr b="0" lang="zh-TW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、三個不同參數的上升與衰減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EMA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標楷體"/>
              </a:rPr>
              <a:t>	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43D869B-B541-49FD-8D3E-B1A041D9E32A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000"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 </a:t>
            </a:r>
            <a:r>
              <a:rPr b="0" lang="en-US" sz="2700" spc="-1" strike="noStrike">
                <a:solidFill>
                  <a:srgbClr val="000000"/>
                </a:solidFill>
                <a:latin typeface="Times New Roman"/>
                <a:ea typeface="標楷體"/>
              </a:rPr>
              <a:t>Performance differences between CDCNN and CDWC</a:t>
            </a:r>
            <a:endParaRPr b="0" lang="en-US" sz="27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1" name="图片 1" descr="图表&#10;&#10;描述已自动生成"/>
          <p:cNvPicPr/>
          <p:nvPr/>
        </p:nvPicPr>
        <p:blipFill>
          <a:blip r:embed="rId1"/>
          <a:srcRect l="645" t="0" r="0" b="0"/>
          <a:stretch/>
        </p:blipFill>
        <p:spPr>
          <a:xfrm>
            <a:off x="582840" y="1111680"/>
            <a:ext cx="6286320" cy="2478240"/>
          </a:xfrm>
          <a:prstGeom prst="rect">
            <a:avLst/>
          </a:prstGeom>
          <a:ln w="0">
            <a:noFill/>
          </a:ln>
        </p:spPr>
      </p:pic>
      <p:pic>
        <p:nvPicPr>
          <p:cNvPr id="162" name="图片 17" descr="图表&#10;&#10;描述已自动生成"/>
          <p:cNvPicPr/>
          <p:nvPr/>
        </p:nvPicPr>
        <p:blipFill>
          <a:blip r:embed="rId2"/>
          <a:stretch/>
        </p:blipFill>
        <p:spPr>
          <a:xfrm>
            <a:off x="2171880" y="3772800"/>
            <a:ext cx="6514920" cy="27658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6C7D2EF-B38A-40E5-951B-C248CFDD247E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000"/>
          </a:bodyPr>
          <a:p>
            <a:pPr algn="ctr">
              <a:lnSpc>
                <a:spcPct val="100000"/>
              </a:lnSpc>
              <a:buNone/>
            </a:pPr>
            <a:r>
              <a:rPr b="0" lang="zh-TW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各式方法比較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4" name="Content Placeholder 4" descr=""/>
          <p:cNvPicPr/>
          <p:nvPr/>
        </p:nvPicPr>
        <p:blipFill>
          <a:blip r:embed="rId1"/>
          <a:stretch/>
        </p:blipFill>
        <p:spPr>
          <a:xfrm>
            <a:off x="2060640" y="1254240"/>
            <a:ext cx="5558760" cy="49287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0B2F2CB-613D-4ACB-9306-9F5D288FD5A2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實驗設計：照 </a:t>
            </a: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Fig. 2 </a:t>
            </a: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重建架構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TextBox 3"/>
          <p:cNvSpPr/>
          <p:nvPr/>
        </p:nvSpPr>
        <p:spPr>
          <a:xfrm>
            <a:off x="1325880" y="1115640"/>
            <a:ext cx="7360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復刻論文的架構，只用</a:t>
            </a:r>
            <a:r>
              <a:rPr b="1" lang="en-CA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 </a:t>
            </a:r>
            <a:r>
              <a:rPr b="1" lang="en-CA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batch1 </a:t>
            </a: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資料訓練，再看</a:t>
            </a:r>
            <a:r>
              <a:rPr b="1" lang="en-CA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model</a:t>
            </a: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在 </a:t>
            </a:r>
            <a:r>
              <a:rPr b="1" lang="en-CA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batch2-9 </a:t>
            </a: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的表現。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67" name="Picture 4" descr="image.png"/>
          <p:cNvPicPr/>
          <p:nvPr/>
        </p:nvPicPr>
        <p:blipFill>
          <a:blip r:embed="rId1"/>
          <a:stretch/>
        </p:blipFill>
        <p:spPr>
          <a:xfrm>
            <a:off x="984960" y="1436760"/>
            <a:ext cx="7103520" cy="4173120"/>
          </a:xfrm>
          <a:prstGeom prst="rect">
            <a:avLst/>
          </a:prstGeom>
          <a:ln w="0">
            <a:noFill/>
          </a:ln>
        </p:spPr>
      </p:pic>
      <p:sp>
        <p:nvSpPr>
          <p:cNvPr id="168" name="TextBox 5"/>
          <p:cNvSpPr/>
          <p:nvPr/>
        </p:nvSpPr>
        <p:spPr>
          <a:xfrm>
            <a:off x="1801800" y="5697000"/>
            <a:ext cx="54702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0" i="1" lang="zh-TW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論文 </a:t>
            </a:r>
            <a:r>
              <a:rPr b="0" i="1" lang="en-US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Fig. 2</a:t>
            </a:r>
            <a:r>
              <a:rPr b="0" i="1" lang="zh-TW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：五個一維 </a:t>
            </a:r>
            <a:r>
              <a:rPr b="0" i="1" lang="en-US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ResNet </a:t>
            </a:r>
            <a:r>
              <a:rPr b="0" i="1" lang="zh-TW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區塊，攤平後接全連接層；資料擴充與特徵生成只在訓練時作用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69" name="TextBox 7"/>
          <p:cNvSpPr/>
          <p:nvPr/>
        </p:nvSpPr>
        <p:spPr>
          <a:xfrm>
            <a:off x="800280" y="6019920"/>
            <a:ext cx="4205880" cy="51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0" lang="zh-TW" sz="1400" spc="-1" strike="noStrike">
                <a:solidFill>
                  <a:srgbClr val="1a1a1a"/>
                </a:solidFill>
                <a:latin typeface="Times New Roman"/>
                <a:ea typeface="標楷體"/>
              </a:rPr>
              <a:t>三個元件逐個加上：</a:t>
            </a:r>
            <a:endParaRPr b="0" lang="en-US" sz="14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0" lang="en-US" sz="1400" spc="-1" strike="noStrike">
                <a:solidFill>
                  <a:srgbClr val="1a1a1a"/>
                </a:solidFill>
                <a:latin typeface="Times New Roman"/>
                <a:ea typeface="標楷體"/>
              </a:rPr>
              <a:t>① </a:t>
            </a:r>
            <a:r>
              <a:rPr b="0" lang="zh-TW" sz="1400" spc="-1" strike="noStrike">
                <a:solidFill>
                  <a:srgbClr val="1a1a1a"/>
                </a:solidFill>
                <a:latin typeface="Times New Roman"/>
                <a:ea typeface="標楷體"/>
              </a:rPr>
              <a:t>資料擴充　② 特徵生成　③ 對比損失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19F360F-865B-4789-9C56-AF6CD384F81C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論文的 </a:t>
            </a: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ResNet 0.6346</a:t>
            </a: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，</a:t>
            </a: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 </a:t>
            </a: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baseline</a:t>
            </a: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：</a:t>
            </a: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0.5556</a:t>
            </a: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，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1" name="Picture 4" descr="baseline-confusion_best.png"/>
          <p:cNvPicPr/>
          <p:nvPr/>
        </p:nvPicPr>
        <p:blipFill>
          <a:blip r:embed="rId1"/>
          <a:srcRect l="0" t="9368" r="32477" b="0"/>
          <a:stretch/>
        </p:blipFill>
        <p:spPr>
          <a:xfrm>
            <a:off x="5377680" y="1661040"/>
            <a:ext cx="3557160" cy="2976120"/>
          </a:xfrm>
          <a:prstGeom prst="rect">
            <a:avLst/>
          </a:prstGeom>
          <a:ln w="0">
            <a:noFill/>
          </a:ln>
        </p:spPr>
      </p:pic>
      <p:pic>
        <p:nvPicPr>
          <p:cNvPr id="172" name="Picture 6" descr="image.png"/>
          <p:cNvPicPr/>
          <p:nvPr/>
        </p:nvPicPr>
        <p:blipFill>
          <a:blip r:embed="rId2"/>
          <a:stretch/>
        </p:blipFill>
        <p:spPr>
          <a:xfrm>
            <a:off x="111960" y="1911600"/>
            <a:ext cx="5186880" cy="247536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42D776F-5F49-4035-AA2A-CE91328386AB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元件一：</a:t>
            </a:r>
            <a:r>
              <a:rPr b="0" lang="en-CA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Data Augmentation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TextBox 3"/>
          <p:cNvSpPr/>
          <p:nvPr/>
        </p:nvSpPr>
        <p:spPr>
          <a:xfrm>
            <a:off x="1325880" y="1115640"/>
            <a:ext cx="7360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論文的擴充是加隨機噪聲，加了反而變差；噪聲要符合特徵方向才會變好，方向就必須是 </a:t>
            </a:r>
            <a:r>
              <a:rPr b="1" lang="en-US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target-informed</a:t>
            </a: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。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175" name="Table 4"/>
          <p:cNvGraphicFramePr/>
          <p:nvPr/>
        </p:nvGraphicFramePr>
        <p:xfrm>
          <a:off x="457200" y="1481400"/>
          <a:ext cx="4845960" cy="1535760"/>
        </p:xfrm>
        <a:graphic>
          <a:graphicData uri="http://schemas.openxmlformats.org/drawingml/2006/table">
            <a:tbl>
              <a:tblPr/>
              <a:tblGrid>
                <a:gridCol w="2907720"/>
                <a:gridCol w="969120"/>
                <a:gridCol w="969120"/>
              </a:tblGrid>
              <a:tr h="38376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12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做法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target mean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zh-TW" sz="12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與基線差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</a:tr>
              <a:tr h="38376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Baseline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0.5556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—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論文的擴充：各方向隨機的噪聲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0.5340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−</a:t>
                      </a: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0.0216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48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沿感測器老化方向推一段距離，不加噪聲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0.5770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+0.0214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176" name="Picture 6" descr="augmentation_pca_3panel.png"/>
          <p:cNvPicPr/>
          <p:nvPr/>
        </p:nvPicPr>
        <p:blipFill>
          <a:blip r:embed="rId1"/>
          <a:stretch/>
        </p:blipFill>
        <p:spPr>
          <a:xfrm>
            <a:off x="524880" y="3173040"/>
            <a:ext cx="8093520" cy="3108600"/>
          </a:xfrm>
          <a:prstGeom prst="rect">
            <a:avLst/>
          </a:prstGeom>
          <a:ln w="0">
            <a:noFill/>
          </a:ln>
        </p:spPr>
      </p:pic>
      <p:sp>
        <p:nvSpPr>
          <p:cNvPr id="177" name="TextBox 7"/>
          <p:cNvSpPr/>
          <p:nvPr/>
        </p:nvSpPr>
        <p:spPr>
          <a:xfrm>
            <a:off x="457200" y="6190560"/>
            <a:ext cx="82292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0" i="1" lang="zh-TW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菱形：各格 </a:t>
            </a:r>
            <a:r>
              <a:rPr b="0" i="1" lang="en-US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Acetaldehyde </a:t>
            </a:r>
            <a:r>
              <a:rPr b="0" i="1" lang="zh-TW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雲的重心；紅叉：測試批次的 </a:t>
            </a:r>
            <a:r>
              <a:rPr b="0" i="1" lang="en-US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Acetaldehyde </a:t>
            </a:r>
            <a:r>
              <a:rPr b="0" i="1" lang="zh-TW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重心；</a:t>
            </a:r>
            <a:r>
              <a:rPr b="0" i="1" lang="en-US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d</a:t>
            </a:r>
            <a:r>
              <a:rPr b="0" i="1" lang="zh-TW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：兩者在 </a:t>
            </a:r>
            <a:r>
              <a:rPr b="0" i="1" lang="en-US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128 </a:t>
            </a:r>
            <a:r>
              <a:rPr b="0" i="1" lang="zh-TW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維空間的距離（</a:t>
            </a:r>
            <a:r>
              <a:rPr b="0" i="1" lang="en-US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Batch 1 </a:t>
            </a:r>
            <a:r>
              <a:rPr b="0" i="1" lang="zh-TW" sz="1000" spc="-1" strike="noStrike">
                <a:solidFill>
                  <a:srgbClr val="595959"/>
                </a:solidFill>
                <a:latin typeface="Times New Roman"/>
                <a:ea typeface="標楷體"/>
              </a:rPr>
              <a:t>的前兩個主成分）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14EACAB-5E8B-4A40-AB46-B3977FB882C6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元件二：</a:t>
            </a: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Feature Generation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TextBox 3"/>
          <p:cNvSpPr/>
          <p:nvPr/>
        </p:nvSpPr>
        <p:spPr>
          <a:xfrm>
            <a:off x="1325880" y="1115640"/>
            <a:ext cx="7360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我們畫得出和論文一樣的圖；但它是在</a:t>
            </a:r>
            <a:r>
              <a:rPr b="1" lang="en-US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testing-batch</a:t>
            </a: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上畫的，看不出區塊對沒見過的批次有沒有幫助。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80" name="Picture 4" descr="fig5-feature-generation.png"/>
          <p:cNvPicPr/>
          <p:nvPr/>
        </p:nvPicPr>
        <p:blipFill>
          <a:blip r:embed="rId1"/>
          <a:stretch/>
        </p:blipFill>
        <p:spPr>
          <a:xfrm>
            <a:off x="2537640" y="1451160"/>
            <a:ext cx="4068720" cy="2347200"/>
          </a:xfrm>
          <a:prstGeom prst="rect">
            <a:avLst/>
          </a:prstGeom>
          <a:ln w="0">
            <a:noFill/>
          </a:ln>
        </p:spPr>
      </p:pic>
      <p:pic>
        <p:nvPicPr>
          <p:cNvPr id="181" name="Picture 5" descr="feature_generation.png"/>
          <p:cNvPicPr/>
          <p:nvPr/>
        </p:nvPicPr>
        <p:blipFill>
          <a:blip r:embed="rId2"/>
          <a:stretch/>
        </p:blipFill>
        <p:spPr>
          <a:xfrm>
            <a:off x="2046960" y="3913200"/>
            <a:ext cx="4958640" cy="273564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B3F265F-E709-4929-B814-68E1F0660745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生成的特徵沒有走到任何後續批次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3" name="Picture 4" descr="generation_drift_aligned_2d_b2-7-10.png"/>
          <p:cNvPicPr/>
          <p:nvPr/>
        </p:nvPicPr>
        <p:blipFill>
          <a:blip r:embed="rId1"/>
          <a:stretch/>
        </p:blipFill>
        <p:spPr>
          <a:xfrm>
            <a:off x="20880" y="1595520"/>
            <a:ext cx="9101880" cy="43210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DE233D5-7BB6-4024-9733-C5F30F070B95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元件三：</a:t>
            </a: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Contrastive Loss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457200" y="1481400"/>
            <a:ext cx="8229240" cy="4644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340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1700" spc="-1" strike="noStrike">
                <a:solidFill>
                  <a:srgbClr val="000000"/>
                </a:solidFill>
                <a:latin typeface="Times New Roman"/>
                <a:ea typeface="標楷體"/>
              </a:rPr>
              <a:t>論文的對比損失（</a:t>
            </a:r>
            <a:r>
              <a:rPr b="0" lang="en-US" sz="1700" spc="-1" strike="noStrike">
                <a:solidFill>
                  <a:srgbClr val="000000"/>
                </a:solidFill>
                <a:latin typeface="Times New Roman"/>
                <a:ea typeface="標楷體"/>
              </a:rPr>
              <a:t>S5</a:t>
            </a:r>
            <a:r>
              <a:rPr b="0" lang="zh-TW" sz="1700" spc="-1" strike="noStrike">
                <a:solidFill>
                  <a:srgbClr val="000000"/>
                </a:solidFill>
                <a:latin typeface="Times New Roman"/>
                <a:ea typeface="標楷體"/>
              </a:rPr>
              <a:t>）是標準的 </a:t>
            </a:r>
            <a:r>
              <a:rPr b="0" lang="en-US" sz="1700" spc="-1" strike="noStrike">
                <a:solidFill>
                  <a:srgbClr val="000000"/>
                </a:solidFill>
                <a:latin typeface="Times New Roman"/>
                <a:ea typeface="標楷體"/>
              </a:rPr>
              <a:t>Supervised Contrastive Loss</a:t>
            </a:r>
            <a:r>
              <a:rPr b="0" lang="zh-TW" sz="1700" spc="-1" strike="noStrike">
                <a:solidFill>
                  <a:srgbClr val="000000"/>
                </a:solidFill>
                <a:latin typeface="Times New Roman"/>
                <a:ea typeface="標楷體"/>
              </a:rPr>
              <a:t>，同一種氣體的原始特徵和生成特徵在單位球上互相拉近：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  <a:p>
            <a:pPr lvl="1" marL="743040" indent="-285840">
              <a:lnSpc>
                <a:spcPct val="100000"/>
              </a:lnSpc>
              <a:spcBef>
                <a:spcPts val="3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標楷體"/>
              </a:rPr>
              <a:t>L_con = − Σᵢ (1/|P(i)|) Σ_{p∈P(i)} log [ exp(f(zᵢ)·f(zₚ)/τ) / Σ_{a∈A(i)} exp(f(zᵢ)·f(zₐ)/τ) ]</a:t>
            </a:r>
            <a:endParaRPr b="0" lang="en-US" sz="15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00000"/>
              </a:lnSpc>
              <a:spcBef>
                <a:spcPts val="340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1700" spc="-1" strike="noStrike">
                <a:solidFill>
                  <a:srgbClr val="000000"/>
                </a:solidFill>
                <a:latin typeface="Times New Roman"/>
                <a:ea typeface="標楷體"/>
              </a:rPr>
              <a:t>結果：論文版（τ=0.07）−0.0138，可分辨地更差；τ=0.5 時損失幾乎不作用，−0.0014。它把 Batch 1 同類的點拉緊，但生成特徵沒有離開 Batch 1，真實老化沒被壓，特徵上的相對漂移反而放大一半。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TextBox 3"/>
          <p:cNvSpPr/>
          <p:nvPr/>
        </p:nvSpPr>
        <p:spPr>
          <a:xfrm>
            <a:off x="1325880" y="1115640"/>
            <a:ext cx="7360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它把原始特徵和生成特徵拉近；但生成特徵本來就在 Batch 1 裡，拉近它換來的是對老化更敏感。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E471162-A7B6-4ACF-8353-D587956AEBA3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延伸：把老化方向從輸入裡扣掉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TextBox 3"/>
          <p:cNvSpPr/>
          <p:nvPr/>
        </p:nvSpPr>
        <p:spPr>
          <a:xfrm>
            <a:off x="1325880" y="1115640"/>
            <a:ext cx="7360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老化主要沿一條方向，</a:t>
            </a:r>
            <a:r>
              <a:rPr b="1" lang="en-US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Batch 1 </a:t>
            </a: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自己量得到，就不讓模型看那條方向。</a:t>
            </a:r>
            <a:r>
              <a:rPr b="1" lang="en-US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Target mean +0.0128</a:t>
            </a: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。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189" name="Table 5"/>
          <p:cNvGraphicFramePr/>
          <p:nvPr/>
        </p:nvGraphicFramePr>
        <p:xfrm>
          <a:off x="457200" y="1616040"/>
          <a:ext cx="4023000" cy="932400"/>
        </p:xfrm>
        <a:graphic>
          <a:graphicData uri="http://schemas.openxmlformats.org/drawingml/2006/table">
            <a:tbl>
              <a:tblPr/>
              <a:tblGrid>
                <a:gridCol w="1367640"/>
                <a:gridCol w="884880"/>
                <a:gridCol w="884880"/>
                <a:gridCol w="885600"/>
              </a:tblGrid>
              <a:tr h="310680">
                <a:tc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Batch 1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zh-TW" sz="12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幾個月後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zh-TW" sz="12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只留 </a:t>
                      </a:r>
                      <a:r>
                        <a:rPr b="1" lang="en-US" sz="12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y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</a:tr>
              <a:tr h="31068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Ethanol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(5, 2)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(9, 2)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2 → 2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04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Acetaldehyde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(1, 3)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(5, 3)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3 → 3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0" name="TextBox 6"/>
          <p:cNvSpPr/>
          <p:nvPr/>
        </p:nvSpPr>
        <p:spPr>
          <a:xfrm>
            <a:off x="4751280" y="1589760"/>
            <a:ext cx="4023000" cy="87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幾個月後的 </a:t>
            </a:r>
            <a:r>
              <a:rPr b="0" lang="en-US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Acetaldehyde </a:t>
            </a: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落在 </a:t>
            </a:r>
            <a:r>
              <a:rPr b="0" lang="en-US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(5, 3)</a:t>
            </a: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，離 </a:t>
            </a:r>
            <a:r>
              <a:rPr b="0" lang="en-US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Batch 1 </a:t>
            </a: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的 </a:t>
            </a:r>
            <a:r>
              <a:rPr b="0" lang="en-US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Ethanol (5, 2) </a:t>
            </a: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最近，被判成 </a:t>
            </a:r>
            <a:r>
              <a:rPr b="0" lang="en-US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Ethanol</a:t>
            </a: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。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把 </a:t>
            </a:r>
            <a:r>
              <a:rPr b="0" lang="en-US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x </a:t>
            </a: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扔掉只看 </a:t>
            </a:r>
            <a:r>
              <a:rPr b="0" lang="en-US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y</a:t>
            </a: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，兩種氣體不管過多久都在原地。真實資料是 </a:t>
            </a:r>
            <a:r>
              <a:rPr b="0" lang="en-US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128 </a:t>
            </a: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維，做法一樣。</a:t>
            </a:r>
            <a:endParaRPr b="0" lang="en-US" sz="1300" spc="-1" strike="noStrike">
              <a:latin typeface="Arial"/>
            </a:endParaRPr>
          </a:p>
        </p:txBody>
      </p:sp>
      <p:graphicFrame>
        <p:nvGraphicFramePr>
          <p:cNvPr id="191" name="Table 7"/>
          <p:cNvGraphicFramePr/>
          <p:nvPr/>
        </p:nvGraphicFramePr>
        <p:xfrm>
          <a:off x="457200" y="3179520"/>
          <a:ext cx="3847320" cy="1919880"/>
        </p:xfrm>
        <a:graphic>
          <a:graphicData uri="http://schemas.openxmlformats.org/drawingml/2006/table">
            <a:tbl>
              <a:tblPr/>
              <a:tblGrid>
                <a:gridCol w="2289960"/>
                <a:gridCol w="824400"/>
                <a:gridCol w="732960"/>
              </a:tblGrid>
              <a:tr h="383760">
                <a:tc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target mean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zh-TW" sz="11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相較</a:t>
                      </a:r>
                      <a:r>
                        <a:rPr b="1" lang="en-US" sz="11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baseline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</a:tr>
              <a:tr h="38376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baseline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0.5556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—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1" lang="zh-TW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三種氣體兩次量測的共同方向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0.5684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+0.0128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376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三個方向張成的空間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0.5610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+0.0055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84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只用 </a:t>
                      </a:r>
                      <a:r>
                        <a:rPr b="0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Ethanol </a:t>
                      </a:r>
                      <a:r>
                        <a:rPr b="0" lang="zh-TW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的方向（看過測試資料才知道選它）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0.5747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+0.0191</a:t>
                      </a:r>
                      <a:endParaRPr b="0" lang="en-US" sz="11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2" name="TextBox 8"/>
          <p:cNvSpPr/>
          <p:nvPr/>
        </p:nvSpPr>
        <p:spPr>
          <a:xfrm>
            <a:off x="4751280" y="3327120"/>
            <a:ext cx="3847320" cy="4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 marL="285840" indent="-285840">
              <a:lnSpc>
                <a:spcPct val="100000"/>
              </a:lnSpc>
              <a:spcAft>
                <a:spcPts val="400"/>
              </a:spcAft>
              <a:buClr>
                <a:srgbClr val="1a1a1a"/>
              </a:buClr>
              <a:buFont typeface="Arial"/>
              <a:buChar char="•"/>
            </a:pPr>
            <a:r>
              <a:rPr b="0" lang="en-US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Batch 1 </a:t>
            </a: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量到的方向主要是濃度差異而非漂移</a:t>
            </a:r>
            <a:endParaRPr b="0" lang="en-US" sz="1300" spc="-1" strike="noStrike">
              <a:latin typeface="Arial"/>
            </a:endParaRPr>
          </a:p>
          <a:p>
            <a:pPr marL="285840" indent="-285840">
              <a:lnSpc>
                <a:spcPct val="100000"/>
              </a:lnSpc>
              <a:spcAft>
                <a:spcPts val="400"/>
              </a:spcAft>
              <a:buClr>
                <a:srgbClr val="1a1a1a"/>
              </a:buClr>
              <a:buFont typeface="Arial"/>
              <a:buChar char="•"/>
            </a:pPr>
            <a:r>
              <a:rPr b="0" lang="zh-TW" sz="1300" spc="-1" strike="noStrike">
                <a:solidFill>
                  <a:srgbClr val="1a1a1a"/>
                </a:solidFill>
                <a:latin typeface="Times New Roman"/>
                <a:ea typeface="標楷體"/>
              </a:rPr>
              <a:t>扣掉夠多老化就會連氣體差異一起扣掉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094D28E-D0BB-4C5D-8AF8-7494364F09B8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000"/>
          </a:bodyPr>
          <a:p>
            <a:pPr algn="ctr">
              <a:lnSpc>
                <a:spcPct val="100000"/>
              </a:lnSpc>
              <a:buNone/>
            </a:pPr>
            <a:r>
              <a:rPr b="0" lang="zh-TW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實驗結果總表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94" name="Table 4"/>
          <p:cNvGraphicFramePr/>
          <p:nvPr/>
        </p:nvGraphicFramePr>
        <p:xfrm>
          <a:off x="360360" y="1730520"/>
          <a:ext cx="8018280" cy="2742840"/>
        </p:xfrm>
        <a:graphic>
          <a:graphicData uri="http://schemas.openxmlformats.org/drawingml/2006/table">
            <a:tbl>
              <a:tblPr/>
              <a:tblGrid>
                <a:gridCol w="3803400"/>
                <a:gridCol w="1726560"/>
                <a:gridCol w="2488320"/>
              </a:tblGrid>
              <a:tr h="4572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16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元件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zh-TW" sz="16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實驗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zh-TW" sz="160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論文宣稱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Data augmentation(Gaussian noise as paper)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−</a:t>
                      </a: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0.0216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+0.036</a:t>
                      </a:r>
                      <a:r>
                        <a:rPr b="0" lang="zh-TW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（含特徵生成）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Data augmentation(target-informed</a:t>
                      </a:r>
                      <a:r>
                        <a:rPr b="0" lang="zh-TW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）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+0.0214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—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特徵生成 </a:t>
                      </a: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 L</a:t>
                      </a:r>
                      <a:r>
                        <a:rPr b="0" lang="en-US" sz="1600" spc="-1" strike="noStrike" baseline="-25000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MSE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+0.0004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zh-TW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（含在上列）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對比損失 </a:t>
                      </a: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L</a:t>
                      </a:r>
                      <a:r>
                        <a:rPr b="0" lang="en-US" sz="1600" spc="-1" strike="noStrike" baseline="-25000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con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−0.0138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+0.053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延伸：扣掉老化方向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+0.0128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160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—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AB83ACA-4653-4042-89FB-74EA5E11E71E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文獻對照：</a:t>
            </a: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同分</a:t>
            </a:r>
            <a:r>
              <a:rPr b="0" lang="en-US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UCI dataset</a:t>
            </a:r>
            <a:r>
              <a:rPr b="0" lang="zh-TW" sz="2800" spc="-1" strike="noStrike">
                <a:solidFill>
                  <a:srgbClr val="000000"/>
                </a:solidFill>
                <a:latin typeface="Times New Roman"/>
                <a:ea typeface="標楷體"/>
              </a:rPr>
              <a:t>的其他論文</a:t>
            </a:r>
            <a:endParaRPr b="0" lang="en-US" sz="2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TextBox 3"/>
          <p:cNvSpPr/>
          <p:nvPr/>
        </p:nvSpPr>
        <p:spPr>
          <a:xfrm>
            <a:off x="1325880" y="1115640"/>
            <a:ext cx="7360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同一設定（</a:t>
            </a:r>
            <a:r>
              <a:rPr b="1" lang="en-US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Batch 1 </a:t>
            </a: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訓練、</a:t>
            </a:r>
            <a:r>
              <a:rPr b="1" lang="en-US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Batch 2–10 </a:t>
            </a:r>
            <a:r>
              <a:rPr b="1" lang="zh-TW" sz="1200" spc="-1" strike="noStrike">
                <a:solidFill>
                  <a:srgbClr val="1f497d"/>
                </a:solidFill>
                <a:latin typeface="Times New Roman"/>
                <a:ea typeface="標楷體"/>
              </a:rPr>
              <a:t>測試）下各方法的架構，以及用了多少、用什麼方式的測試批次資料。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197" name="Table 4"/>
          <p:cNvGraphicFramePr/>
          <p:nvPr/>
        </p:nvGraphicFramePr>
        <p:xfrm>
          <a:off x="457200" y="1481400"/>
          <a:ext cx="8229240" cy="4169160"/>
        </p:xfrm>
        <a:graphic>
          <a:graphicData uri="http://schemas.openxmlformats.org/drawingml/2006/table">
            <a:tbl>
              <a:tblPr/>
              <a:tblGrid>
                <a:gridCol w="1645920"/>
                <a:gridCol w="2139480"/>
                <a:gridCol w="1234440"/>
                <a:gridCol w="2304000"/>
                <a:gridCol w="905400"/>
              </a:tblGrid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5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文獻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5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主要架構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source </a:t>
                      </a:r>
                      <a:r>
                        <a:rPr b="1" lang="zh-TW" sz="95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怎麼用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target </a:t>
                      </a:r>
                      <a:r>
                        <a:rPr b="1" lang="zh-TW" sz="95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怎麼用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zh-TW" sz="95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平均 </a:t>
                      </a:r>
                      <a:r>
                        <a:rPr b="1" lang="en-US" sz="950" spc="-1" strike="noStrike">
                          <a:solidFill>
                            <a:srgbClr val="1f497d"/>
                          </a:solidFill>
                          <a:latin typeface="Times New Roman"/>
                          <a:ea typeface="標楷體"/>
                        </a:rPr>
                        <a:t>(%)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ce6f1"/>
                    </a:solidFill>
                  </a:tcPr>
                </a:tc>
              </a:tr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Vergara 2012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（資料集原論文）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SVM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，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RBF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核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全部有標籤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不用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38.9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Vergara 2012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SVM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，測地流核（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GFK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）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每個測試批次的無標籤樣本，用來建核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64.0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Vergara 2012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流形正則化（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ML-comgfk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）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無標籤樣本，半監督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67.3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Yi 2019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表內的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OSC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正交訊號校正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分類器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不用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56.5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Zhang 2015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（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DAELM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）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極限學習機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域適應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每個測試批次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20–50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筆有標籤校正樣本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80.8–91.9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Zhang 2017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（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DRCA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）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線性子空間投影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分類器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無標籤樣本，對齊兩域平均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62.2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Yi 2019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（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D-DRCA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）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同上，加入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source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標籤的判別項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無標籤樣本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73.8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AMDS-PFFA 2024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CNN +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注意力，多源域適應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與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2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無標籤樣本，對齊特徵分布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83.2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（加權）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KD 2025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全連接網路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知識蒸餾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每批一半無標籤，做偽標籤與調參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47.9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CDCNN 2024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（本篇）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一維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ResNet +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擴充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特徵生成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+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對比損失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宣稱不用；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Fig. 5 </a:t>
                      </a:r>
                      <a:r>
                        <a:rPr b="0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用了 </a:t>
                      </a: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2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0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63.5 / 72.3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760"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我們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一維 </a:t>
                      </a:r>
                      <a:r>
                        <a:rPr b="1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ResNet</a:t>
                      </a:r>
                      <a:r>
                        <a:rPr b="1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，照 </a:t>
                      </a:r>
                      <a:r>
                        <a:rPr b="1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Fig. 2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Batch 1 </a:t>
                      </a:r>
                      <a:r>
                        <a:rPr b="1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有標籤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zh-TW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不用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54720" rIns="54720" tIns="18000" bIns="18000"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b="1" lang="en-US" sz="950" spc="-1" strike="noStrike">
                          <a:solidFill>
                            <a:srgbClr val="1a1a1a"/>
                          </a:solidFill>
                          <a:latin typeface="Times New Roman"/>
                          <a:ea typeface="標楷體"/>
                        </a:rPr>
                        <a:t>55.6</a:t>
                      </a:r>
                      <a:endParaRPr b="0" lang="en-US" sz="950" spc="-1" strike="noStrike">
                        <a:latin typeface="Arial"/>
                      </a:endParaRPr>
                    </a:p>
                  </a:txBody>
                  <a:tcPr anchor="ctr" marL="54720" marR="547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98" name="TextBox 5"/>
          <p:cNvSpPr/>
          <p:nvPr/>
        </p:nvSpPr>
        <p:spPr>
          <a:xfrm>
            <a:off x="457200" y="5733360"/>
            <a:ext cx="822924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rIns="27360" tIns="18360" bIns="18360" anchor="t">
            <a:spAutoFit/>
          </a:bodyPr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b="1" lang="zh-TW" sz="1600" spc="-1" strike="noStrike">
                <a:solidFill>
                  <a:srgbClr val="1a1a1a"/>
                </a:solidFill>
                <a:latin typeface="Times New Roman"/>
                <a:ea typeface="標楷體"/>
              </a:rPr>
              <a:t>不用測試批次資料的只有三則，</a:t>
            </a:r>
            <a:r>
              <a:rPr b="1" lang="en-US" sz="1600" spc="-1" strike="noStrike">
                <a:solidFill>
                  <a:srgbClr val="1a1a1a"/>
                </a:solidFill>
                <a:latin typeface="Times New Roman"/>
                <a:ea typeface="標楷體"/>
              </a:rPr>
              <a:t>target mean</a:t>
            </a:r>
            <a:r>
              <a:rPr b="1" lang="zh-TW" sz="1600" spc="-1" strike="noStrike">
                <a:solidFill>
                  <a:srgbClr val="1a1a1a"/>
                </a:solidFill>
                <a:latin typeface="Times New Roman"/>
                <a:ea typeface="標楷體"/>
              </a:rPr>
              <a:t>都在 </a:t>
            </a:r>
            <a:r>
              <a:rPr b="1" lang="en-US" sz="1600" spc="-1" strike="noStrike">
                <a:solidFill>
                  <a:srgbClr val="1a1a1a"/>
                </a:solidFill>
                <a:latin typeface="Times New Roman"/>
                <a:ea typeface="標楷體"/>
              </a:rPr>
              <a:t>60% </a:t>
            </a:r>
            <a:r>
              <a:rPr b="1" lang="zh-TW" sz="1600" spc="-1" strike="noStrike">
                <a:solidFill>
                  <a:srgbClr val="1a1a1a"/>
                </a:solidFill>
                <a:latin typeface="Times New Roman"/>
                <a:ea typeface="標楷體"/>
              </a:rPr>
              <a:t>以下。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05F0257-1A5C-412C-8D9E-549115B98326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403640" y="116640"/>
            <a:ext cx="7282800" cy="719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000"/>
          </a:bodyPr>
          <a:p>
            <a:pPr algn="ctr">
              <a:lnSpc>
                <a:spcPct val="100000"/>
              </a:lnSpc>
              <a:buNone/>
            </a:pPr>
            <a:r>
              <a:rPr b="0" lang="zh-TW" sz="4400" spc="-1" strike="noStrike">
                <a:solidFill>
                  <a:srgbClr val="000000"/>
                </a:solidFill>
                <a:latin typeface="Times New Roman"/>
                <a:ea typeface="標楷體"/>
              </a:rPr>
              <a:t>結論</a:t>
            </a:r>
            <a:endParaRPr b="0" lang="en-US" sz="4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457200" y="1481400"/>
            <a:ext cx="8229240" cy="46447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只用 </a:t>
            </a: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Batch 1 </a:t>
            </a: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的規則下，照論文重建的網路得到 </a:t>
            </a: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0.5556</a:t>
            </a: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；</a:t>
            </a: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逐次加入三個元件，資料擴充變差、特徵生成等於零、對比損失的前提已失效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不看測試資料的模型是現實中比較需要的，但這份資料集上的文獻 </a:t>
            </a: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target mean</a:t>
            </a: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都未超過 </a:t>
            </a: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60%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文獻的優化主流是讓 </a:t>
            </a: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target domain </a:t>
            </a:r>
            <a:r>
              <a:rPr b="0" lang="zh-TW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的無標籤資料參與 </a:t>
            </a: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標楷體"/>
              </a:rPr>
              <a:t>alignment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B0B0AAD-9922-4324-ACA7-FBD5F855B601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71871</TotalTime>
  <Application>LibreOffice/7.3.7.2$Linux_X86_64 LibreOffice_project/30$Build-2</Application>
  <AppVersion>15.0000</AppVersion>
  <Words>1233</Words>
  <Paragraphs>224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2022-06-23T07:26:37Z</dcterms:created>
  <dc:creator>邦均 劉</dc:creator>
  <dc:description/>
  <dc:language>en-US</dc:language>
  <cp:lastModifiedBy/>
  <cp:lastPrinted>2026-09-29T05:22:58Z</cp:lastPrinted>
  <dcterms:modified xsi:type="dcterms:W3CDTF">2026-10-06T11:06:56Z</dcterms:modified>
  <cp:revision>2153</cp:revision>
  <dc:subject/>
  <dc:title>PowerPoint 簡報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On-screen Show (4:3)</vt:lpwstr>
  </property>
  <property fmtid="{D5CDD505-2E9C-101B-9397-08002B2CF9AE}" pid="4" name="Slides">
    <vt:i4>21</vt:i4>
  </property>
</Properties>
</file>