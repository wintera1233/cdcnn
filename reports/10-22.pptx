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72" r:id="rId1"/>
  </p:sldMasterIdLst>
  <p:notesMasterIdLst>
    <p:notesMasterId r:id="rId23"/>
  </p:notesMasterIdLst>
  <p:sldIdLst>
    <p:sldId id="315" r:id="rId2"/>
    <p:sldId id="327" r:id="rId3"/>
    <p:sldId id="316" r:id="rId4"/>
    <p:sldId id="318" r:id="rId5"/>
    <p:sldId id="319" r:id="rId6"/>
    <p:sldId id="320" r:id="rId7"/>
    <p:sldId id="321" r:id="rId8"/>
    <p:sldId id="322" r:id="rId9"/>
    <p:sldId id="326" r:id="rId10"/>
    <p:sldId id="323" r:id="rId11"/>
    <p:sldId id="324" r:id="rId12"/>
    <p:sldId id="328" r:id="rId13"/>
    <p:sldId id="329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F589BC7-C77D-4DC2-9EB4-8320D16199E8}">
          <p14:sldIdLst>
            <p14:sldId id="315"/>
            <p14:sldId id="327"/>
            <p14:sldId id="316"/>
            <p14:sldId id="318"/>
            <p14:sldId id="319"/>
            <p14:sldId id="320"/>
            <p14:sldId id="321"/>
            <p14:sldId id="322"/>
            <p14:sldId id="326"/>
            <p14:sldId id="323"/>
            <p14:sldId id="324"/>
            <p14:sldId id="328"/>
            <p14:sldId id="329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e10001@gmail.com" initials="w" lastIdx="1" clrIdx="0">
    <p:extLst>
      <p:ext uri="{19B8F6BF-5375-455C-9EA6-DF929625EA0E}">
        <p15:presenceInfo xmlns:p15="http://schemas.microsoft.com/office/powerpoint/2012/main" userId="352a12620070698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D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79974" autoAdjust="0"/>
  </p:normalViewPr>
  <p:slideViewPr>
    <p:cSldViewPr snapToGrid="0">
      <p:cViewPr varScale="1">
        <p:scale>
          <a:sx n="109" d="100"/>
          <a:sy n="109" d="100"/>
        </p:scale>
        <p:origin x="1458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vonne Chen" userId="cdf6c2fa8f1ea833" providerId="LiveId" clId="{DCA5A71D-B571-4584-930E-95E8AD7C3DB8}"/>
    <pc:docChg chg="undo redo custSel addSld delSld modSld modSection">
      <pc:chgData name="Yvonne Chen" userId="cdf6c2fa8f1ea833" providerId="LiveId" clId="{DCA5A71D-B571-4584-930E-95E8AD7C3DB8}" dt="2026-09-29T06:08:20.735" v="4307" actId="20577"/>
      <pc:docMkLst>
        <pc:docMk/>
      </pc:docMkLst>
      <pc:sldChg chg="modSp mod">
        <pc:chgData name="Yvonne Chen" userId="cdf6c2fa8f1ea833" providerId="LiveId" clId="{DCA5A71D-B571-4584-930E-95E8AD7C3DB8}" dt="2026-09-22T04:21:24.364" v="1" actId="1076"/>
        <pc:sldMkLst>
          <pc:docMk/>
          <pc:sldMk cId="2152298854" sldId="315"/>
        </pc:sldMkLst>
        <pc:spChg chg="mod">
          <ac:chgData name="Yvonne Chen" userId="cdf6c2fa8f1ea833" providerId="LiveId" clId="{DCA5A71D-B571-4584-930E-95E8AD7C3DB8}" dt="2026-09-22T04:21:24.364" v="1" actId="1076"/>
          <ac:spMkLst>
            <pc:docMk/>
            <pc:sldMk cId="2152298854" sldId="315"/>
            <ac:spMk id="2" creationId="{F1A621B8-F77A-44B9-8DA7-492E3A86D86F}"/>
          </ac:spMkLst>
        </pc:spChg>
      </pc:sldChg>
      <pc:sldChg chg="modSp mod">
        <pc:chgData name="Yvonne Chen" userId="cdf6c2fa8f1ea833" providerId="LiveId" clId="{DCA5A71D-B571-4584-930E-95E8AD7C3DB8}" dt="2026-09-29T05:51:38.243" v="4181" actId="20577"/>
        <pc:sldMkLst>
          <pc:docMk/>
          <pc:sldMk cId="1345758893" sldId="316"/>
        </pc:sldMkLst>
        <pc:spChg chg="mod">
          <ac:chgData name="Yvonne Chen" userId="cdf6c2fa8f1ea833" providerId="LiveId" clId="{DCA5A71D-B571-4584-930E-95E8AD7C3DB8}" dt="2026-09-29T05:51:38.243" v="4181" actId="20577"/>
          <ac:spMkLst>
            <pc:docMk/>
            <pc:sldMk cId="1345758893" sldId="316"/>
            <ac:spMk id="4" creationId="{B6CA089B-1845-4CC1-8FAE-918254220BCC}"/>
          </ac:spMkLst>
        </pc:spChg>
      </pc:sldChg>
      <pc:sldChg chg="modSp mod">
        <pc:chgData name="Yvonne Chen" userId="cdf6c2fa8f1ea833" providerId="LiveId" clId="{DCA5A71D-B571-4584-930E-95E8AD7C3DB8}" dt="2026-09-29T05:17:27.506" v="1484" actId="20577"/>
        <pc:sldMkLst>
          <pc:docMk/>
          <pc:sldMk cId="2973553008" sldId="320"/>
        </pc:sldMkLst>
        <pc:spChg chg="mod">
          <ac:chgData name="Yvonne Chen" userId="cdf6c2fa8f1ea833" providerId="LiveId" clId="{DCA5A71D-B571-4584-930E-95E8AD7C3DB8}" dt="2026-09-29T05:17:27.506" v="1484" actId="20577"/>
          <ac:spMkLst>
            <pc:docMk/>
            <pc:sldMk cId="2973553008" sldId="320"/>
            <ac:spMk id="5" creationId="{8EEE2174-501C-4F1E-967D-B2207CDC2B30}"/>
          </ac:spMkLst>
        </pc:spChg>
        <pc:picChg chg="mod">
          <ac:chgData name="Yvonne Chen" userId="cdf6c2fa8f1ea833" providerId="LiveId" clId="{DCA5A71D-B571-4584-930E-95E8AD7C3DB8}" dt="2026-09-29T05:13:12.437" v="1200" actId="1076"/>
          <ac:picMkLst>
            <pc:docMk/>
            <pc:sldMk cId="2973553008" sldId="320"/>
            <ac:picMk id="10" creationId="{504DC2FC-0FEB-4D5A-8A68-7D4A288409C5}"/>
          </ac:picMkLst>
        </pc:picChg>
      </pc:sldChg>
      <pc:sldChg chg="modSp mod">
        <pc:chgData name="Yvonne Chen" userId="cdf6c2fa8f1ea833" providerId="LiveId" clId="{DCA5A71D-B571-4584-930E-95E8AD7C3DB8}" dt="2026-09-29T06:08:20.735" v="4307" actId="20577"/>
        <pc:sldMkLst>
          <pc:docMk/>
          <pc:sldMk cId="2516555416" sldId="321"/>
        </pc:sldMkLst>
        <pc:spChg chg="mod">
          <ac:chgData name="Yvonne Chen" userId="cdf6c2fa8f1ea833" providerId="LiveId" clId="{DCA5A71D-B571-4584-930E-95E8AD7C3DB8}" dt="2026-09-29T06:08:20.735" v="4307" actId="20577"/>
          <ac:spMkLst>
            <pc:docMk/>
            <pc:sldMk cId="2516555416" sldId="321"/>
            <ac:spMk id="7" creationId="{5DA208A1-8E70-44E6-BC82-8F7FE9095FC0}"/>
          </ac:spMkLst>
        </pc:spChg>
      </pc:sldChg>
      <pc:sldChg chg="modSp mod">
        <pc:chgData name="Yvonne Chen" userId="cdf6c2fa8f1ea833" providerId="LiveId" clId="{DCA5A71D-B571-4584-930E-95E8AD7C3DB8}" dt="2026-09-29T05:54:14.300" v="4298" actId="20577"/>
        <pc:sldMkLst>
          <pc:docMk/>
          <pc:sldMk cId="3394191139" sldId="325"/>
        </pc:sldMkLst>
        <pc:spChg chg="mod">
          <ac:chgData name="Yvonne Chen" userId="cdf6c2fa8f1ea833" providerId="LiveId" clId="{DCA5A71D-B571-4584-930E-95E8AD7C3DB8}" dt="2026-09-29T05:54:14.300" v="4298" actId="20577"/>
          <ac:spMkLst>
            <pc:docMk/>
            <pc:sldMk cId="3394191139" sldId="325"/>
            <ac:spMk id="4" creationId="{F5B4CD51-7521-4B7C-90C3-1067D8DC9959}"/>
          </ac:spMkLst>
        </pc:spChg>
      </pc:sldChg>
      <pc:sldChg chg="addSp delSp modSp new mod">
        <pc:chgData name="Yvonne Chen" userId="cdf6c2fa8f1ea833" providerId="LiveId" clId="{DCA5A71D-B571-4584-930E-95E8AD7C3DB8}" dt="2026-09-22T04:34:35.356" v="1067" actId="1076"/>
        <pc:sldMkLst>
          <pc:docMk/>
          <pc:sldMk cId="1934456855" sldId="326"/>
        </pc:sldMkLst>
        <pc:spChg chg="mod">
          <ac:chgData name="Yvonne Chen" userId="cdf6c2fa8f1ea833" providerId="LiveId" clId="{DCA5A71D-B571-4584-930E-95E8AD7C3DB8}" dt="2026-09-22T04:31:32.158" v="746" actId="404"/>
          <ac:spMkLst>
            <pc:docMk/>
            <pc:sldMk cId="1934456855" sldId="326"/>
            <ac:spMk id="2" creationId="{61D9E4CA-8B45-498E-9B3C-0CD5989AAFE2}"/>
          </ac:spMkLst>
        </pc:spChg>
        <pc:spChg chg="del">
          <ac:chgData name="Yvonne Chen" userId="cdf6c2fa8f1ea833" providerId="LiveId" clId="{DCA5A71D-B571-4584-930E-95E8AD7C3DB8}" dt="2026-09-22T04:30:57.137" v="734" actId="22"/>
          <ac:spMkLst>
            <pc:docMk/>
            <pc:sldMk cId="1934456855" sldId="326"/>
            <ac:spMk id="4" creationId="{06A2D2A4-1A7A-4C03-8A72-27884D812991}"/>
          </ac:spMkLst>
        </pc:spChg>
        <pc:spChg chg="add mod">
          <ac:chgData name="Yvonne Chen" userId="cdf6c2fa8f1ea833" providerId="LiveId" clId="{DCA5A71D-B571-4584-930E-95E8AD7C3DB8}" dt="2026-09-22T04:34:23.601" v="1063" actId="404"/>
          <ac:spMkLst>
            <pc:docMk/>
            <pc:sldMk cId="1934456855" sldId="326"/>
            <ac:spMk id="7" creationId="{A3A94744-DCE6-4EAC-B9B1-E141DB080B15}"/>
          </ac:spMkLst>
        </pc:spChg>
        <pc:picChg chg="add mod ord">
          <ac:chgData name="Yvonne Chen" userId="cdf6c2fa8f1ea833" providerId="LiveId" clId="{DCA5A71D-B571-4584-930E-95E8AD7C3DB8}" dt="2026-09-22T04:34:35.356" v="1067" actId="1076"/>
          <ac:picMkLst>
            <pc:docMk/>
            <pc:sldMk cId="1934456855" sldId="326"/>
            <ac:picMk id="6" creationId="{B09DFA15-DA68-44DE-9B5B-EF2ACD0B6B69}"/>
          </ac:picMkLst>
        </pc:picChg>
      </pc:sldChg>
      <pc:sldChg chg="modSp new del mod">
        <pc:chgData name="Yvonne Chen" userId="cdf6c2fa8f1ea833" providerId="LiveId" clId="{DCA5A71D-B571-4584-930E-95E8AD7C3DB8}" dt="2026-09-29T05:17:58.753" v="1499" actId="47"/>
        <pc:sldMkLst>
          <pc:docMk/>
          <pc:sldMk cId="2274906692" sldId="327"/>
        </pc:sldMkLst>
        <pc:spChg chg="mod">
          <ac:chgData name="Yvonne Chen" userId="cdf6c2fa8f1ea833" providerId="LiveId" clId="{DCA5A71D-B571-4584-930E-95E8AD7C3DB8}" dt="2026-09-29T05:17:57.418" v="1498" actId="20577"/>
          <ac:spMkLst>
            <pc:docMk/>
            <pc:sldMk cId="2274906692" sldId="327"/>
            <ac:spMk id="2" creationId="{AB810759-E629-4972-A0E5-0925FA777B3B}"/>
          </ac:spMkLst>
        </pc:spChg>
      </pc:sldChg>
      <pc:sldChg chg="modSp new add del mod">
        <pc:chgData name="Yvonne Chen" userId="cdf6c2fa8f1ea833" providerId="LiveId" clId="{DCA5A71D-B571-4584-930E-95E8AD7C3DB8}" dt="2026-09-29T05:19:42.383" v="1657" actId="2710"/>
        <pc:sldMkLst>
          <pc:docMk/>
          <pc:sldMk cId="3349366117" sldId="327"/>
        </pc:sldMkLst>
        <pc:spChg chg="mod">
          <ac:chgData name="Yvonne Chen" userId="cdf6c2fa8f1ea833" providerId="LiveId" clId="{DCA5A71D-B571-4584-930E-95E8AD7C3DB8}" dt="2026-09-29T05:18:06.263" v="1509" actId="20577"/>
          <ac:spMkLst>
            <pc:docMk/>
            <pc:sldMk cId="3349366117" sldId="327"/>
            <ac:spMk id="2" creationId="{865F6C4D-2825-4488-9FE5-55624C269E7B}"/>
          </ac:spMkLst>
        </pc:spChg>
        <pc:spChg chg="mod">
          <ac:chgData name="Yvonne Chen" userId="cdf6c2fa8f1ea833" providerId="LiveId" clId="{DCA5A71D-B571-4584-930E-95E8AD7C3DB8}" dt="2026-09-29T05:19:42.383" v="1657" actId="2710"/>
          <ac:spMkLst>
            <pc:docMk/>
            <pc:sldMk cId="3349366117" sldId="327"/>
            <ac:spMk id="3" creationId="{4A2E76B6-15C8-4355-A951-01577F8B66DD}"/>
          </ac:spMkLst>
        </pc:spChg>
      </pc:sldChg>
      <pc:sldChg chg="addSp delSp modSp new mod">
        <pc:chgData name="Yvonne Chen" userId="cdf6c2fa8f1ea833" providerId="LiveId" clId="{DCA5A71D-B571-4584-930E-95E8AD7C3DB8}" dt="2026-09-29T05:30:03.354" v="2672" actId="20577"/>
        <pc:sldMkLst>
          <pc:docMk/>
          <pc:sldMk cId="1256603778" sldId="328"/>
        </pc:sldMkLst>
        <pc:spChg chg="mod">
          <ac:chgData name="Yvonne Chen" userId="cdf6c2fa8f1ea833" providerId="LiveId" clId="{DCA5A71D-B571-4584-930E-95E8AD7C3DB8}" dt="2026-09-29T05:20:08.542" v="1684" actId="20577"/>
          <ac:spMkLst>
            <pc:docMk/>
            <pc:sldMk cId="1256603778" sldId="328"/>
            <ac:spMk id="2" creationId="{68C52178-C8AC-4F2F-A49C-36C89AB02C32}"/>
          </ac:spMkLst>
        </pc:spChg>
        <pc:spChg chg="mod">
          <ac:chgData name="Yvonne Chen" userId="cdf6c2fa8f1ea833" providerId="LiveId" clId="{DCA5A71D-B571-4584-930E-95E8AD7C3DB8}" dt="2026-09-29T05:30:03.354" v="2672" actId="20577"/>
          <ac:spMkLst>
            <pc:docMk/>
            <pc:sldMk cId="1256603778" sldId="328"/>
            <ac:spMk id="4" creationId="{55B95B45-32FB-480C-980F-702D2E9CF16F}"/>
          </ac:spMkLst>
        </pc:spChg>
        <pc:spChg chg="add del">
          <ac:chgData name="Yvonne Chen" userId="cdf6c2fa8f1ea833" providerId="LiveId" clId="{DCA5A71D-B571-4584-930E-95E8AD7C3DB8}" dt="2026-09-29T05:26:58.171" v="2249"/>
          <ac:spMkLst>
            <pc:docMk/>
            <pc:sldMk cId="1256603778" sldId="328"/>
            <ac:spMk id="6" creationId="{AFC8D0F4-399A-4B12-AEE6-9216E098DDF3}"/>
          </ac:spMkLst>
        </pc:spChg>
        <pc:picChg chg="add del mod">
          <ac:chgData name="Yvonne Chen" userId="cdf6c2fa8f1ea833" providerId="LiveId" clId="{DCA5A71D-B571-4584-930E-95E8AD7C3DB8}" dt="2026-09-29T05:21:13.852" v="1687" actId="478"/>
          <ac:picMkLst>
            <pc:docMk/>
            <pc:sldMk cId="1256603778" sldId="328"/>
            <ac:picMk id="5" creationId="{CB60C59E-87DD-47F9-9D31-272EE0048E79}"/>
          </ac:picMkLst>
        </pc:picChg>
      </pc:sldChg>
      <pc:sldChg chg="addSp delSp modSp new del mod">
        <pc:chgData name="Yvonne Chen" userId="cdf6c2fa8f1ea833" providerId="LiveId" clId="{DCA5A71D-B571-4584-930E-95E8AD7C3DB8}" dt="2026-09-29T05:32:06.859" v="2713" actId="47"/>
        <pc:sldMkLst>
          <pc:docMk/>
          <pc:sldMk cId="1563941027" sldId="329"/>
        </pc:sldMkLst>
        <pc:spChg chg="mod">
          <ac:chgData name="Yvonne Chen" userId="cdf6c2fa8f1ea833" providerId="LiveId" clId="{DCA5A71D-B571-4584-930E-95E8AD7C3DB8}" dt="2026-09-29T05:31:01.909" v="2675" actId="27636"/>
          <ac:spMkLst>
            <pc:docMk/>
            <pc:sldMk cId="1563941027" sldId="329"/>
            <ac:spMk id="2" creationId="{28FE4B62-3C15-40E8-AD7E-0A62CB7FBB58}"/>
          </ac:spMkLst>
        </pc:spChg>
        <pc:spChg chg="del">
          <ac:chgData name="Yvonne Chen" userId="cdf6c2fa8f1ea833" providerId="LiveId" clId="{DCA5A71D-B571-4584-930E-95E8AD7C3DB8}" dt="2026-09-29T05:31:30.582" v="2682"/>
          <ac:spMkLst>
            <pc:docMk/>
            <pc:sldMk cId="1563941027" sldId="329"/>
            <ac:spMk id="4" creationId="{E7F8F6E7-0CC8-49DE-B2AA-57E14A445A9E}"/>
          </ac:spMkLst>
        </pc:spChg>
        <pc:spChg chg="add mod">
          <ac:chgData name="Yvonne Chen" userId="cdf6c2fa8f1ea833" providerId="LiveId" clId="{DCA5A71D-B571-4584-930E-95E8AD7C3DB8}" dt="2026-09-29T05:32:01.346" v="2712" actId="478"/>
          <ac:spMkLst>
            <pc:docMk/>
            <pc:sldMk cId="1563941027" sldId="329"/>
            <ac:spMk id="9" creationId="{8715A0B3-9881-4935-967A-B0EF807C21F6}"/>
          </ac:spMkLst>
        </pc:spChg>
        <pc:graphicFrameChg chg="add del mod modGraphic">
          <ac:chgData name="Yvonne Chen" userId="cdf6c2fa8f1ea833" providerId="LiveId" clId="{DCA5A71D-B571-4584-930E-95E8AD7C3DB8}" dt="2026-09-29T05:32:01.346" v="2712" actId="478"/>
          <ac:graphicFrameMkLst>
            <pc:docMk/>
            <pc:sldMk cId="1563941027" sldId="329"/>
            <ac:graphicFrameMk id="7" creationId="{FC89D5FF-54BF-41FC-8A6F-0AEFBB9B6067}"/>
          </ac:graphicFrameMkLst>
        </pc:graphicFrameChg>
        <pc:picChg chg="add mod">
          <ac:chgData name="Yvonne Chen" userId="cdf6c2fa8f1ea833" providerId="LiveId" clId="{DCA5A71D-B571-4584-930E-95E8AD7C3DB8}" dt="2026-09-29T05:31:09.519" v="2678" actId="1076"/>
          <ac:picMkLst>
            <pc:docMk/>
            <pc:sldMk cId="1563941027" sldId="329"/>
            <ac:picMk id="5" creationId="{48AEFC40-1AF8-4EC9-8C57-15E28A6408E2}"/>
          </ac:picMkLst>
        </pc:picChg>
        <pc:picChg chg="add mod modCrop">
          <ac:chgData name="Yvonne Chen" userId="cdf6c2fa8f1ea833" providerId="LiveId" clId="{DCA5A71D-B571-4584-930E-95E8AD7C3DB8}" dt="2026-09-29T05:31:21.470" v="2681" actId="1076"/>
          <ac:picMkLst>
            <pc:docMk/>
            <pc:sldMk cId="1563941027" sldId="329"/>
            <ac:picMk id="6" creationId="{2A77387E-C779-4C9F-A508-3FB65465908B}"/>
          </ac:picMkLst>
        </pc:picChg>
      </pc:sldChg>
      <pc:sldChg chg="addSp delSp modSp new mod">
        <pc:chgData name="Yvonne Chen" userId="cdf6c2fa8f1ea833" providerId="LiveId" clId="{DCA5A71D-B571-4584-930E-95E8AD7C3DB8}" dt="2026-09-29T05:35:04.347" v="2817" actId="403"/>
        <pc:sldMkLst>
          <pc:docMk/>
          <pc:sldMk cId="3378260168" sldId="329"/>
        </pc:sldMkLst>
        <pc:spChg chg="mod">
          <ac:chgData name="Yvonne Chen" userId="cdf6c2fa8f1ea833" providerId="LiveId" clId="{DCA5A71D-B571-4584-930E-95E8AD7C3DB8}" dt="2026-09-29T05:35:04.347" v="2817" actId="403"/>
          <ac:spMkLst>
            <pc:docMk/>
            <pc:sldMk cId="3378260168" sldId="329"/>
            <ac:spMk id="2" creationId="{11314B23-4183-4A8F-ADDF-38670CAAA2E4}"/>
          </ac:spMkLst>
        </pc:spChg>
        <pc:spChg chg="add del">
          <ac:chgData name="Yvonne Chen" userId="cdf6c2fa8f1ea833" providerId="LiveId" clId="{DCA5A71D-B571-4584-930E-95E8AD7C3DB8}" dt="2026-09-29T05:32:47.384" v="2728"/>
          <ac:spMkLst>
            <pc:docMk/>
            <pc:sldMk cId="3378260168" sldId="329"/>
            <ac:spMk id="4" creationId="{C4A839A0-231C-4BD4-880A-4E93896B1AC0}"/>
          </ac:spMkLst>
        </pc:spChg>
        <pc:spChg chg="add del mod">
          <ac:chgData name="Yvonne Chen" userId="cdf6c2fa8f1ea833" providerId="LiveId" clId="{DCA5A71D-B571-4584-930E-95E8AD7C3DB8}" dt="2026-09-29T05:32:46.554" v="2725" actId="478"/>
          <ac:spMkLst>
            <pc:docMk/>
            <pc:sldMk cId="3378260168" sldId="329"/>
            <ac:spMk id="8" creationId="{63D860FB-5118-4AF5-B51D-4F6F79D8DE13}"/>
          </ac:spMkLst>
        </pc:spChg>
        <pc:graphicFrameChg chg="add del mod modGraphic">
          <ac:chgData name="Yvonne Chen" userId="cdf6c2fa8f1ea833" providerId="LiveId" clId="{DCA5A71D-B571-4584-930E-95E8AD7C3DB8}" dt="2026-09-29T05:32:49.003" v="2734"/>
          <ac:graphicFrameMkLst>
            <pc:docMk/>
            <pc:sldMk cId="3378260168" sldId="329"/>
            <ac:graphicFrameMk id="5" creationId="{529D0477-5340-4D05-8BBC-A24CE2553739}"/>
          </ac:graphicFrameMkLst>
        </pc:graphicFrameChg>
        <pc:picChg chg="add del mod">
          <ac:chgData name="Yvonne Chen" userId="cdf6c2fa8f1ea833" providerId="LiveId" clId="{DCA5A71D-B571-4584-930E-95E8AD7C3DB8}" dt="2026-09-29T05:32:47.384" v="2728"/>
          <ac:picMkLst>
            <pc:docMk/>
            <pc:sldMk cId="3378260168" sldId="329"/>
            <ac:picMk id="6" creationId="{5413C662-817A-4058-94C8-508900B8F08E}"/>
          </ac:picMkLst>
        </pc:picChg>
        <pc:picChg chg="add mod">
          <ac:chgData name="Yvonne Chen" userId="cdf6c2fa8f1ea833" providerId="LiveId" clId="{DCA5A71D-B571-4584-930E-95E8AD7C3DB8}" dt="2026-09-29T05:34:10.464" v="2782" actId="1076"/>
          <ac:picMkLst>
            <pc:docMk/>
            <pc:sldMk cId="3378260168" sldId="329"/>
            <ac:picMk id="9" creationId="{EA16291B-E140-4975-A576-18AEE9CA8C50}"/>
          </ac:picMkLst>
        </pc:picChg>
        <pc:picChg chg="add mod">
          <ac:chgData name="Yvonne Chen" userId="cdf6c2fa8f1ea833" providerId="LiveId" clId="{DCA5A71D-B571-4584-930E-95E8AD7C3DB8}" dt="2026-09-29T05:34:19.376" v="2784" actId="1076"/>
          <ac:picMkLst>
            <pc:docMk/>
            <pc:sldMk cId="3378260168" sldId="329"/>
            <ac:picMk id="10" creationId="{2F518D64-EBD4-47FD-ACE7-C2C7C5540221}"/>
          </ac:picMkLst>
        </pc:picChg>
      </pc:sldChg>
      <pc:sldChg chg="addSp delSp modSp new mod">
        <pc:chgData name="Yvonne Chen" userId="cdf6c2fa8f1ea833" providerId="LiveId" clId="{DCA5A71D-B571-4584-930E-95E8AD7C3DB8}" dt="2026-09-29T05:44:14.695" v="3728" actId="1076"/>
        <pc:sldMkLst>
          <pc:docMk/>
          <pc:sldMk cId="197851043" sldId="330"/>
        </pc:sldMkLst>
        <pc:spChg chg="mod">
          <ac:chgData name="Yvonne Chen" userId="cdf6c2fa8f1ea833" providerId="LiveId" clId="{DCA5A71D-B571-4584-930E-95E8AD7C3DB8}" dt="2026-09-29T05:35:34.969" v="2831" actId="404"/>
          <ac:spMkLst>
            <pc:docMk/>
            <pc:sldMk cId="197851043" sldId="330"/>
            <ac:spMk id="2" creationId="{6B478C00-6155-44FE-AD63-E51FE1ECAE4A}"/>
          </ac:spMkLst>
        </pc:spChg>
        <pc:spChg chg="del">
          <ac:chgData name="Yvonne Chen" userId="cdf6c2fa8f1ea833" providerId="LiveId" clId="{DCA5A71D-B571-4584-930E-95E8AD7C3DB8}" dt="2026-09-29T05:35:42.214" v="2832"/>
          <ac:spMkLst>
            <pc:docMk/>
            <pc:sldMk cId="197851043" sldId="330"/>
            <ac:spMk id="4" creationId="{CF53D388-59DC-40CA-BD4B-3FB0889F5BBD}"/>
          </ac:spMkLst>
        </pc:spChg>
        <pc:spChg chg="add mod">
          <ac:chgData name="Yvonne Chen" userId="cdf6c2fa8f1ea833" providerId="LiveId" clId="{DCA5A71D-B571-4584-930E-95E8AD7C3DB8}" dt="2026-09-29T05:44:14.695" v="3728" actId="1076"/>
          <ac:spMkLst>
            <pc:docMk/>
            <pc:sldMk cId="197851043" sldId="330"/>
            <ac:spMk id="6" creationId="{0DC18316-3740-4BED-BE64-EF1BC30197EE}"/>
          </ac:spMkLst>
        </pc:spChg>
        <pc:picChg chg="add mod modCrop">
          <ac:chgData name="Yvonne Chen" userId="cdf6c2fa8f1ea833" providerId="LiveId" clId="{DCA5A71D-B571-4584-930E-95E8AD7C3DB8}" dt="2026-09-29T05:44:01.670" v="3721" actId="1076"/>
          <ac:picMkLst>
            <pc:docMk/>
            <pc:sldMk cId="197851043" sldId="330"/>
            <ac:picMk id="5" creationId="{FE4A640B-165F-441D-A4B4-6732B408E795}"/>
          </ac:picMkLst>
        </pc:picChg>
        <pc:picChg chg="add mod modCrop">
          <ac:chgData name="Yvonne Chen" userId="cdf6c2fa8f1ea833" providerId="LiveId" clId="{DCA5A71D-B571-4584-930E-95E8AD7C3DB8}" dt="2026-09-29T05:44:09.607" v="3726" actId="1076"/>
          <ac:picMkLst>
            <pc:docMk/>
            <pc:sldMk cId="197851043" sldId="330"/>
            <ac:picMk id="7" creationId="{8899289B-7428-4425-802E-B2B4B70696E3}"/>
          </ac:picMkLst>
        </pc:picChg>
      </pc:sldChg>
      <pc:sldChg chg="addSp delSp modSp new mod">
        <pc:chgData name="Yvonne Chen" userId="cdf6c2fa8f1ea833" providerId="LiveId" clId="{DCA5A71D-B571-4584-930E-95E8AD7C3DB8}" dt="2026-09-29T05:53:40.677" v="4292" actId="798"/>
        <pc:sldMkLst>
          <pc:docMk/>
          <pc:sldMk cId="1641116743" sldId="331"/>
        </pc:sldMkLst>
        <pc:spChg chg="mod">
          <ac:chgData name="Yvonne Chen" userId="cdf6c2fa8f1ea833" providerId="LiveId" clId="{DCA5A71D-B571-4584-930E-95E8AD7C3DB8}" dt="2026-09-29T05:44:28.989" v="3744" actId="20577"/>
          <ac:spMkLst>
            <pc:docMk/>
            <pc:sldMk cId="1641116743" sldId="331"/>
            <ac:spMk id="2" creationId="{B1CC1C04-DB78-473C-BBA1-44FD4C33BA57}"/>
          </ac:spMkLst>
        </pc:spChg>
        <pc:spChg chg="del mod">
          <ac:chgData name="Yvonne Chen" userId="cdf6c2fa8f1ea833" providerId="LiveId" clId="{DCA5A71D-B571-4584-930E-95E8AD7C3DB8}" dt="2026-09-29T05:44:49.195" v="3759" actId="478"/>
          <ac:spMkLst>
            <pc:docMk/>
            <pc:sldMk cId="1641116743" sldId="331"/>
            <ac:spMk id="4" creationId="{5EFA910F-5F94-4678-B0A8-D468FC4E581B}"/>
          </ac:spMkLst>
        </pc:spChg>
        <pc:graphicFrameChg chg="add del mod modGraphic">
          <ac:chgData name="Yvonne Chen" userId="cdf6c2fa8f1ea833" providerId="LiveId" clId="{DCA5A71D-B571-4584-930E-95E8AD7C3DB8}" dt="2026-09-29T05:50:57.952" v="4137" actId="478"/>
          <ac:graphicFrameMkLst>
            <pc:docMk/>
            <pc:sldMk cId="1641116743" sldId="331"/>
            <ac:graphicFrameMk id="5" creationId="{8605955F-962F-4D28-99FC-6AD4AE2765DB}"/>
          </ac:graphicFrameMkLst>
        </pc:graphicFrameChg>
        <pc:graphicFrameChg chg="add mod modGraphic">
          <ac:chgData name="Yvonne Chen" userId="cdf6c2fa8f1ea833" providerId="LiveId" clId="{DCA5A71D-B571-4584-930E-95E8AD7C3DB8}" dt="2026-09-29T05:53:40.677" v="4292" actId="798"/>
          <ac:graphicFrameMkLst>
            <pc:docMk/>
            <pc:sldMk cId="1641116743" sldId="331"/>
            <ac:graphicFrameMk id="6" creationId="{A39C05A4-61D4-4E45-96E0-5E0B88E7007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83875-1F8E-4729-BB01-E5507ECDB26F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CA75C-488B-44EE-A145-FB399880B4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04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157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218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519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0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065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TW" dirty="0"/>
              <a:t>Conv1D </a:t>
            </a:r>
            <a:r>
              <a:rPr lang="zh-TW" altLang="en-US" dirty="0"/>
              <a:t>增加 </a:t>
            </a:r>
            <a:r>
              <a:rPr lang="en-CA" altLang="zh-TW" dirty="0"/>
              <a:t>learned feature representations</a:t>
            </a:r>
            <a:r>
              <a:rPr lang="zh-TW" altLang="en-CA" dirty="0"/>
              <a:t>，</a:t>
            </a:r>
            <a:r>
              <a:rPr lang="en-CA" altLang="zh-TW" dirty="0"/>
              <a:t>Pooling </a:t>
            </a:r>
            <a:r>
              <a:rPr lang="zh-TW" altLang="en-US" dirty="0"/>
              <a:t>壓縮時間軸，</a:t>
            </a:r>
            <a:r>
              <a:rPr lang="en-CA" altLang="zh-TW" dirty="0"/>
              <a:t>BN </a:t>
            </a:r>
            <a:r>
              <a:rPr lang="zh-TW" altLang="en-US" dirty="0"/>
              <a:t>穩定每個 </a:t>
            </a:r>
            <a:r>
              <a:rPr lang="en-CA" altLang="zh-TW" dirty="0"/>
              <a:t>feature channel </a:t>
            </a:r>
            <a:r>
              <a:rPr lang="zh-TW" altLang="en-US" dirty="0"/>
              <a:t>的數值分布。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375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635896" y="1196752"/>
            <a:ext cx="5040560" cy="2664296"/>
          </a:xfrm>
        </p:spPr>
        <p:txBody>
          <a:bodyPr/>
          <a:lstStyle>
            <a:lvl1pPr>
              <a:defRPr>
                <a:solidFill>
                  <a:srgbClr val="06164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35896" y="4221088"/>
            <a:ext cx="5040560" cy="15841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FADC78-9159-45FA-9D41-11D2468F06FF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54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2B1-6805-4DE6-A748-6982A74B9BD6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06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87824" y="4077072"/>
            <a:ext cx="5684168" cy="2016224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987824" y="3140969"/>
            <a:ext cx="5684168" cy="936104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6164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90CB-0946-49BE-8CDD-EFB5341A56AD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64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7585-208B-498D-98B4-A96AF9A3EFC6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11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EB98-C986-4C98-9E1A-EDC9B461A565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69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1CBB-E5B4-40A8-8D84-DC24EDB53F36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73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000A-9B95-489C-95F8-2939803A11B7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44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DCB1-B2B6-4CDB-80DB-C5451DC3FA2B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70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文多_1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283152" cy="72008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CBB-0077-4C86-835B-5E07B370979B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5304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文多_2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283152" cy="72008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D756D-CAD3-4F1C-AA19-B84A98BA3654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16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B4E8D-D661-4034-B723-A921D4F707CA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19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A621B8-F77A-44B9-8DA7-492E3A86D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8582" y="1027336"/>
            <a:ext cx="5555188" cy="3066926"/>
          </a:xfrm>
        </p:spPr>
        <p:txBody>
          <a:bodyPr>
            <a:noAutofit/>
          </a:bodyPr>
          <a:lstStyle/>
          <a:p>
            <a:r>
              <a:rPr lang="en-US" altLang="zh-TW" sz="2000" dirty="0">
                <a:ea typeface="標楷體" panose="03000509000000000000" pitchFamily="65" charset="-120"/>
              </a:rPr>
              <a:t>Contrastive domain generalization convolution neural network correcting the drift of gas sensors</a:t>
            </a:r>
            <a:br>
              <a:rPr lang="en-US" altLang="zh-TW" sz="2000" dirty="0">
                <a:ea typeface="標楷體" panose="03000509000000000000" pitchFamily="65" charset="-120"/>
              </a:rPr>
            </a:br>
            <a:br>
              <a:rPr lang="en-US" altLang="zh-TW" sz="2000" dirty="0">
                <a:ea typeface="標楷體" panose="03000509000000000000" pitchFamily="65" charset="-120"/>
              </a:rPr>
            </a:br>
            <a:r>
              <a:rPr lang="en-US" altLang="zh-TW" sz="1600" dirty="0" err="1">
                <a:ea typeface="標楷體" panose="03000509000000000000" pitchFamily="65" charset="-120"/>
              </a:rPr>
              <a:t>Sensors</a:t>
            </a:r>
            <a:r>
              <a:rPr lang="en-US" altLang="zh-TW" sz="1600" dirty="0">
                <a:ea typeface="標楷體" panose="03000509000000000000" pitchFamily="65" charset="-120"/>
              </a:rPr>
              <a:t> and Actuators A: Physical, 2024</a:t>
            </a:r>
            <a:br>
              <a:rPr lang="en-US" altLang="zh-TW" sz="1600" dirty="0">
                <a:ea typeface="標楷體" panose="03000509000000000000" pitchFamily="65" charset="-120"/>
              </a:rPr>
            </a:br>
            <a:r>
              <a:rPr lang="en-US" altLang="zh-TW" sz="1400" dirty="0" err="1">
                <a:ea typeface="標楷體" panose="03000509000000000000" pitchFamily="65" charset="-120"/>
              </a:rPr>
              <a:t>Jifeng</a:t>
            </a:r>
            <a:r>
              <a:rPr lang="en-US" altLang="zh-TW" sz="1400" dirty="0">
                <a:ea typeface="標楷體" panose="03000509000000000000" pitchFamily="65" charset="-120"/>
              </a:rPr>
              <a:t> Chu , </a:t>
            </a:r>
            <a:r>
              <a:rPr lang="en-US" altLang="zh-TW" sz="1400" dirty="0" err="1">
                <a:ea typeface="標楷體" panose="03000509000000000000" pitchFamily="65" charset="-120"/>
              </a:rPr>
              <a:t>Renhong</a:t>
            </a:r>
            <a:r>
              <a:rPr lang="en-US" altLang="zh-TW" sz="1400" dirty="0">
                <a:ea typeface="標楷體" panose="03000509000000000000" pitchFamily="65" charset="-120"/>
              </a:rPr>
              <a:t> Yao , </a:t>
            </a:r>
            <a:r>
              <a:rPr lang="en-US" altLang="zh-TW" sz="1400" dirty="0" err="1">
                <a:ea typeface="標楷體" panose="03000509000000000000" pitchFamily="65" charset="-120"/>
              </a:rPr>
              <a:t>Xianbo</a:t>
            </a:r>
            <a:r>
              <a:rPr lang="en-US" altLang="zh-TW" sz="1400" dirty="0">
                <a:ea typeface="標楷體" panose="03000509000000000000" pitchFamily="65" charset="-120"/>
              </a:rPr>
              <a:t> Huang </a:t>
            </a:r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8A1B309-3A86-460D-9F25-F0B155201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5896" y="4715933"/>
            <a:ext cx="5040560" cy="1114731"/>
          </a:xfrm>
        </p:spPr>
        <p:txBody>
          <a:bodyPr>
            <a:normAutofit/>
          </a:bodyPr>
          <a:lstStyle/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陳柏臻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指導教授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鄭桂忠 教授</a:t>
            </a:r>
          </a:p>
          <a:p>
            <a:pPr algn="l"/>
            <a:endParaRPr lang="zh-TW" altLang="en-US" sz="18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229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6C4D-2825-4488-9FE5-55624C26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76B6-15C8-4355-A951-01577F8B6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/>
              <a:t>問題與既有方法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en-US" altLang="zh-TW" sz="2800" dirty="0"/>
              <a:t>Domain generalization and Contrastive learning</a:t>
            </a:r>
          </a:p>
          <a:p>
            <a:pPr>
              <a:lnSpc>
                <a:spcPct val="150000"/>
              </a:lnSpc>
            </a:pPr>
            <a:r>
              <a:rPr lang="en-US" altLang="zh-TW" sz="2800" dirty="0"/>
              <a:t>Methodology: CDCNN</a:t>
            </a:r>
            <a:br>
              <a:rPr lang="en-US" altLang="zh-TW" sz="2800" dirty="0"/>
            </a:br>
            <a:r>
              <a:rPr lang="en-US" altLang="zh-TW" sz="2000" dirty="0"/>
              <a:t>(Contrastive </a:t>
            </a:r>
            <a:r>
              <a:rPr lang="en-CA" altLang="zh-TW" sz="2000" dirty="0"/>
              <a:t>domain generalization convolution neural network)</a:t>
            </a:r>
          </a:p>
          <a:p>
            <a:pPr>
              <a:lnSpc>
                <a:spcPct val="150000"/>
              </a:lnSpc>
            </a:pPr>
            <a:r>
              <a:rPr lang="en-US" altLang="zh-TW" sz="2800" dirty="0"/>
              <a:t>CDCNN</a:t>
            </a:r>
            <a:r>
              <a:rPr lang="zh-TW" altLang="en-US" sz="2800" dirty="0"/>
              <a:t>重現與探討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結論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endParaRPr lang="zh-TW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DF44C-30E7-4ED0-A43F-145A28E3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366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3BA-932E-4921-9608-EFC0B401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問題與既有方法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29F614-D416-462F-947C-50C2D6B5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A089B-1845-4CC1-8FAE-918254220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2281"/>
            <a:ext cx="8229600" cy="4929411"/>
          </a:xfrm>
        </p:spPr>
        <p:txBody>
          <a:bodyPr>
            <a:normAutofit fontScale="92500" lnSpcReduction="20000"/>
          </a:bodyPr>
          <a:lstStyle/>
          <a:p>
            <a:pPr algn="l">
              <a:spcAft>
                <a:spcPts val="1200"/>
              </a:spcAft>
            </a:pPr>
            <a:r>
              <a:rPr lang="zh-TW" altLang="en-US" sz="2800" b="1" i="0" dirty="0">
                <a:solidFill>
                  <a:srgbClr val="1E2761"/>
                </a:solidFill>
                <a:latin typeface="Cambria"/>
              </a:rPr>
              <a:t>感測器漂移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CADCFC"/>
                </a:solidFill>
                <a:latin typeface="Calibri"/>
              </a:rPr>
              <a:t>·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MOS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氣體感測器因元件老化與環境波動，對同一氣體的響應隨時間偏移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CADCFC"/>
                </a:solidFill>
                <a:latin typeface="Calibri"/>
              </a:rPr>
              <a:t>·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電子鼻的長期辨識準確率與壽命因此大幅下降</a:t>
            </a:r>
          </a:p>
          <a:p>
            <a:pPr>
              <a:spcAft>
                <a:spcPts val="1200"/>
              </a:spcAft>
            </a:pPr>
            <a:r>
              <a:rPr lang="zh-TW" altLang="en-US" sz="2800" b="1" i="0" dirty="0">
                <a:solidFill>
                  <a:srgbClr val="1E2761"/>
                </a:solidFill>
                <a:latin typeface="Cambria"/>
              </a:rPr>
              <a:t>既有方法的限制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PCA-SVM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、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LDA-SVM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：手工特徵與線性／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kernel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轉換，無法擬合非線性長期漂移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SVM-GFK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等流形學習或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transfer learning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：需窺探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target domain </a:t>
            </a:r>
            <a:endParaRPr lang="zh-TW" altLang="en-US" sz="2400" b="0" i="0" dirty="0">
              <a:solidFill>
                <a:srgbClr val="1A1A1A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zh-TW" altLang="en-US" sz="2400" b="0" i="0" dirty="0">
                <a:latin typeface="Calibri"/>
              </a:rPr>
              <a:t>其他演算法大多也需要 </a:t>
            </a:r>
            <a:r>
              <a:rPr lang="en-US" altLang="zh-TW" sz="2400" b="0" i="0" dirty="0">
                <a:latin typeface="Calibri"/>
              </a:rPr>
              <a:t>target domain</a:t>
            </a:r>
            <a:r>
              <a:rPr lang="zh-TW" altLang="en-US" sz="2400" b="0" i="0" dirty="0">
                <a:latin typeface="Calibri"/>
              </a:rPr>
              <a:t> 的資料</a:t>
            </a:r>
            <a:r>
              <a:rPr lang="zh-TW" altLang="en-US" sz="2400" dirty="0">
                <a:latin typeface="Calibri"/>
              </a:rPr>
              <a:t>，難以在現實使用</a:t>
            </a:r>
            <a:endParaRPr lang="en-CA" altLang="zh-TW" sz="2400" dirty="0"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zh-TW" altLang="en-US" sz="2400" dirty="0">
                <a:latin typeface="Calibri"/>
              </a:rPr>
              <a:t>此方法相較傳統 </a:t>
            </a:r>
            <a:r>
              <a:rPr lang="en-US" altLang="zh-TW" sz="2400" dirty="0" err="1">
                <a:latin typeface="Calibri"/>
              </a:rPr>
              <a:t>ResNet</a:t>
            </a:r>
            <a:r>
              <a:rPr lang="zh-TW" altLang="en-US" sz="2400" dirty="0">
                <a:latin typeface="Calibri"/>
              </a:rPr>
              <a:t>，在</a:t>
            </a:r>
            <a:r>
              <a:rPr lang="en-US" altLang="zh-TW" sz="2400" dirty="0">
                <a:latin typeface="Calibri"/>
              </a:rPr>
              <a:t>target domain</a:t>
            </a:r>
            <a:r>
              <a:rPr lang="zh-TW" altLang="en-US" sz="2400" dirty="0">
                <a:latin typeface="Calibri"/>
              </a:rPr>
              <a:t>上的表現為</a:t>
            </a:r>
            <a:r>
              <a:rPr lang="en-US" altLang="zh-TW" sz="2400" dirty="0" err="1">
                <a:latin typeface="Calibri"/>
              </a:rPr>
              <a:t>acuucracy</a:t>
            </a:r>
            <a:r>
              <a:rPr lang="zh-TW" altLang="en-US" sz="2400" dirty="0">
                <a:latin typeface="Calibri"/>
              </a:rPr>
              <a:t>提升</a:t>
            </a:r>
            <a:r>
              <a:rPr lang="en-US" altLang="zh-TW" sz="2400" dirty="0">
                <a:latin typeface="Calibri"/>
              </a:rPr>
              <a:t>0.05</a:t>
            </a:r>
            <a:endParaRPr lang="en-CA" altLang="zh-TW" sz="24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575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D16B-3902-4C19-AFBD-F64E7E6F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Domain generalization and Contrastive learning</a:t>
            </a:r>
            <a:endParaRPr lang="zh-TW" alt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BE29E-269F-4EDA-A496-FF5590CF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6A0D2-B668-4813-8C39-20839EA2C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231" y="1657349"/>
            <a:ext cx="6151537" cy="419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0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F661-4210-4FCF-8921-0AC1F1F7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Methodology: CDCNN</a:t>
            </a:r>
            <a:br>
              <a:rPr lang="en-US" altLang="zh-TW" dirty="0"/>
            </a:br>
            <a:r>
              <a:rPr lang="en-US" altLang="zh-TW" sz="2200" dirty="0"/>
              <a:t>Contrastive </a:t>
            </a:r>
            <a:r>
              <a:rPr lang="en-CA" altLang="zh-TW" sz="2200" dirty="0"/>
              <a:t>domain generalization convolution neural network</a:t>
            </a:r>
            <a:endParaRPr lang="zh-TW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725C0-BA9F-4FF5-A754-BEBD4C48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53151-15BC-49E7-86CD-085BC7FFB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8232"/>
            <a:ext cx="7315200" cy="429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92A7-37CD-41BD-A674-9944CFA9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altLang="zh-TW" dirty="0"/>
              <a:t>Data augmentation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AD5DF-B6F6-4347-837D-9916BE23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EE2174-501C-4F1E-967D-B2207CDC2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3" y="1196752"/>
            <a:ext cx="8229600" cy="4929411"/>
          </a:xfrm>
        </p:spPr>
        <p:txBody>
          <a:bodyPr>
            <a:normAutofit/>
          </a:bodyPr>
          <a:lstStyle/>
          <a:p>
            <a:r>
              <a:rPr lang="zh-TW" altLang="en-US" sz="1800" dirty="0"/>
              <a:t>研究者受到</a:t>
            </a:r>
            <a:r>
              <a:rPr lang="en-US" altLang="zh-TW" sz="1800" dirty="0"/>
              <a:t>VAE(Variational Auto</a:t>
            </a:r>
            <a:r>
              <a:rPr lang="zh-TW" altLang="en-US" sz="1800" dirty="0"/>
              <a:t> </a:t>
            </a:r>
            <a:r>
              <a:rPr lang="en-US" altLang="zh-TW" sz="1800" dirty="0"/>
              <a:t>Encoder</a:t>
            </a:r>
            <a:r>
              <a:rPr lang="zh-TW" altLang="en-US" sz="1800" dirty="0"/>
              <a:t>，變分自編碼器</a:t>
            </a:r>
            <a:r>
              <a:rPr lang="en-US" altLang="zh-TW" sz="1800" dirty="0"/>
              <a:t>)</a:t>
            </a:r>
            <a:r>
              <a:rPr lang="zh-TW" altLang="en-US" sz="1800" dirty="0"/>
              <a:t>啟發，設計一套專門的資料增強方法，將輸入資料轉換成機率模型並從中取樣並合成。</a:t>
            </a:r>
            <a:endParaRPr lang="en-US" altLang="zh-TW" sz="1800" dirty="0"/>
          </a:p>
          <a:p>
            <a:endParaRPr lang="en-US" altLang="zh-TW" sz="1800" dirty="0"/>
          </a:p>
          <a:p>
            <a:pPr marL="457200" lvl="1" indent="0">
              <a:buNone/>
            </a:pPr>
            <a:endParaRPr lang="en-US" altLang="zh-TW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4DC2FC-0FEB-4D5A-8A68-7D4A288409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23505" b="-1412"/>
          <a:stretch/>
        </p:blipFill>
        <p:spPr>
          <a:xfrm>
            <a:off x="535703" y="1916521"/>
            <a:ext cx="4509521" cy="4615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29B048-CC7A-4E5A-AC81-3A51B3160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706" y="2400330"/>
            <a:ext cx="4182161" cy="3797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FC7CD4-E489-43C8-B194-ACDD88255235}"/>
              </a:ext>
            </a:extLst>
          </p:cNvPr>
          <p:cNvSpPr txBox="1"/>
          <p:nvPr/>
        </p:nvSpPr>
        <p:spPr>
          <a:xfrm>
            <a:off x="4659438" y="6218148"/>
            <a:ext cx="3787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solidFill>
                  <a:srgbClr val="5A5A66"/>
                </a:solidFill>
                <a:latin typeface="Calibri"/>
              </a:rPr>
              <a:t>相較白高斯雜訊與常數雜訊，</a:t>
            </a:r>
            <a:r>
              <a:rPr lang="en-US" altLang="zh-TW" sz="1400" b="0" i="0" dirty="0">
                <a:solidFill>
                  <a:srgbClr val="5A5A66"/>
                </a:solidFill>
                <a:latin typeface="Calibri"/>
              </a:rPr>
              <a:t>CDCNN </a:t>
            </a:r>
            <a:r>
              <a:rPr lang="zh-TW" altLang="en-US" sz="1400" b="0" i="0" dirty="0">
                <a:solidFill>
                  <a:srgbClr val="5A5A66"/>
                </a:solidFill>
                <a:latin typeface="Calibri"/>
              </a:rPr>
              <a:t>的擴充在 </a:t>
            </a:r>
            <a:r>
              <a:rPr lang="en-US" altLang="zh-TW" sz="1400" b="0" i="0" dirty="0">
                <a:solidFill>
                  <a:srgbClr val="5A5A66"/>
                </a:solidFill>
                <a:latin typeface="Calibri"/>
              </a:rPr>
              <a:t>PCA </a:t>
            </a:r>
            <a:r>
              <a:rPr lang="zh-TW" altLang="en-US" sz="1400" b="0" i="0" dirty="0">
                <a:solidFill>
                  <a:srgbClr val="5A5A66"/>
                </a:solidFill>
                <a:latin typeface="Calibri"/>
              </a:rPr>
              <a:t>空間產生明顯更大的分散。</a:t>
            </a:r>
            <a:endParaRPr lang="zh-TW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551E7-54BD-4118-B5FF-0E51F89F7070}"/>
              </a:ext>
            </a:extLst>
          </p:cNvPr>
          <p:cNvSpPr txBox="1"/>
          <p:nvPr/>
        </p:nvSpPr>
        <p:spPr>
          <a:xfrm>
            <a:off x="457203" y="2397948"/>
            <a:ext cx="3360417" cy="300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/>
              <a:t>1. </a:t>
            </a:r>
            <a:r>
              <a:rPr lang="zh-TW" altLang="en-US" sz="1600" dirty="0"/>
              <a:t>   計算其中一個氣體感測器訊號 </a:t>
            </a:r>
            <a:r>
              <a:rPr lang="en-US" altLang="zh-TW" sz="1600" dirty="0"/>
              <a:t>j</a:t>
            </a:r>
            <a:r>
              <a:rPr lang="zh-TW" altLang="en-US" sz="1600" dirty="0"/>
              <a:t> 的資料平均與變異數</a:t>
            </a:r>
            <a:endParaRPr lang="en-US" altLang="zh-TW" sz="1600" dirty="0"/>
          </a:p>
          <a:p>
            <a:pPr>
              <a:lnSpc>
                <a:spcPct val="150000"/>
              </a:lnSpc>
            </a:pPr>
            <a:r>
              <a:rPr lang="en-US" altLang="zh-TW" sz="1600" dirty="0"/>
              <a:t>2.</a:t>
            </a:r>
            <a:r>
              <a:rPr lang="zh-TW" altLang="en-US" sz="1600" dirty="0"/>
              <a:t>   再挑選同一個氣體資料中另一條不同的訊號 </a:t>
            </a:r>
            <a:r>
              <a:rPr lang="en-US" altLang="zh-TW" sz="1600" dirty="0"/>
              <a:t>k</a:t>
            </a:r>
            <a:r>
              <a:rPr lang="zh-TW" altLang="en-US" sz="1600" dirty="0"/>
              <a:t> 計算平均與變異數</a:t>
            </a:r>
            <a:endParaRPr lang="en-US" altLang="zh-TW" sz="1600" dirty="0"/>
          </a:p>
          <a:p>
            <a:pPr>
              <a:lnSpc>
                <a:spcPct val="150000"/>
              </a:lnSpc>
            </a:pPr>
            <a:r>
              <a:rPr lang="en-US" altLang="zh-TW" sz="1600" dirty="0"/>
              <a:t>3.</a:t>
            </a:r>
            <a:r>
              <a:rPr lang="zh-TW" altLang="en-US" sz="1600" dirty="0"/>
              <a:t>   將兩者訊號以設定好的 參數</a:t>
            </a:r>
            <a:r>
              <a:rPr lang="el-GR" altLang="zh-TW" sz="1600" dirty="0"/>
              <a:t>λ</a:t>
            </a:r>
            <a:r>
              <a:rPr lang="zh-TW" altLang="en-US" sz="1600" dirty="0"/>
              <a:t> 線性組合，得到混合平均值及混和變異數，再建立高斯分布模型，合成擴充訊號並保留原本的標籤。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297355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DFFE-47A9-42A1-AB91-255668E4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Feature Generation</a:t>
            </a:r>
            <a:endParaRPr lang="zh-TW" alt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3ADD9-3627-4DC3-8215-9B53C8A7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A208A1-8E70-44E6-BC82-8F7FE9095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941" y="1426939"/>
            <a:ext cx="4453720" cy="492941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50000"/>
              </a:lnSpc>
            </a:pPr>
            <a:endParaRPr lang="en-US" altLang="zh-TW" sz="1800" dirty="0"/>
          </a:p>
          <a:p>
            <a:pPr>
              <a:lnSpc>
                <a:spcPct val="150000"/>
              </a:lnSpc>
            </a:pPr>
            <a:r>
              <a:rPr lang="zh-TW" altLang="en-US" sz="7200" b="1" dirty="0"/>
              <a:t>高頻特徵：</a:t>
            </a:r>
            <a:r>
              <a:rPr lang="zh-TW" altLang="en-US" sz="7200" dirty="0"/>
              <a:t>先將訊號以 </a:t>
            </a:r>
            <a:r>
              <a:rPr lang="en-US" altLang="zh-TW" sz="7200" dirty="0" err="1"/>
              <a:t>Maxpool</a:t>
            </a:r>
            <a:r>
              <a:rPr lang="en-US" altLang="zh-TW" sz="7200" dirty="0"/>
              <a:t>() </a:t>
            </a:r>
            <a:r>
              <a:rPr lang="zh-TW" altLang="en-US" sz="7200" dirty="0"/>
              <a:t>取出，再用最近鄰上採樣</a:t>
            </a:r>
            <a:r>
              <a:rPr lang="en-US" altLang="zh-TW" sz="7200" dirty="0"/>
              <a:t>(sample)</a:t>
            </a:r>
            <a:r>
              <a:rPr lang="zh-TW" altLang="en-US" sz="7200" dirty="0"/>
              <a:t>還原尺寸。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b="1" dirty="0"/>
              <a:t>低頻特徵：</a:t>
            </a:r>
            <a:r>
              <a:rPr lang="zh-TW" altLang="en-US" sz="7200" dirty="0"/>
              <a:t>原始特徵減去高頻特徵得到，這部分視為與</a:t>
            </a:r>
            <a:r>
              <a:rPr lang="en-US" altLang="zh-TW" sz="7200" dirty="0"/>
              <a:t>domain</a:t>
            </a:r>
            <a:r>
              <a:rPr lang="zh-TW" altLang="en-US" sz="7200" dirty="0"/>
              <a:t>相關的緩慢變化。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dirty="0"/>
              <a:t>將高頻特徵與另一組低頻特徵組合，可生成具原始分類標籤且帶有 </a:t>
            </a:r>
            <a:r>
              <a:rPr lang="en-US" altLang="zh-TW" sz="7200" dirty="0"/>
              <a:t>domain </a:t>
            </a:r>
            <a:r>
              <a:rPr lang="zh-TW" altLang="en-US" sz="7200" dirty="0"/>
              <a:t>漂移的特徵訊號。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dirty="0"/>
              <a:t>再進入 </a:t>
            </a:r>
            <a:r>
              <a:rPr lang="en-US" altLang="zh-TW" sz="7200" dirty="0"/>
              <a:t>ResNet-4,5 </a:t>
            </a:r>
            <a:r>
              <a:rPr lang="zh-TW" altLang="en-US" sz="7200" dirty="0"/>
              <a:t>生成深層特徵，計算 </a:t>
            </a:r>
            <a:r>
              <a:rPr lang="en-US" altLang="zh-TW" sz="7200" dirty="0"/>
              <a:t>Contrast Loss</a:t>
            </a:r>
            <a:r>
              <a:rPr lang="zh-TW" altLang="en-US" sz="7200" dirty="0"/>
              <a:t>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dirty="0"/>
              <a:t>最後在得到分類機率後計算</a:t>
            </a:r>
            <a:r>
              <a:rPr lang="en-US" altLang="zh-TW" sz="7200" dirty="0"/>
              <a:t>MSE Loss</a:t>
            </a:r>
            <a:r>
              <a:rPr lang="zh-TW" altLang="en-US" sz="7200" dirty="0"/>
              <a:t>，確保兩種</a:t>
            </a:r>
            <a:r>
              <a:rPr lang="en-US" altLang="zh-TW" sz="7200" dirty="0"/>
              <a:t>feature</a:t>
            </a:r>
            <a:r>
              <a:rPr lang="zh-TW" altLang="en-US" sz="7200" dirty="0"/>
              <a:t>的預測結果一致。</a:t>
            </a:r>
            <a:endParaRPr lang="en-US" altLang="zh-TW" sz="7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19A453-1BE5-4F31-BA62-AAEA0BC9A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58" y="1594965"/>
            <a:ext cx="3903401" cy="15773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1BEE24-1DA4-4C6D-B719-5E2759D04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922" y="3666527"/>
            <a:ext cx="3729137" cy="205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55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CDE5-8C66-4FEE-9AE9-B703CBA5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Loss</a:t>
            </a:r>
            <a:r>
              <a:rPr lang="zh-TW" altLang="en-US" dirty="0"/>
              <a:t> </a:t>
            </a:r>
            <a:r>
              <a:rPr lang="en-US" altLang="zh-TW" dirty="0"/>
              <a:t>Function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BE91FD-636D-4051-908C-A3245C32B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73BEA-41DA-4AE2-B9FB-091E7C3BD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損失函數</a:t>
            </a:r>
            <a:r>
              <a:rPr lang="en-US" altLang="zh-TW" sz="2800" dirty="0"/>
              <a:t>L</a:t>
            </a:r>
            <a:r>
              <a:rPr lang="zh-TW" altLang="en-US" sz="2800" dirty="0"/>
              <a:t>：</a:t>
            </a:r>
            <a:endParaRPr lang="en-US" altLang="zh-TW" sz="2800" dirty="0"/>
          </a:p>
          <a:p>
            <a:pPr lvl="1"/>
            <a:r>
              <a:rPr lang="en-US" altLang="zh-TW" sz="2400" dirty="0" err="1"/>
              <a:t>L</a:t>
            </a:r>
            <a:r>
              <a:rPr lang="en-US" altLang="zh-TW" sz="2400" baseline="-25000" dirty="0" err="1"/>
              <a:t>ce</a:t>
            </a:r>
            <a:r>
              <a:rPr lang="en-US" altLang="zh-TW" sz="2400" dirty="0"/>
              <a:t>: Cross-Entropy loss</a:t>
            </a:r>
          </a:p>
          <a:p>
            <a:pPr lvl="1"/>
            <a:endParaRPr lang="en-US" altLang="zh-TW" sz="2400" dirty="0"/>
          </a:p>
          <a:p>
            <a:pPr lvl="1"/>
            <a:endParaRPr lang="en-US" altLang="zh-TW" sz="2400" dirty="0"/>
          </a:p>
          <a:p>
            <a:pPr lvl="1"/>
            <a:r>
              <a:rPr lang="en-US" altLang="zh-TW" sz="2400" dirty="0"/>
              <a:t>L</a:t>
            </a:r>
            <a:r>
              <a:rPr lang="en-US" altLang="zh-TW" sz="2400" baseline="-25000" dirty="0"/>
              <a:t>MSE</a:t>
            </a:r>
            <a:r>
              <a:rPr lang="en-US" altLang="zh-TW" sz="2400" dirty="0"/>
              <a:t>: </a:t>
            </a:r>
            <a:r>
              <a:rPr lang="zh-TW" altLang="en-US" sz="2400" dirty="0"/>
              <a:t>確保</a:t>
            </a:r>
            <a:r>
              <a:rPr lang="en-US" altLang="zh-TW" sz="2400" dirty="0"/>
              <a:t>generate feature </a:t>
            </a:r>
            <a:r>
              <a:rPr lang="zh-TW" altLang="en-US" sz="2400" dirty="0"/>
              <a:t>跟原始特徵保持一致性。</a:t>
            </a:r>
            <a:endParaRPr lang="en-US" altLang="zh-TW" sz="2400" dirty="0"/>
          </a:p>
          <a:p>
            <a:pPr marL="457200" lvl="1" indent="0">
              <a:buNone/>
            </a:pPr>
            <a:endParaRPr lang="en-US" altLang="zh-TW" sz="2400" dirty="0"/>
          </a:p>
          <a:p>
            <a:pPr marL="457200" lvl="1" indent="0">
              <a:buNone/>
            </a:pPr>
            <a:r>
              <a:rPr lang="en-US" altLang="zh-TW" sz="2400" dirty="0"/>
              <a:t>	</a:t>
            </a:r>
          </a:p>
          <a:p>
            <a:pPr lvl="1"/>
            <a:r>
              <a:rPr lang="en-US" altLang="zh-TW" sz="2400" dirty="0" err="1"/>
              <a:t>L</a:t>
            </a:r>
            <a:r>
              <a:rPr lang="en-US" altLang="zh-TW" sz="2400" baseline="-25000" dirty="0" err="1"/>
              <a:t>con</a:t>
            </a:r>
            <a:r>
              <a:rPr lang="en-US" altLang="zh-TW" sz="2400" dirty="0"/>
              <a:t>: </a:t>
            </a:r>
            <a:r>
              <a:rPr lang="zh-TW" altLang="en-US" sz="2400" dirty="0"/>
              <a:t>使用 </a:t>
            </a:r>
            <a:r>
              <a:rPr lang="en-US" altLang="zh-TW" sz="2400" dirty="0"/>
              <a:t>dot-product similarity</a:t>
            </a:r>
            <a:r>
              <a:rPr lang="zh-TW" altLang="en-US" sz="2400" dirty="0"/>
              <a:t>拉近同標籤樣本的距離。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sz="2400" dirty="0"/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341214-5CCD-48E5-B5E1-E130F55D8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10" y="1196752"/>
            <a:ext cx="4153219" cy="700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BA0B6E-51BC-400D-B696-F25034785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545" y="2154778"/>
            <a:ext cx="4505675" cy="91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D64E16-DA3B-4126-BD66-4C578A9E5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545" y="3555089"/>
            <a:ext cx="5385785" cy="8258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282726-88C7-4014-A1AD-266FB69A4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526" y="4865044"/>
            <a:ext cx="5870947" cy="149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7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E4CA-8B45-498E-9B3C-0CD5989A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Dataset:</a:t>
            </a:r>
            <a:r>
              <a:rPr lang="zh-TW" altLang="en-US" sz="3200" dirty="0"/>
              <a:t> </a:t>
            </a:r>
            <a:r>
              <a:rPr lang="en-CA" altLang="zh-TW" sz="3200" dirty="0"/>
              <a:t>UCI long-term sensor drift dataset</a:t>
            </a:r>
            <a:r>
              <a:rPr lang="zh-TW" altLang="en-US" sz="3200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FD6E7C-18BE-4AA2-970E-0E252A84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9DFA15-DA68-44DE-9B5B-EF2ACD0B6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600" y="3628330"/>
            <a:ext cx="7956799" cy="2032918"/>
          </a:xfr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3A94744-DCE6-4EAC-B9B1-E141DB080B15}"/>
              </a:ext>
            </a:extLst>
          </p:cNvPr>
          <p:cNvSpPr txBox="1">
            <a:spLocks/>
          </p:cNvSpPr>
          <p:nvPr/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36</a:t>
            </a:r>
            <a:r>
              <a:rPr lang="zh-TW" altLang="en-US" sz="2000" dirty="0"/>
              <a:t>個月採集時間</a:t>
            </a:r>
            <a:endParaRPr lang="en-US" altLang="zh-TW" sz="2000" dirty="0"/>
          </a:p>
          <a:p>
            <a:r>
              <a:rPr lang="en-US" altLang="zh-TW" sz="2000" dirty="0"/>
              <a:t>13910</a:t>
            </a:r>
            <a:r>
              <a:rPr lang="zh-TW" altLang="en-US" sz="2000" dirty="0"/>
              <a:t>個樣本，根據時間切成</a:t>
            </a:r>
            <a:r>
              <a:rPr lang="en-US" altLang="zh-TW" sz="2000" dirty="0"/>
              <a:t>10 batches</a:t>
            </a:r>
          </a:p>
          <a:p>
            <a:r>
              <a:rPr lang="en-US" altLang="zh-TW" sz="2000" dirty="0"/>
              <a:t>Label:</a:t>
            </a:r>
            <a:r>
              <a:rPr lang="zh-TW" altLang="en-US" sz="2000" dirty="0"/>
              <a:t>氨氣 </a:t>
            </a:r>
            <a:r>
              <a:rPr lang="en-US" altLang="zh-TW" sz="2000" dirty="0"/>
              <a:t>ammonia</a:t>
            </a:r>
            <a:r>
              <a:rPr lang="zh-TW" altLang="en-US" sz="2000" dirty="0"/>
              <a:t>、乙醛 </a:t>
            </a:r>
            <a:r>
              <a:rPr lang="en-US" altLang="zh-TW" sz="2000" dirty="0"/>
              <a:t>acetaldehyde</a:t>
            </a:r>
            <a:r>
              <a:rPr lang="zh-TW" altLang="en-US" sz="2000" dirty="0"/>
              <a:t>、丙酮 </a:t>
            </a:r>
            <a:r>
              <a:rPr lang="en-US" altLang="zh-TW" sz="2000" dirty="0"/>
              <a:t>acetone</a:t>
            </a:r>
            <a:r>
              <a:rPr lang="zh-TW" altLang="en-US" sz="2000" dirty="0"/>
              <a:t>、乙烯 </a:t>
            </a:r>
            <a:r>
              <a:rPr lang="en-US" altLang="zh-TW" sz="2000" dirty="0"/>
              <a:t>ethylene</a:t>
            </a:r>
            <a:r>
              <a:rPr lang="zh-TW" altLang="en-US" sz="2000" dirty="0"/>
              <a:t>、乙醇 </a:t>
            </a:r>
            <a:r>
              <a:rPr lang="en-US" altLang="zh-TW" sz="2000" dirty="0"/>
              <a:t>ethanol</a:t>
            </a:r>
            <a:r>
              <a:rPr lang="zh-TW" altLang="en-US" sz="2000" dirty="0"/>
              <a:t>、甲苯 </a:t>
            </a:r>
            <a:r>
              <a:rPr lang="en-US" altLang="zh-TW" sz="2000" dirty="0"/>
              <a:t>toluene</a:t>
            </a:r>
          </a:p>
          <a:p>
            <a:r>
              <a:rPr lang="en-US" altLang="zh-TW" sz="2000" dirty="0"/>
              <a:t>16</a:t>
            </a:r>
            <a:r>
              <a:rPr lang="zh-TW" altLang="en-US" sz="2000" dirty="0"/>
              <a:t>顆 </a:t>
            </a:r>
            <a:r>
              <a:rPr lang="en-US" altLang="zh-TW" sz="2000" dirty="0"/>
              <a:t>MOS</a:t>
            </a:r>
            <a:r>
              <a:rPr lang="zh-TW" altLang="en-US" sz="2000" dirty="0"/>
              <a:t> </a:t>
            </a:r>
            <a:r>
              <a:rPr lang="en-US" altLang="zh-TW" sz="2000" dirty="0"/>
              <a:t>array</a:t>
            </a:r>
          </a:p>
          <a:p>
            <a:r>
              <a:rPr lang="en-US" altLang="zh-TW" sz="2000" dirty="0"/>
              <a:t>8</a:t>
            </a:r>
            <a:r>
              <a:rPr lang="zh-TW" altLang="en-US" sz="2000" dirty="0"/>
              <a:t>種特徵：</a:t>
            </a:r>
            <a:r>
              <a:rPr lang="en-US" altLang="zh-TW" sz="2000" dirty="0" err="1"/>
              <a:t>R</a:t>
            </a:r>
            <a:r>
              <a:rPr lang="en-US" altLang="zh-TW" sz="2000" baseline="-25000" dirty="0" err="1"/>
              <a:t>max</a:t>
            </a:r>
            <a:r>
              <a:rPr lang="zh-TW" altLang="en-US" sz="2000" dirty="0"/>
              <a:t>、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R</a:t>
            </a:r>
            <a:r>
              <a:rPr lang="en-US" altLang="zh-TW" sz="2000" baseline="-25000" dirty="0" err="1"/>
              <a:t>max</a:t>
            </a:r>
            <a:r>
              <a:rPr lang="en-US" altLang="zh-TW" sz="2000" dirty="0"/>
              <a:t> – R</a:t>
            </a:r>
            <a:r>
              <a:rPr lang="en-US" altLang="zh-TW" sz="2000" baseline="-25000" dirty="0"/>
              <a:t>o</a:t>
            </a:r>
            <a:r>
              <a:rPr lang="en-US" altLang="zh-TW" sz="2000" dirty="0"/>
              <a:t>)/R</a:t>
            </a:r>
            <a:r>
              <a:rPr lang="en-US" altLang="zh-TW" sz="2000" baseline="-25000" dirty="0"/>
              <a:t>o</a:t>
            </a:r>
            <a:r>
              <a:rPr lang="zh-TW" altLang="en-US" sz="2000" dirty="0"/>
              <a:t>、三個不同參數的上升與衰減</a:t>
            </a:r>
            <a:r>
              <a:rPr lang="en-US" altLang="zh-TW" sz="2000" dirty="0"/>
              <a:t>EMA	</a:t>
            </a:r>
          </a:p>
        </p:txBody>
      </p:sp>
    </p:spTree>
    <p:extLst>
      <p:ext uri="{BB962C8B-B14F-4D97-AF65-F5344CB8AC3E}">
        <p14:creationId xmlns:p14="http://schemas.microsoft.com/office/powerpoint/2010/main" val="1934456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8814-1431-433E-84DD-4812C58F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 </a:t>
            </a:r>
            <a:r>
              <a:rPr lang="en-US" altLang="zh-TW" sz="2700" dirty="0"/>
              <a:t>Performance differences between CDCNN and CDWC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99E36-3E2C-454A-AEF5-24A4BAE6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图片 1" descr="图表&#10;&#10;描述已自动生成">
            <a:extLst>
              <a:ext uri="{FF2B5EF4-FFF2-40B4-BE49-F238E27FC236}">
                <a16:creationId xmlns:a16="http://schemas.microsoft.com/office/drawing/2014/main" id="{74C59661-D5A9-4F49-9561-32045EDB032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"/>
          <a:stretch/>
        </p:blipFill>
        <p:spPr bwMode="auto">
          <a:xfrm>
            <a:off x="582930" y="1111607"/>
            <a:ext cx="6286500" cy="24784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图片 17" descr="图表&#10;&#10;描述已自动生成">
            <a:extLst>
              <a:ext uri="{FF2B5EF4-FFF2-40B4-BE49-F238E27FC236}">
                <a16:creationId xmlns:a16="http://schemas.microsoft.com/office/drawing/2014/main" id="{255EC01B-7AD2-42D7-A479-68016B831F6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71700" y="3772640"/>
            <a:ext cx="6515100" cy="2766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25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1366-542D-49F6-A087-F642879B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各式方法比較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5FA307-E241-43FF-9236-E481CDDC3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0766" y="1254125"/>
            <a:ext cx="5559234" cy="492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1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實驗設計：照 Fig. 2 重建架構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25880" y="1115568"/>
            <a:ext cx="736092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lang="zh-TW" altLang="en-US" sz="1200" b="1" i="0" dirty="0">
                <a:solidFill>
                  <a:srgbClr val="1F497D"/>
                </a:solidFill>
              </a:rPr>
              <a:t>復刻論文的架構</a:t>
            </a:r>
            <a:r>
              <a:rPr sz="1200" b="1" i="0" dirty="0">
                <a:solidFill>
                  <a:srgbClr val="1F497D"/>
                </a:solidFill>
              </a:rPr>
              <a:t>，</a:t>
            </a:r>
            <a:r>
              <a:rPr sz="1200" b="1" i="0" dirty="0" err="1">
                <a:solidFill>
                  <a:srgbClr val="1F497D"/>
                </a:solidFill>
              </a:rPr>
              <a:t>只用</a:t>
            </a:r>
            <a:r>
              <a:rPr lang="en-CA" sz="1200" b="1" i="0" dirty="0">
                <a:solidFill>
                  <a:srgbClr val="1F497D"/>
                </a:solidFill>
              </a:rPr>
              <a:t> batch1 </a:t>
            </a:r>
            <a:r>
              <a:rPr sz="1200" b="1" i="0" dirty="0" err="1">
                <a:solidFill>
                  <a:srgbClr val="1F497D"/>
                </a:solidFill>
              </a:rPr>
              <a:t>資料訓練，再看</a:t>
            </a:r>
            <a:r>
              <a:rPr lang="en-CA" sz="1200" b="1" i="0" dirty="0">
                <a:solidFill>
                  <a:srgbClr val="1F497D"/>
                </a:solidFill>
              </a:rPr>
              <a:t>model</a:t>
            </a:r>
            <a:r>
              <a:rPr sz="1200" b="1" i="0" dirty="0">
                <a:solidFill>
                  <a:srgbClr val="1F497D"/>
                </a:solidFill>
              </a:rPr>
              <a:t>在</a:t>
            </a:r>
            <a:r>
              <a:rPr lang="en-CA" sz="1200" b="1" i="0" dirty="0">
                <a:solidFill>
                  <a:srgbClr val="1F497D"/>
                </a:solidFill>
              </a:rPr>
              <a:t> batch2-9 </a:t>
            </a:r>
            <a:r>
              <a:rPr sz="1200" b="1" i="0" dirty="0" err="1">
                <a:solidFill>
                  <a:srgbClr val="1F497D"/>
                </a:solidFill>
              </a:rPr>
              <a:t>的表現</a:t>
            </a:r>
            <a:r>
              <a:rPr sz="1200" b="1" i="0" dirty="0">
                <a:solidFill>
                  <a:srgbClr val="1F497D"/>
                </a:solidFill>
              </a:rPr>
              <a:t>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959" y="1436840"/>
            <a:ext cx="7103964" cy="4173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1654" y="5697077"/>
            <a:ext cx="5470574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 dirty="0" err="1">
                <a:solidFill>
                  <a:srgbClr val="595959"/>
                </a:solidFill>
              </a:rPr>
              <a:t>論文</a:t>
            </a:r>
            <a:r>
              <a:rPr sz="1000" b="0" i="1" dirty="0">
                <a:solidFill>
                  <a:srgbClr val="595959"/>
                </a:solidFill>
              </a:rPr>
              <a:t> Fig. 2：五個一維 </a:t>
            </a:r>
            <a:r>
              <a:rPr sz="1000" b="0" i="1" dirty="0" err="1">
                <a:solidFill>
                  <a:srgbClr val="595959"/>
                </a:solidFill>
              </a:rPr>
              <a:t>ResNet</a:t>
            </a:r>
            <a:r>
              <a:rPr sz="1000" b="0" i="1" dirty="0">
                <a:solidFill>
                  <a:srgbClr val="595959"/>
                </a:solidFill>
              </a:rPr>
              <a:t> </a:t>
            </a:r>
            <a:r>
              <a:rPr sz="1000" b="0" i="1" dirty="0" err="1">
                <a:solidFill>
                  <a:srgbClr val="595959"/>
                </a:solidFill>
              </a:rPr>
              <a:t>區塊，攤平後接全連接層；資料擴充與特徵生成只在訓練時作用</a:t>
            </a:r>
            <a:endParaRPr sz="1000" b="0" i="1" dirty="0">
              <a:solidFill>
                <a:srgbClr val="59595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" y="6019796"/>
            <a:ext cx="4206240" cy="51911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1A1A1A"/>
                </a:solidFill>
              </a:rPr>
              <a:t>三個元件</a:t>
            </a:r>
            <a:r>
              <a:rPr lang="zh-TW" altLang="en-US" sz="1400" dirty="0">
                <a:solidFill>
                  <a:srgbClr val="1A1A1A"/>
                </a:solidFill>
              </a:rPr>
              <a:t>逐個</a:t>
            </a:r>
            <a:r>
              <a:rPr sz="1400" b="0" i="0" dirty="0" err="1">
                <a:solidFill>
                  <a:srgbClr val="1A1A1A"/>
                </a:solidFill>
              </a:rPr>
              <a:t>加上</a:t>
            </a:r>
            <a:r>
              <a:rPr sz="1400" b="0" i="0" dirty="0">
                <a:solidFill>
                  <a:srgbClr val="1A1A1A"/>
                </a:solidFill>
              </a:rPr>
              <a:t>：</a:t>
            </a: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A1A1A"/>
                </a:solidFill>
              </a:rPr>
              <a:t>① </a:t>
            </a:r>
            <a:r>
              <a:rPr sz="1400" b="0" i="0" dirty="0" err="1">
                <a:solidFill>
                  <a:srgbClr val="1A1A1A"/>
                </a:solidFill>
              </a:rPr>
              <a:t>資料擴充</a:t>
            </a:r>
            <a:r>
              <a:rPr sz="1400" b="0" i="0" dirty="0">
                <a:solidFill>
                  <a:srgbClr val="1A1A1A"/>
                </a:solidFill>
              </a:rPr>
              <a:t>　② </a:t>
            </a:r>
            <a:r>
              <a:rPr sz="1400" b="0" i="0" dirty="0" err="1">
                <a:solidFill>
                  <a:srgbClr val="1A1A1A"/>
                </a:solidFill>
              </a:rPr>
              <a:t>特徵生成</a:t>
            </a:r>
            <a:r>
              <a:rPr sz="1400" b="0" i="0" dirty="0">
                <a:solidFill>
                  <a:srgbClr val="1A1A1A"/>
                </a:solidFill>
              </a:rPr>
              <a:t>　③ </a:t>
            </a:r>
            <a:r>
              <a:rPr sz="1400" b="0" i="0" dirty="0" err="1">
                <a:solidFill>
                  <a:srgbClr val="1A1A1A"/>
                </a:solidFill>
              </a:rPr>
              <a:t>對比損失</a:t>
            </a:r>
            <a:endParaRPr sz="1400" b="0" i="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論文的</a:t>
            </a:r>
            <a:r>
              <a:rPr sz="2800" dirty="0"/>
              <a:t> </a:t>
            </a:r>
            <a:r>
              <a:rPr sz="2800" dirty="0" err="1"/>
              <a:t>ResNet</a:t>
            </a:r>
            <a:r>
              <a:rPr sz="2800" dirty="0"/>
              <a:t> 0.6346</a:t>
            </a:r>
            <a:r>
              <a:rPr lang="zh-TW" altLang="en-US" sz="2800" dirty="0"/>
              <a:t>，</a:t>
            </a:r>
            <a:r>
              <a:rPr lang="en-US" altLang="zh-TW" sz="2800" dirty="0"/>
              <a:t> baseline</a:t>
            </a:r>
            <a:r>
              <a:rPr lang="zh-TW" altLang="en-US" sz="2800" dirty="0"/>
              <a:t>：</a:t>
            </a:r>
            <a:r>
              <a:rPr lang="en-US" altLang="zh-TW" sz="2800" dirty="0"/>
              <a:t>0.5556</a:t>
            </a:r>
            <a:r>
              <a:rPr lang="zh-TW" altLang="en-US" sz="2800" dirty="0"/>
              <a:t>，</a:t>
            </a:r>
            <a:endParaRPr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Picture 4" descr="baseline-confusion_best.png"/>
          <p:cNvPicPr>
            <a:picLocks noChangeAspect="1"/>
          </p:cNvPicPr>
          <p:nvPr/>
        </p:nvPicPr>
        <p:blipFill rotWithShape="1">
          <a:blip r:embed="rId2"/>
          <a:srcRect t="9371" r="32479"/>
          <a:stretch/>
        </p:blipFill>
        <p:spPr>
          <a:xfrm>
            <a:off x="5377675" y="1661211"/>
            <a:ext cx="3557541" cy="2976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8" y="1911638"/>
            <a:ext cx="5187230" cy="24757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 err="1"/>
              <a:t>元件一</a:t>
            </a:r>
            <a:r>
              <a:rPr sz="2800" dirty="0"/>
              <a:t>：</a:t>
            </a:r>
            <a:r>
              <a:rPr lang="en-CA" sz="2800" dirty="0"/>
              <a:t>Data Augmentation</a:t>
            </a:r>
            <a:endParaRPr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25880" y="1115568"/>
            <a:ext cx="736092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 err="1">
                <a:solidFill>
                  <a:srgbClr val="1F497D"/>
                </a:solidFill>
              </a:rPr>
              <a:t>論文的擴充是加隨機噪聲，加了反而變差；噪聲要</a:t>
            </a:r>
            <a:r>
              <a:rPr lang="zh-TW" altLang="en-US" sz="1200" b="1" i="0" dirty="0">
                <a:solidFill>
                  <a:srgbClr val="1F497D"/>
                </a:solidFill>
              </a:rPr>
              <a:t>符合特徵</a:t>
            </a:r>
            <a:r>
              <a:rPr sz="1200" b="1" i="0" dirty="0" err="1">
                <a:solidFill>
                  <a:srgbClr val="1F497D"/>
                </a:solidFill>
              </a:rPr>
              <a:t>方向才會變好</a:t>
            </a:r>
            <a:r>
              <a:rPr sz="1200" b="1" i="0" dirty="0">
                <a:solidFill>
                  <a:srgbClr val="1F497D"/>
                </a:solidFill>
              </a:rPr>
              <a:t>，</a:t>
            </a:r>
            <a:r>
              <a:rPr lang="zh-TW" altLang="en-US" sz="1200" b="1" dirty="0">
                <a:solidFill>
                  <a:srgbClr val="1F497D"/>
                </a:solidFill>
              </a:rPr>
              <a:t>方向就必須是 </a:t>
            </a:r>
            <a:r>
              <a:rPr lang="en-US" altLang="zh-TW" sz="1200" b="1" dirty="0">
                <a:solidFill>
                  <a:srgbClr val="1F497D"/>
                </a:solidFill>
              </a:rPr>
              <a:t>target-informed</a:t>
            </a:r>
            <a:r>
              <a:rPr sz="1200" b="1" i="0" dirty="0">
                <a:solidFill>
                  <a:srgbClr val="1F497D"/>
                </a:solidFill>
              </a:rPr>
              <a:t>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77663"/>
              </p:ext>
            </p:extLst>
          </p:nvPr>
        </p:nvGraphicFramePr>
        <p:xfrm>
          <a:off x="457200" y="1481328"/>
          <a:ext cx="484632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7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97D"/>
                          </a:solidFill>
                        </a:rPr>
                        <a:t>做法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497D"/>
                          </a:solidFill>
                        </a:rPr>
                        <a:t>target mean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497D"/>
                          </a:solidFill>
                        </a:rPr>
                        <a:t>與基線差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Baseline</a:t>
                      </a:r>
                      <a:endParaRPr sz="1200" b="0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</a:rPr>
                        <a:t>0.5556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A1A1A"/>
                          </a:solidFill>
                        </a:rPr>
                        <a:t>論文的擴充：各方向隨機的噪聲</a:t>
                      </a:r>
                      <a:endParaRPr sz="1200" b="0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</a:rPr>
                        <a:t>0.5340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A1A1A"/>
                          </a:solidFill>
                        </a:rPr>
                        <a:t>−0.0216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沿感測器老化方向推一段距離，不加噪聲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</a:rPr>
                        <a:t>0.5770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+0.0214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augmentation_pca_3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27" y="3172968"/>
            <a:ext cx="8093945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90488"/>
            <a:ext cx="8229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菱形：各格 Acetaldehyde 雲的重心；紅叉：測試批次的 Acetaldehyde 重心；d：兩者在 128 維空間的距離（Batch 1 的前兩個主成分）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 err="1"/>
              <a:t>元件二：</a:t>
            </a:r>
            <a:r>
              <a:rPr lang="en-US" sz="2800" dirty="0" err="1"/>
              <a:t>Feature</a:t>
            </a:r>
            <a:r>
              <a:rPr lang="en-US" sz="2800" dirty="0"/>
              <a:t> Generation</a:t>
            </a:r>
            <a:endParaRPr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25880" y="1115568"/>
            <a:ext cx="736092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 err="1">
                <a:solidFill>
                  <a:srgbClr val="1F497D"/>
                </a:solidFill>
              </a:rPr>
              <a:t>我們畫得出和論文一樣的圖；但它是在</a:t>
            </a:r>
            <a:r>
              <a:rPr lang="en-US" sz="1200" b="1" i="0" dirty="0" err="1">
                <a:solidFill>
                  <a:srgbClr val="1F497D"/>
                </a:solidFill>
              </a:rPr>
              <a:t>testing-batch</a:t>
            </a:r>
            <a:r>
              <a:rPr sz="1200" b="1" i="0" dirty="0" err="1">
                <a:solidFill>
                  <a:srgbClr val="1F497D"/>
                </a:solidFill>
              </a:rPr>
              <a:t>上畫的，看不出區塊對沒見過的批次有沒有幫助</a:t>
            </a:r>
            <a:r>
              <a:rPr sz="1200" b="1" i="0" dirty="0">
                <a:solidFill>
                  <a:srgbClr val="1F497D"/>
                </a:solidFill>
              </a:rPr>
              <a:t>。</a:t>
            </a:r>
          </a:p>
        </p:txBody>
      </p:sp>
      <p:pic>
        <p:nvPicPr>
          <p:cNvPr id="5" name="Picture 4" descr="fig5-feature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1451313"/>
            <a:ext cx="4069080" cy="2347690"/>
          </a:xfrm>
          <a:prstGeom prst="rect">
            <a:avLst/>
          </a:prstGeom>
        </p:spPr>
      </p:pic>
      <p:pic>
        <p:nvPicPr>
          <p:cNvPr id="6" name="Picture 5" descr="feature_gen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849" y="3913150"/>
            <a:ext cx="4958861" cy="27359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生成的特徵沒有走到任何後續批次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Picture 4" descr="generation_drift_aligned_2d_b2-7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" y="1595627"/>
            <a:ext cx="9102190" cy="43215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 err="1"/>
              <a:t>元件三：</a:t>
            </a:r>
            <a:r>
              <a:rPr lang="en-US" sz="2800" dirty="0" err="1"/>
              <a:t>Contrastive</a:t>
            </a:r>
            <a:r>
              <a:rPr lang="en-US" sz="2800" dirty="0"/>
              <a:t> Loss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45152"/>
          </a:xfrm>
        </p:spPr>
        <p:txBody>
          <a:bodyPr wrap="square"/>
          <a:lstStyle/>
          <a:p>
            <a:r>
              <a:rPr sz="1700" dirty="0"/>
              <a:t>論文的對比損失（S5）是標準的 Supervised Contrastive </a:t>
            </a:r>
            <a:r>
              <a:rPr sz="1700" dirty="0" err="1"/>
              <a:t>Loss，同一種氣體的原始特徵和生成特徵在單位球上互相拉近</a:t>
            </a:r>
            <a:r>
              <a:rPr sz="1700" dirty="0"/>
              <a:t>：</a:t>
            </a:r>
          </a:p>
          <a:p>
            <a:pPr lvl="1"/>
            <a:r>
              <a:rPr sz="1500" dirty="0" err="1"/>
              <a:t>L_con</a:t>
            </a:r>
            <a:r>
              <a:rPr sz="1500" dirty="0"/>
              <a:t> = − Σᵢ (1/|P(</a:t>
            </a:r>
            <a:r>
              <a:rPr sz="1500" dirty="0" err="1"/>
              <a:t>i</a:t>
            </a:r>
            <a:r>
              <a:rPr sz="1500" dirty="0"/>
              <a:t>)|) Σ_{</a:t>
            </a:r>
            <a:r>
              <a:rPr sz="1500" dirty="0" err="1"/>
              <a:t>p∈P</a:t>
            </a:r>
            <a:r>
              <a:rPr sz="1500" dirty="0"/>
              <a:t>(</a:t>
            </a:r>
            <a:r>
              <a:rPr sz="1500" dirty="0" err="1"/>
              <a:t>i</a:t>
            </a:r>
            <a:r>
              <a:rPr sz="1500" dirty="0"/>
              <a:t>)} log [ exp(f(zᵢ)·f(zₚ)/τ) / Σ_{</a:t>
            </a:r>
            <a:r>
              <a:rPr sz="1500" dirty="0" err="1"/>
              <a:t>a∈A</a:t>
            </a:r>
            <a:r>
              <a:rPr sz="1500" dirty="0"/>
              <a:t>(</a:t>
            </a:r>
            <a:r>
              <a:rPr sz="1500" dirty="0" err="1"/>
              <a:t>i</a:t>
            </a:r>
            <a:r>
              <a:rPr sz="1500" dirty="0"/>
              <a:t>)} exp(f(zᵢ)·f(zₐ)/τ) ]</a:t>
            </a:r>
            <a:endParaRPr sz="1700" dirty="0"/>
          </a:p>
          <a:p>
            <a:r>
              <a:rPr sz="1700" dirty="0" err="1"/>
              <a:t>不跑：要求原始特徵對生成特徵不變，而生成特徵</a:t>
            </a:r>
            <a:r>
              <a:rPr lang="zh-TW" altLang="en-US" sz="1700" dirty="0"/>
              <a:t>並沒有成功涵蓋到 </a:t>
            </a:r>
            <a:r>
              <a:rPr lang="en-US" altLang="zh-TW" sz="1700" dirty="0"/>
              <a:t>target domain</a:t>
            </a:r>
            <a:r>
              <a:rPr lang="zh-TW" altLang="en-US" sz="1700" dirty="0"/>
              <a:t>，因此應該可以推論會失效。</a:t>
            </a:r>
            <a:endParaRPr sz="1700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25880" y="1115568"/>
            <a:ext cx="7360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 err="1">
                <a:solidFill>
                  <a:srgbClr val="1F497D"/>
                </a:solidFill>
              </a:rPr>
              <a:t>它要把原始特徵和生成特徵拉近；但生成特徵本來就在原始特徵旁邊，拉近它換不到對老化的抵抗力</a:t>
            </a:r>
            <a:r>
              <a:rPr sz="1200" b="1" i="0" dirty="0">
                <a:solidFill>
                  <a:srgbClr val="1F497D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 err="1"/>
              <a:t>延伸：把老化方向從輸入裡扣掉</a:t>
            </a:r>
            <a:endParaRPr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25880" y="1115568"/>
            <a:ext cx="736092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 err="1">
                <a:solidFill>
                  <a:srgbClr val="1F497D"/>
                </a:solidFill>
              </a:rPr>
              <a:t>老化主要沿一條方向，Batch</a:t>
            </a:r>
            <a:r>
              <a:rPr sz="1200" b="1" i="0" dirty="0">
                <a:solidFill>
                  <a:srgbClr val="1F497D"/>
                </a:solidFill>
              </a:rPr>
              <a:t> 1 </a:t>
            </a:r>
            <a:r>
              <a:rPr sz="1200" b="1" i="0" dirty="0" err="1">
                <a:solidFill>
                  <a:srgbClr val="1F497D"/>
                </a:solidFill>
              </a:rPr>
              <a:t>自己量得到，就不讓模型看那條方向。</a:t>
            </a:r>
            <a:r>
              <a:rPr lang="en-US" sz="1200" b="1" dirty="0" err="1">
                <a:solidFill>
                  <a:srgbClr val="1F497D"/>
                </a:solidFill>
              </a:rPr>
              <a:t>Target</a:t>
            </a:r>
            <a:r>
              <a:rPr lang="en-US" sz="1200" b="1" dirty="0">
                <a:solidFill>
                  <a:srgbClr val="1F497D"/>
                </a:solidFill>
              </a:rPr>
              <a:t> mean</a:t>
            </a:r>
            <a:r>
              <a:rPr sz="1200" b="1" i="0" dirty="0">
                <a:solidFill>
                  <a:srgbClr val="1F497D"/>
                </a:solidFill>
              </a:rPr>
              <a:t> +0.0128。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787056"/>
              </p:ext>
            </p:extLst>
          </p:nvPr>
        </p:nvGraphicFramePr>
        <p:xfrm>
          <a:off x="457200" y="1616023"/>
          <a:ext cx="4023359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7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F497D"/>
                          </a:solidFill>
                        </a:rPr>
                        <a:t>Batch 1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497D"/>
                          </a:solidFill>
                        </a:rPr>
                        <a:t>幾個月後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F497D"/>
                          </a:solidFill>
                        </a:rPr>
                        <a:t>只留</a:t>
                      </a:r>
                      <a:r>
                        <a:rPr sz="1200" b="1" dirty="0">
                          <a:solidFill>
                            <a:srgbClr val="1F497D"/>
                          </a:solidFill>
                        </a:rPr>
                        <a:t> y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Ethanol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(5, 2)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(9, 2)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 →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A1A1A"/>
                          </a:solidFill>
                        </a:rPr>
                        <a:t>Acetaldehyde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(1, 3)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(5, 3)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1A"/>
                          </a:solidFill>
                        </a:rPr>
                        <a:t>3 →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1363" y="1589803"/>
            <a:ext cx="4023360" cy="1828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1A1A1A"/>
                </a:solidFill>
              </a:rPr>
              <a:t>幾個月後的</a:t>
            </a:r>
            <a:r>
              <a:rPr sz="1300" b="0" i="0" dirty="0">
                <a:solidFill>
                  <a:srgbClr val="1A1A1A"/>
                </a:solidFill>
              </a:rPr>
              <a:t> Acetaldehyde </a:t>
            </a:r>
            <a:r>
              <a:rPr sz="1300" b="0" i="0" dirty="0" err="1">
                <a:solidFill>
                  <a:srgbClr val="1A1A1A"/>
                </a:solidFill>
              </a:rPr>
              <a:t>落在</a:t>
            </a:r>
            <a:r>
              <a:rPr sz="1300" b="0" i="0" dirty="0">
                <a:solidFill>
                  <a:srgbClr val="1A1A1A"/>
                </a:solidFill>
              </a:rPr>
              <a:t> (5, 3)，離 Batch 1 的 Ethanol (5, 2) </a:t>
            </a:r>
            <a:r>
              <a:rPr sz="1300" b="0" i="0" dirty="0" err="1">
                <a:solidFill>
                  <a:srgbClr val="1A1A1A"/>
                </a:solidFill>
              </a:rPr>
              <a:t>最近，被判成</a:t>
            </a:r>
            <a:r>
              <a:rPr sz="1300" b="0" i="0" dirty="0">
                <a:solidFill>
                  <a:srgbClr val="1A1A1A"/>
                </a:solidFill>
              </a:rPr>
              <a:t> Ethanol。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1A1A1A"/>
                </a:solidFill>
              </a:rPr>
              <a:t>把 x </a:t>
            </a:r>
            <a:r>
              <a:rPr sz="1300" b="0" i="0" dirty="0" err="1">
                <a:solidFill>
                  <a:srgbClr val="1A1A1A"/>
                </a:solidFill>
              </a:rPr>
              <a:t>扔掉只看</a:t>
            </a:r>
            <a:r>
              <a:rPr sz="1300" b="0" i="0" dirty="0">
                <a:solidFill>
                  <a:srgbClr val="1A1A1A"/>
                </a:solidFill>
              </a:rPr>
              <a:t> </a:t>
            </a:r>
            <a:r>
              <a:rPr sz="1300" b="0" i="0" dirty="0" err="1">
                <a:solidFill>
                  <a:srgbClr val="1A1A1A"/>
                </a:solidFill>
              </a:rPr>
              <a:t>y，兩種氣體不管過多久都在原地。真實資料是</a:t>
            </a:r>
            <a:r>
              <a:rPr sz="1300" b="0" i="0" dirty="0">
                <a:solidFill>
                  <a:srgbClr val="1A1A1A"/>
                </a:solidFill>
              </a:rPr>
              <a:t> 128 </a:t>
            </a:r>
            <a:r>
              <a:rPr sz="1300" b="0" i="0" dirty="0" err="1">
                <a:solidFill>
                  <a:srgbClr val="1A1A1A"/>
                </a:solidFill>
              </a:rPr>
              <a:t>維，做法一樣</a:t>
            </a:r>
            <a:r>
              <a:rPr sz="1300" b="0" i="0" dirty="0">
                <a:solidFill>
                  <a:srgbClr val="1A1A1A"/>
                </a:solidFill>
              </a:rPr>
              <a:t>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906876"/>
              </p:ext>
            </p:extLst>
          </p:nvPr>
        </p:nvGraphicFramePr>
        <p:xfrm>
          <a:off x="457200" y="3179416"/>
          <a:ext cx="384751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0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endParaRPr sz="1100" b="1" dirty="0">
                        <a:solidFill>
                          <a:srgbClr val="1F497D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target mean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100" b="1" dirty="0">
                          <a:solidFill>
                            <a:srgbClr val="1F497D"/>
                          </a:solidFill>
                        </a:rPr>
                        <a:t>相較</a:t>
                      </a:r>
                      <a:r>
                        <a:rPr lang="en-US" altLang="zh-TW" sz="1100" b="1" dirty="0">
                          <a:solidFill>
                            <a:srgbClr val="1F497D"/>
                          </a:solidFill>
                        </a:rPr>
                        <a:t>baseline</a:t>
                      </a:r>
                      <a:endParaRPr sz="1100" b="1" dirty="0">
                        <a:solidFill>
                          <a:srgbClr val="1F497D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A1A1A"/>
                          </a:solidFill>
                        </a:rPr>
                        <a:t>baseline</a:t>
                      </a:r>
                      <a:endParaRPr sz="1100" b="0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0.5556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Batch 1 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三種氣體兩次量測的共同方向</a:t>
                      </a:r>
                      <a:endParaRPr sz="1100" b="1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0.5684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+0.0128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三個方向張成的空間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0.5610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+0.0055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A1A1A"/>
                          </a:solidFill>
                        </a:rPr>
                        <a:t>只用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</a:rPr>
                        <a:t> Ethanol </a:t>
                      </a:r>
                      <a:r>
                        <a:rPr sz="1100" b="0" dirty="0" err="1">
                          <a:solidFill>
                            <a:srgbClr val="1A1A1A"/>
                          </a:solidFill>
                        </a:rPr>
                        <a:t>的方向（看過測試資料才知道選它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</a:rPr>
                        <a:t>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0.5747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A1A1A"/>
                          </a:solidFill>
                        </a:rPr>
                        <a:t>+0.0191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51363" y="3327042"/>
            <a:ext cx="3847514" cy="4883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A1A1A"/>
                </a:solidFill>
              </a:rPr>
              <a:t>Batch 1 </a:t>
            </a:r>
            <a:r>
              <a:rPr sz="1300" b="0" i="0" dirty="0" err="1">
                <a:solidFill>
                  <a:srgbClr val="1A1A1A"/>
                </a:solidFill>
              </a:rPr>
              <a:t>量到的方向主要是濃度差異</a:t>
            </a:r>
            <a:r>
              <a:rPr lang="zh-TW" altLang="en-US" sz="1300" b="0" i="0" dirty="0">
                <a:solidFill>
                  <a:srgbClr val="1A1A1A"/>
                </a:solidFill>
              </a:rPr>
              <a:t>而非漂移</a:t>
            </a:r>
            <a:endParaRPr sz="1300" b="0" i="0" dirty="0">
              <a:solidFill>
                <a:srgbClr val="1A1A1A"/>
              </a:solidFill>
            </a:endParaRP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300" b="0" i="0" dirty="0" err="1">
                <a:solidFill>
                  <a:srgbClr val="1A1A1A"/>
                </a:solidFill>
              </a:rPr>
              <a:t>扣掉夠多老化就會連氣體差異一起扣掉</a:t>
            </a:r>
            <a:endParaRPr sz="1300" b="0" i="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實驗結果總表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19</a:t>
            </a:fld>
            <a:endParaRPr lang="zh-TW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017767"/>
              </p:ext>
            </p:extLst>
          </p:nvPr>
        </p:nvGraphicFramePr>
        <p:xfrm>
          <a:off x="360485" y="1730577"/>
          <a:ext cx="8018584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8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1F497D"/>
                          </a:solidFill>
                        </a:rPr>
                        <a:t>元件</a:t>
                      </a:r>
                      <a:endParaRPr sz="1600" b="1" dirty="0">
                        <a:solidFill>
                          <a:srgbClr val="1F497D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600" b="1" dirty="0">
                          <a:solidFill>
                            <a:srgbClr val="1F497D"/>
                          </a:solidFill>
                        </a:rPr>
                        <a:t>實驗</a:t>
                      </a:r>
                      <a:endParaRPr sz="1600" b="1" dirty="0">
                        <a:solidFill>
                          <a:srgbClr val="1F497D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F497D"/>
                          </a:solidFill>
                        </a:rPr>
                        <a:t>論文宣稱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A1A1A"/>
                          </a:solidFill>
                        </a:rPr>
                        <a:t>Data augmentation</a:t>
                      </a:r>
                      <a:r>
                        <a:rPr lang="en-US" altLang="zh-TW" sz="1600" b="0" dirty="0">
                          <a:solidFill>
                            <a:srgbClr val="1A1A1A"/>
                          </a:solidFill>
                        </a:rPr>
                        <a:t>(Gaussian noise as paper)</a:t>
                      </a:r>
                      <a:endParaRPr sz="1600" b="0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</a:rPr>
                        <a:t>−0.0216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+0.036（含特徵生成）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rgbClr val="1A1A1A"/>
                          </a:solidFill>
                        </a:rPr>
                        <a:t>Data augmentation(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</a:rPr>
                        <a:t>target-informed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</a:rPr>
                        <a:t>+0.0214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1A1A1A"/>
                          </a:solidFill>
                        </a:rPr>
                        <a:t>特徵生成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 + L</a:t>
                      </a:r>
                      <a:r>
                        <a:rPr sz="1600" b="0" baseline="-25000" dirty="0">
                          <a:solidFill>
                            <a:srgbClr val="1A1A1A"/>
                          </a:solidFill>
                        </a:rPr>
                        <a:t>MSE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A1A1A"/>
                          </a:solidFill>
                        </a:rPr>
                        <a:t>+0.0004</a:t>
                      </a:r>
                      <a:endParaRPr sz="1600" b="0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（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</a:rPr>
                        <a:t>含在上列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）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1A1A1A"/>
                          </a:solidFill>
                        </a:rPr>
                        <a:t>對比損失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</a:rPr>
                        <a:t>L</a:t>
                      </a:r>
                      <a:r>
                        <a:rPr sz="1600" b="0" baseline="-25000" dirty="0" err="1">
                          <a:solidFill>
                            <a:srgbClr val="1A1A1A"/>
                          </a:solidFill>
                        </a:rPr>
                        <a:t>con</a:t>
                      </a:r>
                      <a:endParaRPr sz="1600" b="0" baseline="-25000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b="0" dirty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+0.053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1A1A1A"/>
                          </a:solidFill>
                        </a:rPr>
                        <a:t>延伸：扣掉老化方向</a:t>
                      </a:r>
                      <a:endParaRPr sz="1600" b="0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+0.0128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 err="1"/>
              <a:t>文獻對照</a:t>
            </a:r>
            <a:r>
              <a:rPr sz="2800" dirty="0"/>
              <a:t>：</a:t>
            </a:r>
            <a:r>
              <a:rPr lang="zh-TW" altLang="en-US" sz="2800" dirty="0"/>
              <a:t>同分</a:t>
            </a:r>
            <a:r>
              <a:rPr lang="en-US" altLang="zh-TW" sz="2800" dirty="0"/>
              <a:t>UCI dataset</a:t>
            </a:r>
            <a:r>
              <a:rPr lang="zh-TW" altLang="en-US" sz="2800" dirty="0"/>
              <a:t>的其他論文</a:t>
            </a:r>
            <a:endParaRPr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25880" y="1115568"/>
            <a:ext cx="7360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497D"/>
                </a:solidFill>
              </a:rPr>
              <a:t>同一設定（Batch 1 訓練、Batch 2–10 測試）下各方法的架構，以及用了多少、用什麼方式的測試批次資料。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098045"/>
              </p:ext>
            </p:extLst>
          </p:nvPr>
        </p:nvGraphicFramePr>
        <p:xfrm>
          <a:off x="457200" y="1481328"/>
          <a:ext cx="8229600" cy="4169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97D"/>
                          </a:solidFill>
                        </a:rPr>
                        <a:t>文獻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97D"/>
                          </a:solidFill>
                        </a:rPr>
                        <a:t>主要架構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97D"/>
                          </a:solidFill>
                        </a:rPr>
                        <a:t>source 怎麼用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97D"/>
                          </a:solidFill>
                        </a:rPr>
                        <a:t>target 怎麼用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F497D"/>
                          </a:solidFill>
                        </a:rPr>
                        <a:t>平均 (%)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Vergara 2012（資料集原論文）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SVM，RBF 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全部有標籤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1A1A1A"/>
                          </a:solidFill>
                        </a:rPr>
                        <a:t>不用</a:t>
                      </a:r>
                      <a:endParaRPr sz="950" b="1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dirty="0">
                          <a:solidFill>
                            <a:srgbClr val="1A1A1A"/>
                          </a:solidFill>
                        </a:rPr>
                        <a:t>38.9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Vergara 2012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SVM，測地流核（GFK）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1A1A1A"/>
                          </a:solidFill>
                        </a:rPr>
                        <a:t>每個測試批次的無標籤樣本，用來建核</a:t>
                      </a:r>
                      <a:endParaRPr sz="950" b="0" dirty="0">
                        <a:solidFill>
                          <a:srgbClr val="1A1A1A"/>
                        </a:solidFill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</a:rPr>
                        <a:t>64.0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Vergara 2012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流形正則化（ML-comgfk）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無標籤樣本，半監督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</a:rPr>
                        <a:t>67.3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Yi 2019 表內的 OSC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正交訊號校正 + 分類器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</a:rPr>
                        <a:t>不用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dirty="0">
                          <a:solidFill>
                            <a:srgbClr val="1A1A1A"/>
                          </a:solidFill>
                        </a:rPr>
                        <a:t>56.5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Zhang 2015（DAELM）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極限學習機 + 域適應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每個測試批次 20–50 筆有標籤校正樣本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</a:rPr>
                        <a:t>80.8–91.9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Zhang 2017（DRCA）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線性子空間投影 + 分類器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無標籤樣本，對齊兩域平均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dirty="0">
                          <a:solidFill>
                            <a:srgbClr val="1A1A1A"/>
                          </a:solidFill>
                        </a:rPr>
                        <a:t>62.2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Yi 2019（D-DRCA）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同上，加入 source 標籤的判別項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無標籤樣本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</a:rPr>
                        <a:t>73.8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AMDS-PFFA 2024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CNN + 注意力，多源域適應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與 2 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無標籤樣本，對齊特徵分布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</a:rPr>
                        <a:t>83.2（加權）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KD 2025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全連接網路 + 知識蒸餾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每批一半無標籤，做偽標籤與調參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</a:rPr>
                        <a:t>47.9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CDCNN 2024（本篇）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一維 ResNet + 擴充 + 特徵生成 + 對比損失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Batch 1 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</a:rPr>
                        <a:t>宣稱不用；Fig. 5 用了 batch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</a:rPr>
                        <a:t>63.5 / 72.3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</a:rPr>
                        <a:t>我們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</a:rPr>
                        <a:t>一維 ResNet，照 Fig. 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</a:rPr>
                        <a:t>Batch 1 有標籤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</a:rPr>
                        <a:t>不用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dirty="0">
                          <a:solidFill>
                            <a:srgbClr val="1A1A1A"/>
                          </a:solidFill>
                        </a:rPr>
                        <a:t>55.6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33288"/>
            <a:ext cx="822960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 err="1">
                <a:solidFill>
                  <a:srgbClr val="1A1A1A"/>
                </a:solidFill>
              </a:rPr>
              <a:t>不用測試批次資料的只有三</a:t>
            </a:r>
            <a:r>
              <a:rPr lang="zh-TW" altLang="en-US" sz="1600" b="1" dirty="0">
                <a:solidFill>
                  <a:srgbClr val="1A1A1A"/>
                </a:solidFill>
              </a:rPr>
              <a:t>則</a:t>
            </a:r>
            <a:r>
              <a:rPr sz="1600" b="1" i="0" dirty="0">
                <a:solidFill>
                  <a:srgbClr val="1A1A1A"/>
                </a:solidFill>
              </a:rPr>
              <a:t>，</a:t>
            </a:r>
            <a:r>
              <a:rPr lang="en-US" sz="1600" b="1" i="0" dirty="0">
                <a:solidFill>
                  <a:srgbClr val="1A1A1A"/>
                </a:solidFill>
              </a:rPr>
              <a:t>target </a:t>
            </a:r>
            <a:r>
              <a:rPr lang="en-US" sz="1600" b="1" i="0" dirty="0" err="1">
                <a:solidFill>
                  <a:srgbClr val="1A1A1A"/>
                </a:solidFill>
              </a:rPr>
              <a:t>mean</a:t>
            </a:r>
            <a:r>
              <a:rPr sz="1600" b="1" i="0" dirty="0" err="1">
                <a:solidFill>
                  <a:srgbClr val="1A1A1A"/>
                </a:solidFill>
              </a:rPr>
              <a:t>都在</a:t>
            </a:r>
            <a:r>
              <a:rPr sz="1600" b="1" i="0" dirty="0">
                <a:solidFill>
                  <a:srgbClr val="1A1A1A"/>
                </a:solidFill>
              </a:rPr>
              <a:t> 60% </a:t>
            </a:r>
            <a:r>
              <a:rPr sz="1600" b="1" i="0" dirty="0" err="1">
                <a:solidFill>
                  <a:srgbClr val="1A1A1A"/>
                </a:solidFill>
              </a:rPr>
              <a:t>以下</a:t>
            </a:r>
            <a:r>
              <a:rPr sz="1600" b="1" i="0" dirty="0">
                <a:solidFill>
                  <a:srgbClr val="1A1A1A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45152"/>
          </a:xfrm>
        </p:spPr>
        <p:txBody>
          <a:bodyPr wrap="square"/>
          <a:lstStyle/>
          <a:p>
            <a:r>
              <a:rPr sz="1800" dirty="0" err="1"/>
              <a:t>只用</a:t>
            </a:r>
            <a:r>
              <a:rPr sz="1800" dirty="0"/>
              <a:t> Batch 1 </a:t>
            </a:r>
            <a:r>
              <a:rPr sz="1800" dirty="0" err="1"/>
              <a:t>的規則下，照論文重建的網路得到</a:t>
            </a:r>
            <a:r>
              <a:rPr sz="1800" dirty="0"/>
              <a:t> 0.5556；</a:t>
            </a:r>
            <a:r>
              <a:rPr lang="zh-TW" altLang="en-US" sz="1800" dirty="0"/>
              <a:t>逐次加入</a:t>
            </a:r>
            <a:r>
              <a:rPr sz="1800" dirty="0" err="1"/>
              <a:t>三個元件，資料擴充變差、特徵生成等於零、對比損失的前提已</a:t>
            </a:r>
            <a:r>
              <a:rPr lang="zh-TW" altLang="en-US" sz="1800" dirty="0"/>
              <a:t>失效</a:t>
            </a:r>
            <a:endParaRPr lang="en-US" sz="1800" dirty="0"/>
          </a:p>
          <a:p>
            <a:r>
              <a:rPr sz="1800" dirty="0" err="1"/>
              <a:t>不看測試資料的模型是現實中比較需要的，但這份資料集上</a:t>
            </a:r>
            <a:r>
              <a:rPr lang="zh-TW" altLang="en-US" sz="1800" dirty="0"/>
              <a:t>的文獻 </a:t>
            </a:r>
            <a:r>
              <a:rPr lang="en-US" altLang="zh-TW" sz="1800" dirty="0"/>
              <a:t>target mean</a:t>
            </a:r>
            <a:r>
              <a:rPr lang="zh-TW" altLang="en-US" sz="1800" dirty="0"/>
              <a:t>都未</a:t>
            </a:r>
            <a:r>
              <a:rPr sz="1800" dirty="0" err="1"/>
              <a:t>超過</a:t>
            </a:r>
            <a:r>
              <a:rPr sz="1800" dirty="0"/>
              <a:t> 60%</a:t>
            </a:r>
            <a:endParaRPr lang="en-US" sz="1800" dirty="0"/>
          </a:p>
          <a:p>
            <a:r>
              <a:rPr sz="1800" dirty="0" err="1"/>
              <a:t>文獻的</a:t>
            </a:r>
            <a:r>
              <a:rPr lang="zh-TW" altLang="en-US" sz="1800" dirty="0"/>
              <a:t>優化</a:t>
            </a:r>
            <a:r>
              <a:rPr sz="1800" dirty="0" err="1"/>
              <a:t>主流是讓</a:t>
            </a:r>
            <a:r>
              <a:rPr lang="en-US" sz="1800" dirty="0"/>
              <a:t> target domain </a:t>
            </a:r>
            <a:r>
              <a:rPr sz="1800" dirty="0" err="1"/>
              <a:t>的無標籤資料參與</a:t>
            </a:r>
            <a:r>
              <a:rPr lang="en-US" sz="1800" dirty="0"/>
              <a:t> alignment</a:t>
            </a:r>
            <a:endParaRPr sz="1800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B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8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BME" id="{AA7E6EA0-1D5F-409F-956C-E3D4A11D80D7}" vid="{AE300734-491F-41D7-B009-1A9C00DED95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NBME</Template>
  <TotalTime>71869</TotalTime>
  <Words>1233</Words>
  <Application>Microsoft Office PowerPoint</Application>
  <PresentationFormat>On-screen Show (4:3)</PresentationFormat>
  <Paragraphs>224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標楷體</vt:lpstr>
      <vt:lpstr>Arial</vt:lpstr>
      <vt:lpstr>Calibri</vt:lpstr>
      <vt:lpstr>Cambria</vt:lpstr>
      <vt:lpstr>Times New Roman</vt:lpstr>
      <vt:lpstr>NBME</vt:lpstr>
      <vt:lpstr>Contrastive domain generalization convolution neural network correcting the drift of gas sensors  Sensors and Actuators A: Physical, 2024 Jifeng Chu , Renhong Yao , Xianbo Huang </vt:lpstr>
      <vt:lpstr>目錄</vt:lpstr>
      <vt:lpstr>問題與既有方法</vt:lpstr>
      <vt:lpstr>Domain generalization and Contrastive learning</vt:lpstr>
      <vt:lpstr>Methodology: CDCNN Contrastive domain generalization convolution neural network</vt:lpstr>
      <vt:lpstr>Data augmentation</vt:lpstr>
      <vt:lpstr>Feature Generation</vt:lpstr>
      <vt:lpstr>Loss Function</vt:lpstr>
      <vt:lpstr>Dataset: UCI long-term sensor drift dataset </vt:lpstr>
      <vt:lpstr> Performance differences between CDCNN and CDWC</vt:lpstr>
      <vt:lpstr>各式方法比較</vt:lpstr>
      <vt:lpstr>實驗設計：照 Fig. 2 重建架構</vt:lpstr>
      <vt:lpstr>論文的 ResNet 0.6346， baseline：0.5556，</vt:lpstr>
      <vt:lpstr>元件一：Data Augmentation</vt:lpstr>
      <vt:lpstr>元件二：Feature Generation</vt:lpstr>
      <vt:lpstr>生成的特徵沒有走到任何後續批次</vt:lpstr>
      <vt:lpstr>元件三：Contrastive Loss</vt:lpstr>
      <vt:lpstr>延伸：把老化方向從輸入裡扣掉</vt:lpstr>
      <vt:lpstr>實驗結果總表</vt:lpstr>
      <vt:lpstr>文獻對照：同分UCI dataset的其他論文</vt:lpstr>
      <vt:lpstr>結論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邦均 劉</dc:creator>
  <cp:lastModifiedBy>Yvonne Chen</cp:lastModifiedBy>
  <cp:revision>2152</cp:revision>
  <cp:lastPrinted>2026-09-29T05:22:58Z</cp:lastPrinted>
  <dcterms:created xsi:type="dcterms:W3CDTF">2022-06-23T07:26:37Z</dcterms:created>
  <dcterms:modified xsi:type="dcterms:W3CDTF">2026-10-06T02:18:09Z</dcterms:modified>
</cp:coreProperties>
</file>