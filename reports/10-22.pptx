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23"/>
  </p:notesMasterIdLst>
  <p:sldIdLst>
    <p:sldId id="315" r:id="rId2"/>
    <p:sldId id="339" r:id="rId30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3"/>
    <p:sldId id="329" r:id="rId14"/>
    <p:sldId id="331" r:id="rId15"/>
    <p:sldId id="332" r:id="rId16"/>
    <p:sldId id="333" r:id="rId17"/>
    <p:sldId id="334" r:id="rId18"/>
    <p:sldId id="335" r:id="rId19"/>
    <p:sldId id="336" r:id="rId20"/>
    <p:sldId id="337" r:id="rId21"/>
    <p:sldId id="338" r:id="rId2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9" d="100"/>
          <a:sy n="109" d="100"/>
        </p:scale>
        <p:origin x="1458" y="10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lang="zh-TW" altLang="en-US" sz="1200" b="1" i="0" dirty="0">
                <a:solidFill>
                  <a:srgbClr val="1F497D"/>
                </a:solidFill>
              </a:rPr>
              <a:t>復刻論文的架構</a:t>
            </a:r>
            <a:r>
              <a:rPr sz="1200" b="1" i="0" dirty="0">
                <a:solidFill>
                  <a:srgbClr val="1F497D"/>
                </a:solidFill>
              </a:rPr>
              <a:t>，</a:t>
            </a:r>
            <a:r>
              <a:rPr sz="1200" b="1" i="0" dirty="0" err="1">
                <a:solidFill>
                  <a:srgbClr val="1F497D"/>
                </a:solidFill>
              </a:rPr>
              <a:t>只用</a:t>
            </a:r>
            <a:r>
              <a:rPr lang="en-CA" sz="1200" b="1" i="0" dirty="0">
                <a:solidFill>
                  <a:srgbClr val="1F497D"/>
                </a:solidFill>
              </a:rPr>
              <a:t> batch1 </a:t>
            </a:r>
            <a:r>
              <a:rPr sz="1200" b="1" i="0" dirty="0" err="1">
                <a:solidFill>
                  <a:srgbClr val="1F497D"/>
                </a:solidFill>
              </a:rPr>
              <a:t>資料訓練，再看</a:t>
            </a:r>
            <a:r>
              <a:rPr lang="en-CA" sz="1200" b="1" i="0" dirty="0">
                <a:solidFill>
                  <a:srgbClr val="1F497D"/>
                </a:solidFill>
              </a:rPr>
              <a:t>model</a:t>
            </a:r>
            <a:r>
              <a:rPr sz="1200" b="1" i="0" dirty="0">
                <a:solidFill>
                  <a:srgbClr val="1F497D"/>
                </a:solidFill>
              </a:rPr>
              <a:t>在</a:t>
            </a:r>
            <a:r>
              <a:rPr lang="en-CA" sz="1200" b="1" i="0" dirty="0">
                <a:solidFill>
                  <a:srgbClr val="1F497D"/>
                </a:solidFill>
              </a:rPr>
              <a:t> batch2-9 </a:t>
            </a:r>
            <a:r>
              <a:rPr sz="1200" b="1" i="0" dirty="0" err="1">
                <a:solidFill>
                  <a:srgbClr val="1F497D"/>
                </a:solidFill>
              </a:rPr>
              <a:t>的表現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959" y="1436840"/>
            <a:ext cx="7103964" cy="4173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1654" y="5697077"/>
            <a:ext cx="5470574" cy="19082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 dirty="0" err="1">
                <a:solidFill>
                  <a:srgbClr val="595959"/>
                </a:solidFill>
              </a:rPr>
              <a:t>論文</a:t>
            </a:r>
            <a:r>
              <a:rPr sz="1000" b="0" i="1" dirty="0">
                <a:solidFill>
                  <a:srgbClr val="595959"/>
                </a:solidFill>
              </a:rPr>
              <a:t> Fig. 2：五個一維 </a:t>
            </a:r>
            <a:r>
              <a:rPr sz="1000" b="0" i="1" dirty="0" err="1">
                <a:solidFill>
                  <a:srgbClr val="595959"/>
                </a:solidFill>
              </a:rPr>
              <a:t>ResNet</a:t>
            </a:r>
            <a:r>
              <a:rPr sz="1000" b="0" i="1" dirty="0">
                <a:solidFill>
                  <a:srgbClr val="595959"/>
                </a:solidFill>
              </a:rPr>
              <a:t> </a:t>
            </a:r>
            <a:r>
              <a:rPr sz="1000" b="0" i="1" dirty="0" err="1">
                <a:solidFill>
                  <a:srgbClr val="595959"/>
                </a:solidFill>
              </a:rPr>
              <a:t>區塊，攤平後接全連接層；資料擴充與特徵生成只在訓練時作用</a:t>
            </a:r>
            <a:endParaRPr sz="1000" b="0" i="1" dirty="0">
              <a:solidFill>
                <a:srgbClr val="595959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" y="6019796"/>
            <a:ext cx="4206240" cy="51911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 dirty="0" err="1">
                <a:solidFill>
                  <a:srgbClr val="1A1A1A"/>
                </a:solidFill>
              </a:rPr>
              <a:t>三個元件</a:t>
            </a:r>
            <a:r>
              <a:rPr lang="zh-TW" altLang="en-US" sz="1400" dirty="0">
                <a:solidFill>
                  <a:srgbClr val="1A1A1A"/>
                </a:solidFill>
              </a:rPr>
              <a:t>逐個</a:t>
            </a:r>
            <a:r>
              <a:rPr sz="1400" b="0" i="0" dirty="0" err="1">
                <a:solidFill>
                  <a:srgbClr val="1A1A1A"/>
                </a:solidFill>
              </a:rPr>
              <a:t>加上</a:t>
            </a:r>
            <a:r>
              <a:rPr sz="1400" b="0" i="0" dirty="0">
                <a:solidFill>
                  <a:srgbClr val="1A1A1A"/>
                </a:solidFill>
              </a:rPr>
              <a:t>：</a:t>
            </a:r>
          </a:p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A1A1A"/>
                </a:solidFill>
              </a:rPr>
              <a:t>① </a:t>
            </a:r>
            <a:r>
              <a:rPr sz="1400" b="0" i="0" dirty="0" err="1">
                <a:solidFill>
                  <a:srgbClr val="1A1A1A"/>
                </a:solidFill>
              </a:rPr>
              <a:t>資料擴充</a:t>
            </a:r>
            <a:r>
              <a:rPr sz="1400" b="0" i="0" dirty="0">
                <a:solidFill>
                  <a:srgbClr val="1A1A1A"/>
                </a:solidFill>
              </a:rPr>
              <a:t>　② </a:t>
            </a:r>
            <a:r>
              <a:rPr sz="1400" b="0" i="0" dirty="0" err="1">
                <a:solidFill>
                  <a:srgbClr val="1A1A1A"/>
                </a:solidFill>
              </a:rPr>
              <a:t>特徵生成</a:t>
            </a:r>
            <a:r>
              <a:rPr sz="1400" b="0" i="0" dirty="0">
                <a:solidFill>
                  <a:srgbClr val="1A1A1A"/>
                </a:solidFill>
              </a:rPr>
              <a:t>　③ </a:t>
            </a:r>
            <a:r>
              <a:rPr sz="1400" b="0" i="0" dirty="0" err="1">
                <a:solidFill>
                  <a:srgbClr val="1A1A1A"/>
                </a:solidFill>
              </a:rPr>
              <a:t>對比損失</a:t>
            </a:r>
            <a:endParaRPr sz="14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論文的</a:t>
            </a:r>
            <a:r>
              <a:rPr sz="2800" dirty="0"/>
              <a:t> </a:t>
            </a:r>
            <a:r>
              <a:rPr sz="2800" dirty="0" err="1"/>
              <a:t>ResNet</a:t>
            </a:r>
            <a:r>
              <a:rPr sz="2800" dirty="0"/>
              <a:t> 0.6346</a:t>
            </a:r>
            <a:r>
              <a:rPr lang="zh-TW" altLang="en-US" sz="2800" dirty="0"/>
              <a:t>，</a:t>
            </a:r>
            <a:r>
              <a:rPr lang="en-US" altLang="zh-TW" sz="2800" dirty="0"/>
              <a:t> baseline</a:t>
            </a:r>
            <a:r>
              <a:rPr lang="zh-TW" altLang="en-US" sz="2800" dirty="0"/>
              <a:t>：</a:t>
            </a:r>
            <a:r>
              <a:rPr lang="en-US" altLang="zh-TW" sz="2800" dirty="0"/>
              <a:t>0.5556</a:t>
            </a:r>
            <a:r>
              <a:rPr lang="zh-TW" altLang="en-US" sz="2800" dirty="0"/>
              <a:t>，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 rotWithShape="1">
          <a:blip r:embed="rId2"/>
          <a:srcRect t="9371" r="32479"/>
          <a:stretch/>
        </p:blipFill>
        <p:spPr>
          <a:xfrm>
            <a:off x="5377675" y="1661211"/>
            <a:ext cx="3557541" cy="2976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68" y="1911638"/>
            <a:ext cx="5187230" cy="2475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元件一</a:t>
            </a:r>
            <a:r>
              <a:rPr sz="2800" dirty="0"/>
              <a:t>：</a:t>
            </a:r>
            <a:r>
              <a:rPr lang="en-CA" sz="2800" dirty="0"/>
              <a:t>Data Augmentation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論文的擴充是加隨機噪聲，加了反而變差；噪聲要</a:t>
            </a:r>
            <a:r>
              <a:rPr lang="zh-TW" altLang="en-US" sz="1200" b="1" i="0" dirty="0">
                <a:solidFill>
                  <a:srgbClr val="1F497D"/>
                </a:solidFill>
              </a:rPr>
              <a:t>符合特徵</a:t>
            </a:r>
            <a:r>
              <a:rPr sz="1200" b="1" i="0" dirty="0" err="1">
                <a:solidFill>
                  <a:srgbClr val="1F497D"/>
                </a:solidFill>
              </a:rPr>
              <a:t>方向才會變好</a:t>
            </a:r>
            <a:r>
              <a:rPr sz="1200" b="1" i="0" dirty="0">
                <a:solidFill>
                  <a:srgbClr val="1F497D"/>
                </a:solidFill>
              </a:rPr>
              <a:t>，</a:t>
            </a:r>
            <a:r>
              <a:rPr lang="zh-TW" altLang="en-US" sz="1200" b="1" dirty="0">
                <a:solidFill>
                  <a:srgbClr val="1F497D"/>
                </a:solidFill>
              </a:rPr>
              <a:t>方向就必須是 </a:t>
            </a:r>
            <a:r>
              <a:rPr lang="en-US" altLang="zh-TW" sz="1200" b="1" dirty="0">
                <a:solidFill>
                  <a:srgbClr val="1F497D"/>
                </a:solidFill>
              </a:rPr>
              <a:t>target-informed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77663"/>
              </p:ext>
            </p:extLst>
          </p:nvPr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0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1A1A1A"/>
                          </a:solidFill>
                        </a:rPr>
                        <a:t>Baseline</a:t>
                      </a:r>
                      <a:endParaRPr sz="12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1A1A1A"/>
                          </a:solidFill>
                        </a:rPr>
                        <a:t>論文的擴充：各方向隨機的噪聲</a:t>
                      </a:r>
                      <a:endParaRPr sz="12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dirty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元件二：</a:t>
            </a:r>
            <a:r>
              <a:rPr lang="en-US" sz="2800" dirty="0" err="1"/>
              <a:t>Feature</a:t>
            </a:r>
            <a:r>
              <a:rPr lang="en-US" sz="2800" dirty="0"/>
              <a:t> Generation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我們畫得出和論文一樣的圖；但它是在</a:t>
            </a:r>
            <a:r>
              <a:rPr lang="en-US" sz="1200" b="1" i="0" dirty="0" err="1">
                <a:solidFill>
                  <a:srgbClr val="1F497D"/>
                </a:solidFill>
              </a:rPr>
              <a:t>testing-batch</a:t>
            </a:r>
            <a:r>
              <a:rPr sz="1200" b="1" i="0" dirty="0" err="1">
                <a:solidFill>
                  <a:srgbClr val="1F497D"/>
                </a:solidFill>
              </a:rPr>
              <a:t>上畫的，看不出區塊對沒見過的批次有沒有幫助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451313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849" y="3913150"/>
            <a:ext cx="4958861" cy="27359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5" y="1595627"/>
            <a:ext cx="9102190" cy="43215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元件三：</a:t>
            </a:r>
            <a:r>
              <a:rPr lang="en-US" sz="2800" dirty="0" err="1"/>
              <a:t>Contrastive</a:t>
            </a:r>
            <a:r>
              <a:rPr lang="en-US" sz="2800" dirty="0"/>
              <a:t> Loss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r>
              <a:rPr sz="1700" dirty="0"/>
              <a:t>論文的對比損失（S5）是標準的 Supervised Contrastive </a:t>
            </a:r>
            <a:r>
              <a:rPr sz="1700" dirty="0" err="1"/>
              <a:t>Loss，同一種氣體的原始特徵和生成特徵在單位球上互相拉近</a:t>
            </a:r>
            <a:r>
              <a:rPr sz="1700" dirty="0"/>
              <a:t>：</a:t>
            </a:r>
          </a:p>
          <a:p>
            <a:pPr lvl="1"/>
            <a:r>
              <a:rPr sz="1500" dirty="0" err="1"/>
              <a:t>L_con</a:t>
            </a:r>
            <a:r>
              <a:rPr sz="1500" dirty="0"/>
              <a:t> = − Σᵢ (1/|P(</a:t>
            </a:r>
            <a:r>
              <a:rPr sz="1500" dirty="0" err="1"/>
              <a:t>i</a:t>
            </a:r>
            <a:r>
              <a:rPr sz="1500" dirty="0"/>
              <a:t>)|) Σ_{</a:t>
            </a:r>
            <a:r>
              <a:rPr sz="1500" dirty="0" err="1"/>
              <a:t>p∈P</a:t>
            </a:r>
            <a:r>
              <a:rPr sz="1500" dirty="0"/>
              <a:t>(</a:t>
            </a:r>
            <a:r>
              <a:rPr sz="1500" dirty="0" err="1"/>
              <a:t>i</a:t>
            </a:r>
            <a:r>
              <a:rPr sz="1500" dirty="0"/>
              <a:t>)} log [ exp(f(zᵢ)·f(zₚ)/τ) / Σ_{</a:t>
            </a:r>
            <a:r>
              <a:rPr sz="1500" dirty="0" err="1"/>
              <a:t>a∈A</a:t>
            </a:r>
            <a:r>
              <a:rPr sz="1500" dirty="0"/>
              <a:t>(</a:t>
            </a:r>
            <a:r>
              <a:rPr sz="1500" dirty="0" err="1"/>
              <a:t>i</a:t>
            </a:r>
            <a:r>
              <a:rPr sz="1500" dirty="0"/>
              <a:t>)} exp(f(zᵢ)·f(zₐ)/τ) ]</a:t>
            </a:r>
            <a:endParaRPr sz="1700" dirty="0"/>
          </a:p>
          <a:p>
            <a:r>
              <a:rPr sz="1700" dirty="0" err="1"/>
              <a:t>不跑：要求原始特徵對生成特徵不變，而生成特徵</a:t>
            </a:r>
            <a:r>
              <a:rPr lang="zh-TW" altLang="en-US" sz="1700" dirty="0"/>
              <a:t>並沒有成功涵蓋到 </a:t>
            </a:r>
            <a:r>
              <a:rPr lang="en-US" altLang="zh-TW" sz="1700" dirty="0"/>
              <a:t>target domain</a:t>
            </a:r>
            <a:r>
              <a:rPr lang="zh-TW" altLang="en-US" sz="1700" dirty="0"/>
              <a:t>，因此應該可以推論會失效。</a:t>
            </a:r>
            <a:endParaRPr sz="1700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延伸：把老化方向從輸入裡扣掉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老化主要沿一條方向，Batch</a:t>
            </a:r>
            <a:r>
              <a:rPr sz="1200" b="1" i="0" dirty="0">
                <a:solidFill>
                  <a:srgbClr val="1F497D"/>
                </a:solidFill>
              </a:rPr>
              <a:t> 1 </a:t>
            </a:r>
            <a:r>
              <a:rPr sz="1200" b="1" i="0" dirty="0" err="1">
                <a:solidFill>
                  <a:srgbClr val="1F497D"/>
                </a:solidFill>
              </a:rPr>
              <a:t>自己量得到，就不讓模型看那條方向。</a:t>
            </a:r>
            <a:r>
              <a:rPr lang="en-US" sz="1200" b="1" dirty="0" err="1">
                <a:solidFill>
                  <a:srgbClr val="1F497D"/>
                </a:solidFill>
              </a:rPr>
              <a:t>Target</a:t>
            </a:r>
            <a:r>
              <a:rPr lang="en-US" sz="1200" b="1" dirty="0">
                <a:solidFill>
                  <a:srgbClr val="1F497D"/>
                </a:solidFill>
              </a:rPr>
              <a:t> mean</a:t>
            </a:r>
            <a:r>
              <a:rPr sz="1200" b="1" i="0" dirty="0">
                <a:solidFill>
                  <a:srgbClr val="1F497D"/>
                </a:solidFill>
              </a:rPr>
              <a:t> +0.0128。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87056"/>
              </p:ext>
            </p:extLst>
          </p:nvPr>
        </p:nvGraphicFramePr>
        <p:xfrm>
          <a:off x="457200" y="1616023"/>
          <a:ext cx="4023359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7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F497D"/>
                          </a:solidFill>
                        </a:rPr>
                        <a:t>只留</a:t>
                      </a:r>
                      <a:r>
                        <a:rPr sz="1200" b="1" dirty="0">
                          <a:solidFill>
                            <a:srgbClr val="1F497D"/>
                          </a:solidFill>
                        </a:rPr>
                        <a:t>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51363" y="1589803"/>
            <a:ext cx="4023360" cy="1828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 err="1">
                <a:solidFill>
                  <a:srgbClr val="1A1A1A"/>
                </a:solidFill>
              </a:rPr>
              <a:t>幾個月後的</a:t>
            </a:r>
            <a:r>
              <a:rPr sz="1300" b="0" i="0" dirty="0">
                <a:solidFill>
                  <a:srgbClr val="1A1A1A"/>
                </a:solidFill>
              </a:rPr>
              <a:t> Acetaldehyde </a:t>
            </a:r>
            <a:r>
              <a:rPr sz="1300" b="0" i="0" dirty="0" err="1">
                <a:solidFill>
                  <a:srgbClr val="1A1A1A"/>
                </a:solidFill>
              </a:rPr>
              <a:t>落在</a:t>
            </a:r>
            <a:r>
              <a:rPr sz="1300" b="0" i="0" dirty="0">
                <a:solidFill>
                  <a:srgbClr val="1A1A1A"/>
                </a:solidFill>
              </a:rPr>
              <a:t> (5, 3)，離 Batch 1 的 Ethanol (5, 2) </a:t>
            </a:r>
            <a:r>
              <a:rPr sz="1300" b="0" i="0" dirty="0" err="1">
                <a:solidFill>
                  <a:srgbClr val="1A1A1A"/>
                </a:solidFill>
              </a:rPr>
              <a:t>最近，被判成</a:t>
            </a:r>
            <a:r>
              <a:rPr sz="1300" b="0" i="0" dirty="0">
                <a:solidFill>
                  <a:srgbClr val="1A1A1A"/>
                </a:solidFill>
              </a:rPr>
              <a:t> Ethanol。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1A1A1A"/>
                </a:solidFill>
              </a:rPr>
              <a:t>把 x </a:t>
            </a:r>
            <a:r>
              <a:rPr sz="1300" b="0" i="0" dirty="0" err="1">
                <a:solidFill>
                  <a:srgbClr val="1A1A1A"/>
                </a:solidFill>
              </a:rPr>
              <a:t>扔掉只看</a:t>
            </a:r>
            <a:r>
              <a:rPr sz="1300" b="0" i="0" dirty="0">
                <a:solidFill>
                  <a:srgbClr val="1A1A1A"/>
                </a:solidFill>
              </a:rPr>
              <a:t> </a:t>
            </a:r>
            <a:r>
              <a:rPr sz="1300" b="0" i="0" dirty="0" err="1">
                <a:solidFill>
                  <a:srgbClr val="1A1A1A"/>
                </a:solidFill>
              </a:rPr>
              <a:t>y，兩種氣體不管過多久都在原地。真實資料是</a:t>
            </a:r>
            <a:r>
              <a:rPr sz="1300" b="0" i="0" dirty="0">
                <a:solidFill>
                  <a:srgbClr val="1A1A1A"/>
                </a:solidFill>
              </a:rPr>
              <a:t> 128 </a:t>
            </a:r>
            <a:r>
              <a:rPr sz="1300" b="0" i="0" dirty="0" err="1">
                <a:solidFill>
                  <a:srgbClr val="1A1A1A"/>
                </a:solidFill>
              </a:rPr>
              <a:t>維，做法一樣</a:t>
            </a:r>
            <a:r>
              <a:rPr sz="1300" b="0" i="0" dirty="0">
                <a:solidFill>
                  <a:srgbClr val="1A1A1A"/>
                </a:solidFill>
              </a:rPr>
              <a:t>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906876"/>
              </p:ext>
            </p:extLst>
          </p:nvPr>
        </p:nvGraphicFramePr>
        <p:xfrm>
          <a:off x="457200" y="3179416"/>
          <a:ext cx="3847514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90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44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endParaRPr sz="11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TW" altLang="en-US" sz="1100" b="1" dirty="0">
                          <a:solidFill>
                            <a:srgbClr val="1F497D"/>
                          </a:solidFill>
                        </a:rPr>
                        <a:t>相較</a:t>
                      </a:r>
                      <a:r>
                        <a:rPr lang="en-US" altLang="zh-TW" sz="1100" b="1" dirty="0">
                          <a:solidFill>
                            <a:srgbClr val="1F497D"/>
                          </a:solidFill>
                        </a:rPr>
                        <a:t>baseline</a:t>
                      </a:r>
                      <a:endParaRPr sz="11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00" b="0" dirty="0">
                          <a:solidFill>
                            <a:srgbClr val="1A1A1A"/>
                          </a:solidFill>
                        </a:rPr>
                        <a:t>baseline</a:t>
                      </a:r>
                      <a:endParaRPr sz="11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1A1A1A"/>
                          </a:solidFill>
                        </a:rPr>
                        <a:t>Batch 1 </a:t>
                      </a:r>
                      <a:r>
                        <a:rPr sz="1100" b="1" dirty="0" err="1">
                          <a:solidFill>
                            <a:srgbClr val="1A1A1A"/>
                          </a:solidFill>
                        </a:rPr>
                        <a:t>三種氣體兩次量測的共同方向</a:t>
                      </a:r>
                      <a:endParaRPr sz="1100" b="1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1A1A1A"/>
                          </a:solidFill>
                        </a:rPr>
                        <a:t>只用</a:t>
                      </a:r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 Ethanol </a:t>
                      </a:r>
                      <a:r>
                        <a:rPr sz="1100" b="0" dirty="0" err="1">
                          <a:solidFill>
                            <a:srgbClr val="1A1A1A"/>
                          </a:solidFill>
                        </a:rPr>
                        <a:t>的方向（看過測試資料才知道選它</a:t>
                      </a:r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751363" y="3327042"/>
            <a:ext cx="3847514" cy="48833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1A1A"/>
                </a:solidFill>
              </a:rPr>
              <a:t>Batch 1 </a:t>
            </a:r>
            <a:r>
              <a:rPr sz="1300" b="0" i="0" dirty="0" err="1">
                <a:solidFill>
                  <a:srgbClr val="1A1A1A"/>
                </a:solidFill>
              </a:rPr>
              <a:t>量到的方向主要是濃度差異</a:t>
            </a:r>
            <a:r>
              <a:rPr lang="zh-TW" altLang="en-US" sz="1300" b="0" i="0" dirty="0">
                <a:solidFill>
                  <a:srgbClr val="1A1A1A"/>
                </a:solidFill>
              </a:rPr>
              <a:t>而非漂移</a:t>
            </a:r>
            <a:endParaRPr sz="1300" b="0" i="0" dirty="0">
              <a:solidFill>
                <a:srgbClr val="1A1A1A"/>
              </a:solidFill>
            </a:endParaRP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A1A1A"/>
                </a:solidFill>
              </a:rPr>
              <a:t>扣掉夠多老化就會連氣體差異一起扣掉</a:t>
            </a:r>
            <a:endParaRPr sz="13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017767"/>
              </p:ext>
            </p:extLst>
          </p:nvPr>
        </p:nvGraphicFramePr>
        <p:xfrm>
          <a:off x="360485" y="1730577"/>
          <a:ext cx="8018584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0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6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882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dirty="0" err="1">
                          <a:solidFill>
                            <a:srgbClr val="1F497D"/>
                          </a:solidFill>
                        </a:rPr>
                        <a:t>元件</a:t>
                      </a:r>
                      <a:endParaRPr sz="16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TW" altLang="en-US" sz="1600" b="1" dirty="0">
                          <a:solidFill>
                            <a:srgbClr val="1F497D"/>
                          </a:solidFill>
                        </a:rPr>
                        <a:t>實驗</a:t>
                      </a:r>
                      <a:endParaRPr sz="16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1A1A1A"/>
                          </a:solidFill>
                        </a:rPr>
                        <a:t>Data augmentation</a:t>
                      </a:r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(Gaussian noise as paper)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Data augmentation(</a:t>
                      </a:r>
                      <a:r>
                        <a:rPr lang="en-US" sz="1600" b="0" dirty="0">
                          <a:solidFill>
                            <a:srgbClr val="1A1A1A"/>
                          </a:solidFill>
                        </a:rPr>
                        <a:t>target-informed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特徵生成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 + L</a:t>
                      </a:r>
                      <a:r>
                        <a:rPr sz="1600" b="0" baseline="-25000" dirty="0">
                          <a:solidFill>
                            <a:srgbClr val="1A1A1A"/>
                          </a:solidFill>
                        </a:rPr>
                        <a:t>MSE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+0.0004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（</a:t>
                      </a:r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含在上列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對比損失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L</a:t>
                      </a:r>
                      <a:r>
                        <a:rPr sz="1600" b="0" baseline="-25000" dirty="0" err="1">
                          <a:solidFill>
                            <a:srgbClr val="1A1A1A"/>
                          </a:solidFill>
                        </a:rPr>
                        <a:t>con</a:t>
                      </a:r>
                      <a:endParaRPr sz="1600" b="0" baseline="-2500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文獻對照</a:t>
            </a:r>
            <a:r>
              <a:rPr sz="2800" dirty="0"/>
              <a:t>：</a:t>
            </a:r>
            <a:r>
              <a:rPr lang="zh-TW" altLang="en-US" sz="2800" dirty="0"/>
              <a:t>同分</a:t>
            </a:r>
            <a:r>
              <a:rPr lang="en-US" altLang="zh-TW" sz="2800" dirty="0"/>
              <a:t>UCI dataset</a:t>
            </a:r>
            <a:r>
              <a:rPr lang="zh-TW" altLang="en-US" sz="2800" dirty="0"/>
              <a:t>的其他論文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同一設定（Batch 1 訓練、Batch 2–10 測試）下各方法的架構，以及用了多少、用什麼方式的測試批次資料。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098045"/>
              </p:ext>
            </p:extLst>
          </p:nvPr>
        </p:nvGraphicFramePr>
        <p:xfrm>
          <a:off x="457200" y="1481328"/>
          <a:ext cx="8229600" cy="4169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5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文獻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主要架構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source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target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F497D"/>
                          </a:solidFill>
                        </a:rPr>
                        <a:t>平均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2012（資料集原論文）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SVM，RBF 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全部有標籤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1A1A1A"/>
                          </a:solidFill>
                        </a:rPr>
                        <a:t>不用</a:t>
                      </a:r>
                      <a:endParaRPr sz="950" b="1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38.9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SVM，測地流核（GFK）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1A1A1A"/>
                          </a:solidFill>
                        </a:rPr>
                        <a:t>每個測試批次的無標籤樣本，用來建核</a:t>
                      </a:r>
                      <a:endParaRPr sz="95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流形正則化（ML-comgfk）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無標籤樣本，半監督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 表內的 OSC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正交訊號校正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56.5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2015（DAELM）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極限學習機 + 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 20–50 筆有標籤校正樣本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80.8–91.9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2017（DRCA）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線性子空間投影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無標籤樣本，對齊兩域平均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dirty="0">
                          <a:solidFill>
                            <a:srgbClr val="1A1A1A"/>
                          </a:solidFill>
                        </a:rPr>
                        <a:t>62.2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2019（D-DRCA）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同上，加入 source 標籤的判別項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73.8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AMDS-PFFA 2024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CNN + 注意力，多源域適應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與 2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無標籤樣本，對齊特徵分布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83.2（加權）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KD 2025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全連接網路 + 知識蒸餾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每批一半無標籤，做偽標籤與調參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47.9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CDCNN 2024（本篇）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一維 ResNet + 擴充 + 特徵生成 + 對比損失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宣稱不用；Fig. 5 用了 batch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63.5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我們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一維 ResNet，照 Fig.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33288"/>
            <a:ext cx="8229600" cy="28315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 dirty="0" err="1">
                <a:solidFill>
                  <a:srgbClr val="1A1A1A"/>
                </a:solidFill>
              </a:rPr>
              <a:t>不用測試批次資料的只有三</a:t>
            </a:r>
            <a:r>
              <a:rPr lang="zh-TW" altLang="en-US" sz="1600" b="1" dirty="0">
                <a:solidFill>
                  <a:srgbClr val="1A1A1A"/>
                </a:solidFill>
              </a:rPr>
              <a:t>則</a:t>
            </a:r>
            <a:r>
              <a:rPr sz="1600" b="1" i="0" dirty="0">
                <a:solidFill>
                  <a:srgbClr val="1A1A1A"/>
                </a:solidFill>
              </a:rPr>
              <a:t>，</a:t>
            </a:r>
            <a:r>
              <a:rPr lang="en-US" sz="1600" b="1" i="0" dirty="0">
                <a:solidFill>
                  <a:srgbClr val="1A1A1A"/>
                </a:solidFill>
              </a:rPr>
              <a:t>target </a:t>
            </a:r>
            <a:r>
              <a:rPr lang="en-US" sz="1600" b="1" i="0" dirty="0" err="1">
                <a:solidFill>
                  <a:srgbClr val="1A1A1A"/>
                </a:solidFill>
              </a:rPr>
              <a:t>mean</a:t>
            </a:r>
            <a:r>
              <a:rPr sz="1600" b="1" i="0" dirty="0" err="1">
                <a:solidFill>
                  <a:srgbClr val="1A1A1A"/>
                </a:solidFill>
              </a:rPr>
              <a:t>都在</a:t>
            </a:r>
            <a:r>
              <a:rPr sz="1600" b="1" i="0" dirty="0">
                <a:solidFill>
                  <a:srgbClr val="1A1A1A"/>
                </a:solidFill>
              </a:rPr>
              <a:t> 60% </a:t>
            </a:r>
            <a:r>
              <a:rPr sz="1600" b="1" i="0" dirty="0" err="1">
                <a:solidFill>
                  <a:srgbClr val="1A1A1A"/>
                </a:solidFill>
              </a:rPr>
              <a:t>以下</a:t>
            </a:r>
            <a:r>
              <a:rPr sz="1600" b="1" i="0" dirty="0">
                <a:solidFill>
                  <a:srgbClr val="1A1A1A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r>
              <a:rPr sz="1800" dirty="0" err="1"/>
              <a:t>只用</a:t>
            </a:r>
            <a:r>
              <a:rPr sz="1800" dirty="0"/>
              <a:t> Batch 1 </a:t>
            </a:r>
            <a:r>
              <a:rPr sz="1800" dirty="0" err="1"/>
              <a:t>的規則下，照論文重建的網路得到</a:t>
            </a:r>
            <a:r>
              <a:rPr sz="1800" dirty="0"/>
              <a:t> 0.5556；</a:t>
            </a:r>
            <a:r>
              <a:rPr lang="zh-TW" altLang="en-US" sz="1800" dirty="0"/>
              <a:t>逐次加入</a:t>
            </a:r>
            <a:r>
              <a:rPr sz="1800" dirty="0" err="1"/>
              <a:t>三個元件，資料擴充變差、特徵生成等於零、對比損失的前提已</a:t>
            </a:r>
            <a:r>
              <a:rPr lang="zh-TW" altLang="en-US" sz="1800" dirty="0"/>
              <a:t>失效</a:t>
            </a:r>
            <a:endParaRPr lang="en-US" sz="1800" dirty="0"/>
          </a:p>
          <a:p>
            <a:r>
              <a:rPr sz="1800" dirty="0" err="1"/>
              <a:t>不看測試資料的模型是現實中比較需要的，但這份資料集上</a:t>
            </a:r>
            <a:r>
              <a:rPr lang="zh-TW" altLang="en-US" sz="1800" dirty="0"/>
              <a:t>的文獻 </a:t>
            </a:r>
            <a:r>
              <a:rPr lang="en-US" altLang="zh-TW" sz="1800" dirty="0"/>
              <a:t>target mean</a:t>
            </a:r>
            <a:r>
              <a:rPr lang="zh-TW" altLang="en-US" sz="1800" dirty="0"/>
              <a:t>都未</a:t>
            </a:r>
            <a:r>
              <a:rPr sz="1800" dirty="0" err="1"/>
              <a:t>超過</a:t>
            </a:r>
            <a:r>
              <a:rPr sz="1800" dirty="0"/>
              <a:t> 60%</a:t>
            </a:r>
            <a:endParaRPr lang="en-US" sz="1800" dirty="0"/>
          </a:p>
          <a:p>
            <a:r>
              <a:rPr sz="1800" dirty="0" err="1"/>
              <a:t>文獻的</a:t>
            </a:r>
            <a:r>
              <a:rPr lang="zh-TW" altLang="en-US" sz="1800" dirty="0"/>
              <a:t>優化</a:t>
            </a:r>
            <a:r>
              <a:rPr sz="1800" dirty="0" err="1"/>
              <a:t>主流是讓</a:t>
            </a:r>
            <a:r>
              <a:rPr lang="en-US" sz="1800" dirty="0"/>
              <a:t> target domain </a:t>
            </a:r>
            <a:r>
              <a:rPr sz="1800" dirty="0" err="1"/>
              <a:t>的無標籤資料參與</a:t>
            </a:r>
            <a:r>
              <a:rPr lang="en-US" sz="1800" dirty="0"/>
              <a:t> alignment</a:t>
            </a:r>
            <a:endParaRPr sz="1800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這半年的工作概覽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六條線，從 5 月到 10 月：三條在漂移補償，三條在特徵工程；資料集從 UCI、Zenodo 走到 TI 再回到 UCI。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"/>
                <a:gridCol w="1399032"/>
                <a:gridCol w="1645920"/>
                <a:gridCol w="2468880"/>
                <a:gridCol w="1892808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主題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資料集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做了什麼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結果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濃度為錨的漂移校正遷移（CDC，IEEE Sensors Letters 2020）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UCI 漂移資料集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復現 CB 模型（自編碼器 + 多任務 MLP，同時預測標籤與濃度）與遞迴式 CDC 遷移流程，每類 5 筆 transfer sample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CB 平均 91.55（論文 91.85）；CDC 流程 Batch 10 到 92.54，靜態微調只有 60.75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07-16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特徵擷取與特徵空間分析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Zenodo 長期漂移資料集：62 顆感測器、12 個月、三種 VOC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Savitzky–Golay 濾波；每顆感測器取 5 種特徵；用 PCA 看濃度與日間漂移的影響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建立 372 維特徵表，定出分類流程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07-23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特徵篩選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移除 R0、Rmax；Pearson 相關性分群；RANSAC 找各特徵的 inlier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inlier 比例最高約 0.68；固定中心的 RANSAC 描述不了隨時間漂移的特徵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08-05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兩階段 MDIP 特徵選擇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同上；Day 1–25 訓練、Day 26–30 驗證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復現 MDIP（Liu &amp; Tang 2020），加第二階段專門分 EtOH 與 Phenylethanol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14 個特徵達到 0.98，特徵數減少 95% 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08-26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通用資料擴充評估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TI 漂移資料集：3 批、5 台裝置、14 顆感測器、5 種氣體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三層 1D CNN 基線；高斯噪聲、通道遮蔽、視窗切片三種擴充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跨批次 Macro-F1 0.74 是瓶頸；通用擴充幫助有限 → 轉向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09-22 → 10-22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CDCNN 復現（本報告）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UCI 漂移資料集：16 顆感測器、36 個月、6 種氣體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照 Fig. 2 重建、只用 Batch 1；三個元件逐一加入；投影延伸；文獻對照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基線 0.5556；三個元件都無增益；文獻中不看 target 的方法都在 60% 以下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71869</TotalTime>
  <Words>1233</Words>
  <Application>Microsoft Office PowerPoint</Application>
  <PresentationFormat>On-screen Show (4:3)</PresentationFormat>
  <Paragraphs>224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實驗設計：照 Fig. 2 重建架構</vt:lpstr>
      <vt:lpstr>論文的 ResNet 0.6346， baseline：0.5556，</vt:lpstr>
      <vt:lpstr>元件一：Data Augmentation</vt:lpstr>
      <vt:lpstr>元件二：Feature Generation</vt:lpstr>
      <vt:lpstr>生成的特徵沒有走到任何後續批次</vt:lpstr>
      <vt:lpstr>元件三：Contrastive Loss</vt:lpstr>
      <vt:lpstr>延伸：把老化方向從輸入裡扣掉</vt:lpstr>
      <vt:lpstr>實驗結果總表</vt:lpstr>
      <vt:lpstr>文獻對照：同分UCI dataset的其他論文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2152</cp:revision>
  <cp:lastPrinted>2026-09-29T05:22:58Z</cp:lastPrinted>
  <dcterms:created xsi:type="dcterms:W3CDTF">2022-06-23T07:26:37Z</dcterms:created>
  <dcterms:modified xsi:type="dcterms:W3CDTF">2026-10-06T02:18:09Z</dcterms:modified>
</cp:coreProperties>
</file>