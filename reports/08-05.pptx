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94" r:id="rId5"/>
  </p:sldMasterIdLst>
  <p:notesMasterIdLst>
    <p:notesMasterId r:id="rId33"/>
  </p:notesMasterIdLst>
  <p:sldIdLst>
    <p:sldId id="274" r:id="rId6"/>
    <p:sldId id="275" r:id="rId7"/>
    <p:sldId id="256" r:id="rId8"/>
    <p:sldId id="257" r:id="rId9"/>
    <p:sldId id="258" r:id="rId10"/>
    <p:sldId id="259" r:id="rId11"/>
    <p:sldId id="263" r:id="rId12"/>
    <p:sldId id="264" r:id="rId13"/>
    <p:sldId id="265" r:id="rId14"/>
    <p:sldId id="266" r:id="rId15"/>
    <p:sldId id="276" r:id="rId16"/>
    <p:sldId id="277" r:id="rId17"/>
    <p:sldId id="278" r:id="rId18"/>
    <p:sldId id="279" r:id="rId19"/>
    <p:sldId id="280" r:id="rId20"/>
    <p:sldId id="281" r:id="rId21"/>
    <p:sldId id="260" r:id="rId22"/>
    <p:sldId id="283" r:id="rId23"/>
    <p:sldId id="284" r:id="rId24"/>
    <p:sldId id="285" r:id="rId25"/>
    <p:sldId id="286" r:id="rId26"/>
    <p:sldId id="291" r:id="rId27"/>
    <p:sldId id="287" r:id="rId28"/>
    <p:sldId id="289" r:id="rId29"/>
    <p:sldId id="290" r:id="rId30"/>
    <p:sldId id="292" r:id="rId31"/>
    <p:sldId id="29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2" autoAdjust="0"/>
    <p:restoredTop sz="94619" autoAdjust="0"/>
  </p:normalViewPr>
  <p:slideViewPr>
    <p:cSldViewPr snapToGrid="0">
      <p:cViewPr varScale="1">
        <p:scale>
          <a:sx n="109" d="100"/>
          <a:sy n="109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DDDEA-63BC-40A0-8BC0-D6413F38691F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6F76E-E60C-4C54-B47A-C2C406EC8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483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PCA</a:t>
            </a:r>
            <a:r>
              <a:rPr lang="zh-TW" altLang="en-US" dirty="0"/>
              <a:t>是能把資料整體分最開的方向 不是分群的方向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901ED-96AA-47C6-9F71-C9DA2C21BAF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789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RANSAC </a:t>
            </a:r>
            <a:r>
              <a:rPr lang="zh-TW" altLang="en-US" b="1" dirty="0"/>
              <a:t>實際流程</a:t>
            </a:r>
          </a:p>
          <a:p>
            <a:r>
              <a:rPr lang="zh-TW" altLang="en-US" dirty="0"/>
              <a:t>雖然這段沒有寫完整流程，但實際演算法大致如下：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隨機挑選最少數量的樣本（例如做直線回歸只需要 </a:t>
            </a:r>
            <a:r>
              <a:rPr lang="en-US" altLang="zh-TW" dirty="0"/>
              <a:t>2 </a:t>
            </a:r>
            <a:r>
              <a:rPr lang="zh-TW" altLang="en-US" dirty="0"/>
              <a:t>個點）。 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用這些點建立一條候選回歸線。 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計算所有資料點到這條線的殘差（</a:t>
            </a:r>
            <a:r>
              <a:rPr lang="en-US" altLang="zh-TW" dirty="0"/>
              <a:t>Residual</a:t>
            </a:r>
            <a:r>
              <a:rPr lang="zh-TW" altLang="en-US" dirty="0"/>
              <a:t>）。 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根據門檻 </a:t>
            </a:r>
            <a:r>
              <a:rPr lang="en-US" altLang="zh-TW" dirty="0"/>
              <a:t>ccc </a:t>
            </a:r>
            <a:r>
              <a:rPr lang="zh-TW" altLang="en-US" dirty="0"/>
              <a:t>將資料分成 </a:t>
            </a:r>
            <a:r>
              <a:rPr lang="en-US" altLang="zh-TW" b="1" dirty="0"/>
              <a:t>inliers</a:t>
            </a:r>
            <a:r>
              <a:rPr lang="zh-TW" altLang="en-US" dirty="0"/>
              <a:t>（殘差小於 </a:t>
            </a:r>
            <a:r>
              <a:rPr lang="en-US" altLang="zh-TW" dirty="0"/>
              <a:t>ccc</a:t>
            </a:r>
            <a:r>
              <a:rPr lang="zh-TW" altLang="en-US" dirty="0"/>
              <a:t>）和 </a:t>
            </a:r>
            <a:r>
              <a:rPr lang="en-US" altLang="zh-TW" b="1" dirty="0"/>
              <a:t>outliers</a:t>
            </a:r>
            <a:r>
              <a:rPr lang="zh-TW" altLang="en-US" dirty="0"/>
              <a:t>（殘差大於等於 </a:t>
            </a:r>
            <a:r>
              <a:rPr lang="en-US" altLang="zh-TW" dirty="0"/>
              <a:t>ccc</a:t>
            </a:r>
            <a:r>
              <a:rPr lang="zh-TW" altLang="en-US" dirty="0"/>
              <a:t>）。 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重複上述步驟很多次，每次都隨機抽不同的樣本。 </a:t>
            </a:r>
          </a:p>
          <a:p>
            <a:pPr>
              <a:buFont typeface="+mj-lt"/>
              <a:buAutoNum type="arabicPeriod"/>
            </a:pPr>
            <a:r>
              <a:rPr lang="zh-TW" altLang="en-US" dirty="0"/>
              <a:t>選擇擁有最多 </a:t>
            </a:r>
            <a:r>
              <a:rPr lang="en-US" altLang="zh-TW" dirty="0"/>
              <a:t>inliers</a:t>
            </a:r>
            <a:r>
              <a:rPr lang="zh-TW" altLang="en-US" dirty="0"/>
              <a:t>（或等價地，具有最小總損失）的模型作為最佳模型，再用所有 </a:t>
            </a:r>
            <a:r>
              <a:rPr lang="en-US" altLang="zh-TW" dirty="0"/>
              <a:t>inliers </a:t>
            </a:r>
            <a:r>
              <a:rPr lang="zh-TW" altLang="en-US" dirty="0"/>
              <a:t>重新估計回歸線。</a:t>
            </a:r>
          </a:p>
          <a:p>
            <a:endParaRPr lang="en-US" altLang="zh-TW" dirty="0"/>
          </a:p>
          <a:p>
            <a:r>
              <a:rPr lang="zh-TW" altLang="en-US" dirty="0"/>
              <a:t>若誤差小於 </a:t>
            </a:r>
            <a:r>
              <a:rPr lang="en-US" altLang="zh-TW" dirty="0"/>
              <a:t>Threshold</a:t>
            </a:r>
            <a:r>
              <a:rPr lang="zh-TW" altLang="en-US" dirty="0"/>
              <a:t>，正常計算平方誤差；若誤差過大，則給固定懲罰，不讓離群值主導回歸模型。</a:t>
            </a:r>
            <a:endParaRPr lang="en-US" altLang="zh-TW" dirty="0"/>
          </a:p>
          <a:p>
            <a:endParaRPr lang="en-US" altLang="zh-TW" dirty="0">
              <a:solidFill>
                <a:srgbClr val="FF0000"/>
              </a:solidFill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問題</a:t>
            </a:r>
            <a:r>
              <a:rPr lang="en-US" altLang="zh-TW" dirty="0">
                <a:solidFill>
                  <a:srgbClr val="FF0000"/>
                </a:solidFill>
              </a:rPr>
              <a:t>:</a:t>
            </a:r>
            <a:r>
              <a:rPr lang="zh-TW" altLang="en-US" dirty="0">
                <a:solidFill>
                  <a:srgbClr val="FF0000"/>
                </a:solidFill>
              </a:rPr>
              <a:t>找不到</a:t>
            </a:r>
            <a:r>
              <a:rPr lang="en-US" altLang="zh-TW" dirty="0">
                <a:solidFill>
                  <a:srgbClr val="FF0000"/>
                </a:solidFill>
              </a:rPr>
              <a:t>MD</a:t>
            </a:r>
            <a:r>
              <a:rPr lang="zh-TW" altLang="en-US" dirty="0">
                <a:solidFill>
                  <a:srgbClr val="FF0000"/>
                </a:solidFill>
              </a:rPr>
              <a:t>定義 可能也是取最小角度差或頭尾的差距和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901ED-96AA-47C6-9F71-C9DA2C21BAF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04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先把</a:t>
            </a:r>
            <a:r>
              <a:rPr lang="en-US" altLang="zh-TW" dirty="0"/>
              <a:t>IP</a:t>
            </a:r>
            <a:r>
              <a:rPr lang="zh-TW" altLang="en-US" dirty="0"/>
              <a:t>高的一群給挑出來</a:t>
            </a:r>
            <a:r>
              <a:rPr lang="en-US" altLang="zh-TW" dirty="0"/>
              <a:t>(</a:t>
            </a:r>
            <a:r>
              <a:rPr lang="zh-TW" altLang="en-US" dirty="0"/>
              <a:t>最大</a:t>
            </a:r>
            <a:r>
              <a:rPr lang="en-US" altLang="zh-TW" dirty="0"/>
              <a:t>IP-</a:t>
            </a:r>
            <a:r>
              <a:rPr lang="zh-TW" altLang="en-US" dirty="0"/>
              <a:t>最小</a:t>
            </a:r>
            <a:r>
              <a:rPr lang="en-US" altLang="zh-TW" dirty="0"/>
              <a:t>IP&lt;</a:t>
            </a:r>
            <a:r>
              <a:rPr lang="en-US" altLang="zh-TW" dirty="0" err="1"/>
              <a:t>Tsa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再用</a:t>
            </a:r>
            <a:r>
              <a:rPr lang="en-US" altLang="zh-TW" dirty="0"/>
              <a:t>MD</a:t>
            </a:r>
            <a:r>
              <a:rPr lang="zh-TW" altLang="en-US" dirty="0"/>
              <a:t>排序這群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901ED-96AA-47C6-9F71-C9DA2C21BAF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6622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901ED-96AA-47C6-9F71-C9DA2C21BAF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2345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901ED-96AA-47C6-9F71-C9DA2C21BAF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00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562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5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235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114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77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8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53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8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59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493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08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6373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7196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118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240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06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63851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7016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A49C-359A-4A75-90C7-567CCECADF1A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7432A-3A04-4FE0-B4AB-3C69AEA04A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7900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5219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72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Excel_Worksheet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37">
            <a:extLst>
              <a:ext uri="{FF2B5EF4-FFF2-40B4-BE49-F238E27FC236}">
                <a16:creationId xmlns:a16="http://schemas.microsoft.com/office/drawing/2014/main" id="{6B695AA2-4B70-477F-AF90-536B720A1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8" name="Picture 7" descr="A dog looking at the camera">
            <a:extLst>
              <a:ext uri="{FF2B5EF4-FFF2-40B4-BE49-F238E27FC236}">
                <a16:creationId xmlns:a16="http://schemas.microsoft.com/office/drawing/2014/main" id="{F0B92F21-44D0-49F2-B59D-6723737D9B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1020431"/>
            <a:ext cx="10225530" cy="147501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Two-Stage MDIP Feature Selection for Electronic-Nose VOC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2495445"/>
            <a:ext cx="10225530" cy="590321"/>
          </a:xfrm>
        </p:spPr>
        <p:txBody>
          <a:bodyPr>
            <a:normAutofit/>
          </a:bodyPr>
          <a:lstStyle/>
          <a:p>
            <a:r>
              <a:rPr lang="zh-TW" altLang="en-US" sz="1600" dirty="0">
                <a:solidFill>
                  <a:schemeClr val="tx1"/>
                </a:solidFill>
              </a:rPr>
              <a:t>陳柏臻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248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11953-3DE5-4E44-B558-3F622034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Outline</a:t>
            </a:r>
            <a:endParaRPr lang="zh-TW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64429-0588-416A-8855-A0B168F08AA8}"/>
              </a:ext>
            </a:extLst>
          </p:cNvPr>
          <p:cNvSpPr txBox="1"/>
          <p:nvPr/>
        </p:nvSpPr>
        <p:spPr>
          <a:xfrm>
            <a:off x="575894" y="2009970"/>
            <a:ext cx="6096000" cy="333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Literature Review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Experiment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Two-Stage MDIP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Experimental Results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Drift Analysis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TW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017160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71B9-A59E-42A3-934F-D7B86F1712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000" b="1" dirty="0"/>
              <a:t>A Minimum Distance Inlier Probability (MDIP) Feature Selection Method to Improve Gas Classification for Electronic Nose Systems</a:t>
            </a:r>
            <a:endParaRPr lang="zh-TW" altLang="en-US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5DA7E-8132-487E-83ED-5725E75758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altLang="zh-TW" dirty="0"/>
              <a:t>YEN-TUNG LIU AND KEA-TIONG TANG , (Senior Member, IEEE)</a:t>
            </a:r>
          </a:p>
          <a:p>
            <a:r>
              <a:rPr lang="en-US" altLang="zh-TW" dirty="0"/>
              <a:t>IEEE</a:t>
            </a:r>
            <a:r>
              <a:rPr lang="zh-TW" altLang="en-US" dirty="0"/>
              <a:t> </a:t>
            </a:r>
            <a:r>
              <a:rPr lang="en-CA" altLang="zh-TW" dirty="0"/>
              <a:t>VOLUME 8, 2020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83452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0357-3B86-42F4-BD9F-60E64D725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Statement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34E47-A4D0-4EC8-9ECA-F5EC3B035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E-nose extract many features from multiple sensors, but only informative features should be selected, those that are both stable and discriminative for gas </a:t>
            </a:r>
            <a:r>
              <a:rPr lang="en-US" altLang="zh-TW" dirty="0" err="1"/>
              <a:t>classfication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General method of feature selection:</a:t>
            </a:r>
          </a:p>
          <a:p>
            <a:pPr lvl="1"/>
            <a:r>
              <a:rPr lang="en-US" altLang="zh-TW" dirty="0"/>
              <a:t>PCA</a:t>
            </a:r>
          </a:p>
          <a:p>
            <a:pPr lvl="2"/>
            <a:r>
              <a:rPr lang="en-US" altLang="zh-TW" dirty="0"/>
              <a:t>Maximizes data variance </a:t>
            </a:r>
          </a:p>
          <a:p>
            <a:pPr lvl="2"/>
            <a:r>
              <a:rPr lang="en-US" altLang="zh-TW" dirty="0"/>
              <a:t>Ignores class discrimination </a:t>
            </a:r>
          </a:p>
          <a:p>
            <a:pPr lvl="2"/>
            <a:r>
              <a:rPr lang="en-US" altLang="zh-TW" dirty="0"/>
              <a:t>Sensitive to sensor drift </a:t>
            </a:r>
          </a:p>
          <a:p>
            <a:pPr lvl="1"/>
            <a:r>
              <a:rPr lang="en-US" altLang="zh-TW" dirty="0"/>
              <a:t>SVM-RFE</a:t>
            </a:r>
          </a:p>
          <a:p>
            <a:pPr lvl="2"/>
            <a:r>
              <a:rPr lang="en-US" altLang="zh-TW" dirty="0"/>
              <a:t>Classifier-dependent </a:t>
            </a:r>
          </a:p>
          <a:p>
            <a:pPr lvl="2"/>
            <a:r>
              <a:rPr lang="en-US" altLang="zh-TW" dirty="0"/>
              <a:t>Feature ranking varies with the classifier </a:t>
            </a:r>
          </a:p>
        </p:txBody>
      </p:sp>
    </p:spTree>
    <p:extLst>
      <p:ext uri="{BB962C8B-B14F-4D97-AF65-F5344CB8AC3E}">
        <p14:creationId xmlns:p14="http://schemas.microsoft.com/office/powerpoint/2010/main" val="316870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A1B21-A044-477C-AB7D-A24A04DEB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Methodology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A250C0-98FF-4586-937D-361F64A3D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14705" y="545464"/>
            <a:ext cx="3713747" cy="560479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825B8-3FC0-4C9B-B421-104D5A682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93843"/>
            <a:ext cx="4232564" cy="11762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97A97D-89BD-4EC3-BF61-EE7CE6047416}"/>
              </a:ext>
            </a:extLst>
          </p:cNvPr>
          <p:cNvSpPr txBox="1"/>
          <p:nvPr/>
        </p:nvSpPr>
        <p:spPr>
          <a:xfrm>
            <a:off x="1097608" y="1516789"/>
            <a:ext cx="641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Abadi" panose="020B0604020104020204" pitchFamily="34" charset="0"/>
              </a:rPr>
              <a:t>1.</a:t>
            </a:r>
            <a:r>
              <a:rPr lang="zh-TW" altLang="en-US" sz="2000" dirty="0">
                <a:latin typeface="Abadi" panose="020B0604020104020204" pitchFamily="34" charset="0"/>
              </a:rPr>
              <a:t> </a:t>
            </a:r>
            <a:r>
              <a:rPr lang="en-US" altLang="zh-TW" sz="2000" dirty="0">
                <a:latin typeface="Abadi" panose="020B0604020104020204" pitchFamily="34" charset="0"/>
              </a:rPr>
              <a:t>RANSAC</a:t>
            </a:r>
            <a:r>
              <a:rPr lang="zh-TW" altLang="en-US" sz="2000" dirty="0">
                <a:latin typeface="Abadi" panose="020B0604020104020204" pitchFamily="34" charset="0"/>
              </a:rPr>
              <a:t> </a:t>
            </a:r>
            <a:r>
              <a:rPr lang="en-US" altLang="zh-TW" sz="2000" dirty="0">
                <a:latin typeface="Abadi" panose="020B0604020104020204" pitchFamily="34" charset="0"/>
              </a:rPr>
              <a:t>regression: reduce the influence of outlier</a:t>
            </a:r>
            <a:endParaRPr lang="zh-TW" altLang="en-US" sz="2000" dirty="0">
              <a:latin typeface="Abadi" panose="020B06040201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16BE5-A845-4DF7-AB54-874ECBA06A24}"/>
              </a:ext>
            </a:extLst>
          </p:cNvPr>
          <p:cNvSpPr txBox="1"/>
          <p:nvPr/>
        </p:nvSpPr>
        <p:spPr>
          <a:xfrm>
            <a:off x="1097607" y="3287752"/>
            <a:ext cx="6417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Abadi" panose="020B0604020104020204" pitchFamily="34" charset="0"/>
              </a:rPr>
              <a:t>2. Inlier probability(IP): </a:t>
            </a:r>
            <a:r>
              <a:rPr lang="en-CA" altLang="zh-TW" sz="2000" dirty="0"/>
              <a:t>Feature stability</a:t>
            </a:r>
          </a:p>
          <a:p>
            <a:r>
              <a:rPr lang="en-CA" altLang="zh-TW" sz="2000" dirty="0">
                <a:latin typeface="Abadi" panose="020B0604020104020204" pitchFamily="34" charset="0"/>
              </a:rPr>
              <a:t>IP = num(inlier)/num(total)</a:t>
            </a:r>
            <a:endParaRPr lang="en-US" altLang="zh-TW" sz="2000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5BC48-8F16-4E2D-8E7E-4A7D0E732649}"/>
              </a:ext>
            </a:extLst>
          </p:cNvPr>
          <p:cNvSpPr txBox="1"/>
          <p:nvPr/>
        </p:nvSpPr>
        <p:spPr>
          <a:xfrm>
            <a:off x="1097607" y="4056814"/>
            <a:ext cx="641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Abadi" panose="020B0604020104020204" pitchFamily="34" charset="0"/>
              </a:rPr>
              <a:t>3. Minimum distance(MD): </a:t>
            </a:r>
            <a:r>
              <a:rPr lang="en-CA" altLang="zh-TW" sz="2000" dirty="0"/>
              <a:t>Class separability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2CF45-7F5A-4F83-AE14-BBFB2B9A4E7F}"/>
              </a:ext>
            </a:extLst>
          </p:cNvPr>
          <p:cNvSpPr txBox="1"/>
          <p:nvPr/>
        </p:nvSpPr>
        <p:spPr>
          <a:xfrm>
            <a:off x="1097607" y="4540992"/>
            <a:ext cx="641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solidFill>
                  <a:srgbClr val="FF0000"/>
                </a:solidFill>
                <a:latin typeface="Abadi" panose="020B0604020104020204" pitchFamily="34" charset="0"/>
              </a:rPr>
              <a:t>Score = IP x MD</a:t>
            </a:r>
          </a:p>
        </p:txBody>
      </p:sp>
    </p:spTree>
    <p:extLst>
      <p:ext uri="{BB962C8B-B14F-4D97-AF65-F5344CB8AC3E}">
        <p14:creationId xmlns:p14="http://schemas.microsoft.com/office/powerpoint/2010/main" val="4160409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3DD9-995F-4FC4-9556-C613D755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Algorithm- ranking strategy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C255C2-F8D9-442F-BF24-23E3741A0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26681" y="1825625"/>
            <a:ext cx="3538637" cy="4351338"/>
          </a:xfrm>
        </p:spPr>
      </p:pic>
    </p:spTree>
    <p:extLst>
      <p:ext uri="{BB962C8B-B14F-4D97-AF65-F5344CB8AC3E}">
        <p14:creationId xmlns:p14="http://schemas.microsoft.com/office/powerpoint/2010/main" val="141396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5C7C-41C9-49B5-B0FA-E0914AF5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F93AD-F32B-4888-81D8-1EC3D70F1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Long-term drift dataset </a:t>
            </a:r>
          </a:p>
          <a:p>
            <a:pPr lvl="1"/>
            <a:r>
              <a:rPr lang="en-US" altLang="zh-TW" dirty="0"/>
              <a:t>16 MOS sensors (4 sensor types) </a:t>
            </a:r>
          </a:p>
          <a:p>
            <a:pPr lvl="1"/>
            <a:r>
              <a:rPr lang="en-US" altLang="zh-TW" dirty="0"/>
              <a:t>6 gases, 13,910 samples </a:t>
            </a:r>
          </a:p>
          <a:p>
            <a:pPr lvl="1"/>
            <a:r>
              <a:rPr lang="en-US" altLang="zh-TW" dirty="0"/>
              <a:t>10 batches collected over time </a:t>
            </a:r>
          </a:p>
          <a:p>
            <a:pPr lvl="1"/>
            <a:r>
              <a:rPr lang="en-US" altLang="zh-TW" dirty="0"/>
              <a:t>128 features (8 features (steady, EMA of different gain )× 16 sensors) </a:t>
            </a:r>
          </a:p>
          <a:p>
            <a:r>
              <a:rPr lang="en-US" altLang="zh-TW" dirty="0"/>
              <a:t>Validation</a:t>
            </a:r>
          </a:p>
          <a:p>
            <a:pPr lvl="1"/>
            <a:r>
              <a:rPr lang="en-US" altLang="zh-TW" dirty="0"/>
              <a:t>Train: Batch 1 </a:t>
            </a:r>
          </a:p>
          <a:p>
            <a:pPr lvl="1"/>
            <a:r>
              <a:rPr lang="en-US" altLang="zh-TW" dirty="0"/>
              <a:t>Test: Batch 2–10 </a:t>
            </a:r>
          </a:p>
          <a:p>
            <a:pPr lvl="1"/>
            <a:r>
              <a:rPr lang="en-US" altLang="zh-TW" dirty="0"/>
              <a:t>Evaluate long-term drift robustness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1649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3600D-327B-462F-9390-E179AB5F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</a:t>
            </a:r>
            <a:endParaRPr lang="zh-TW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64A854-6C4F-4BDD-90D8-6C216AC85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732" y="1380853"/>
            <a:ext cx="8894536" cy="480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39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787C-D0F4-47AA-9BE2-F95B39CCC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405EC6-17D0-4AD2-9FEA-A7AFEB3B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3" y="681037"/>
            <a:ext cx="11696213" cy="495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73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222A-CFC6-4967-84FC-93BD38304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7445F-0E64-4041-B290-7F16E27FC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MDIP filters out redundant and unstable features, significantly enhancing the generalization and robustness of electronic nose systems against cross-board variations and long-term drift.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7474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CB3C-8E1E-4155-B041-90813CB0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Experiment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18387-1B23-420C-8C16-840496591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Dataset Description</a:t>
            </a:r>
          </a:p>
          <a:p>
            <a:r>
              <a:rPr lang="en-US" altLang="zh-TW" dirty="0"/>
              <a:t>Extracted Features</a:t>
            </a:r>
          </a:p>
          <a:p>
            <a:r>
              <a:rPr lang="en-US" altLang="zh-TW" dirty="0"/>
              <a:t>Redundancy Removal Strategy</a:t>
            </a:r>
          </a:p>
          <a:p>
            <a:r>
              <a:rPr lang="en-US" altLang="zh-TW" dirty="0"/>
              <a:t>MDIP</a:t>
            </a:r>
          </a:p>
          <a:p>
            <a:r>
              <a:rPr lang="en-US" altLang="zh-TW" dirty="0"/>
              <a:t>2Stage-MDIP</a:t>
            </a:r>
          </a:p>
          <a:p>
            <a:r>
              <a:rPr lang="en-US" altLang="zh-TW" dirty="0"/>
              <a:t>Results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8823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6921-AC97-49BF-8023-0C1AF06A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Extraction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D142-EDEF-47D6-9FD9-442AAB36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Dataset: </a:t>
            </a:r>
            <a:r>
              <a:rPr lang="en-US" altLang="zh-TW" dirty="0" err="1"/>
              <a:t>zenodo_long_term_drift</a:t>
            </a:r>
            <a:endParaRPr lang="en-US" altLang="zh-TW" dirty="0"/>
          </a:p>
          <a:p>
            <a:pPr lvl="1"/>
            <a:r>
              <a:rPr lang="en-US" altLang="zh-TW" dirty="0"/>
              <a:t>700 time-series * 12 months</a:t>
            </a:r>
          </a:p>
          <a:p>
            <a:pPr lvl="1"/>
            <a:r>
              <a:rPr lang="en-US" altLang="zh-TW" dirty="0"/>
              <a:t>Diacetyl(0.1ppm,1ppm), </a:t>
            </a:r>
            <a:r>
              <a:rPr lang="en-US" altLang="zh-TW" dirty="0" err="1"/>
              <a:t>phenylethanol</a:t>
            </a:r>
            <a:r>
              <a:rPr lang="en-US" altLang="zh-TW" dirty="0"/>
              <a:t>(200ppm,1000ppm), ethanol(2 unknown concentration)</a:t>
            </a:r>
          </a:p>
          <a:p>
            <a:r>
              <a:rPr lang="en-US" altLang="zh-TW" dirty="0"/>
              <a:t>62 sensors</a:t>
            </a:r>
          </a:p>
          <a:p>
            <a:r>
              <a:rPr lang="en-US" altLang="zh-TW" dirty="0"/>
              <a:t>Each sensor provides 7 features:</a:t>
            </a:r>
          </a:p>
          <a:p>
            <a:r>
              <a:rPr lang="en-US" altLang="zh-TW" dirty="0"/>
              <a:t>R</a:t>
            </a:r>
            <a:r>
              <a:rPr lang="en-US" altLang="zh-TW" baseline="-25000" dirty="0"/>
              <a:t>max</a:t>
            </a:r>
            <a:r>
              <a:rPr lang="en-US" altLang="zh-TW" dirty="0"/>
              <a:t>,R</a:t>
            </a:r>
            <a:r>
              <a:rPr lang="en-US" altLang="zh-TW" baseline="-25000" dirty="0"/>
              <a:t>0,</a:t>
            </a:r>
            <a:r>
              <a:rPr lang="en-US" altLang="zh-TW" dirty="0"/>
              <a:t>(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max</a:t>
            </a:r>
            <a:r>
              <a:rPr lang="en-US" altLang="zh-TW" dirty="0"/>
              <a:t>- R</a:t>
            </a:r>
            <a:r>
              <a:rPr lang="en-US" altLang="zh-TW" baseline="-25000" dirty="0"/>
              <a:t>0</a:t>
            </a:r>
            <a:r>
              <a:rPr lang="en-US" altLang="zh-TW" dirty="0"/>
              <a:t>)/ R</a:t>
            </a:r>
            <a:r>
              <a:rPr lang="en-US" altLang="zh-TW" baseline="-25000" dirty="0"/>
              <a:t>0 ,</a:t>
            </a:r>
            <a:r>
              <a:rPr lang="en-US" altLang="zh-TW" dirty="0"/>
              <a:t>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plateau</a:t>
            </a:r>
            <a:r>
              <a:rPr lang="en-US" altLang="zh-TW" baseline="-25000" dirty="0"/>
              <a:t> ,</a:t>
            </a:r>
            <a:r>
              <a:rPr lang="en-US" altLang="zh-TW" dirty="0"/>
              <a:t>AUC, Max and Min Slope</a:t>
            </a:r>
          </a:p>
          <a:p>
            <a:r>
              <a:rPr lang="en-US" altLang="zh-TW" dirty="0"/>
              <a:t> Totally 62*7 features for each gas</a:t>
            </a:r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01310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C0B2-F7D6-4C56-81A9-D1B22AB9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Preprocessing: </a:t>
            </a:r>
            <a:r>
              <a:rPr lang="en-CA" altLang="zh-TW" dirty="0" err="1"/>
              <a:t>Savitzky</a:t>
            </a:r>
            <a:r>
              <a:rPr lang="en-CA" altLang="zh-TW" dirty="0"/>
              <a:t>–</a:t>
            </a:r>
            <a:r>
              <a:rPr lang="en-CA" altLang="zh-TW" dirty="0" err="1"/>
              <a:t>Golay</a:t>
            </a:r>
            <a:r>
              <a:rPr lang="en-CA" altLang="zh-TW" dirty="0"/>
              <a:t> Filter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8AA0C-5580-483D-9141-6707A8CF2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34" y="1906676"/>
            <a:ext cx="5886666" cy="30446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46157-1FE7-4F28-BFDE-CED5AED3B3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r="4585" b="4343"/>
          <a:stretch/>
        </p:blipFill>
        <p:spPr>
          <a:xfrm>
            <a:off x="5852991" y="1951893"/>
            <a:ext cx="5978022" cy="31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8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5A2F-B957-47EF-B490-1DE5CEC2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table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E5127C-E22F-48D4-AC47-732A1DD73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435357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43DE6-AE94-45F2-B0DE-78ECA351F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71" y="1991762"/>
            <a:ext cx="5414213" cy="23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18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9283-759C-493B-A85A-1733CA2A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Based Feature Screening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18085-3012-4922-AA45-3BFDCB37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>
                <a:solidFill>
                  <a:srgbClr val="FF0000"/>
                </a:solidFill>
              </a:rPr>
              <a:t>R</a:t>
            </a:r>
            <a:r>
              <a:rPr lang="en-US" altLang="zh-TW" sz="1800" b="1" baseline="-25000" dirty="0">
                <a:solidFill>
                  <a:srgbClr val="FF0000"/>
                </a:solidFill>
              </a:rPr>
              <a:t>0​ </a:t>
            </a:r>
            <a:r>
              <a:rPr lang="en-US" altLang="zh-TW" sz="1800" b="1" dirty="0"/>
              <a:t>was removed due to temporal baseline drift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Strongly affected by sensor aging and measurement-day variation.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May cause the model to learn day-dependent patterns instead of VOC characteristics.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Retained only for calculating normalized features.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 err="1">
                <a:solidFill>
                  <a:srgbClr val="FF0000"/>
                </a:solidFill>
              </a:rPr>
              <a:t>R</a:t>
            </a:r>
            <a:r>
              <a:rPr lang="en-US" altLang="zh-TW" sz="1800" b="1" baseline="-25000" dirty="0" err="1">
                <a:solidFill>
                  <a:srgbClr val="FF0000"/>
                </a:solidFill>
              </a:rPr>
              <a:t>max</a:t>
            </a:r>
            <a:r>
              <a:rPr lang="en-US" altLang="zh-TW" sz="1800" b="1" dirty="0"/>
              <a:t>⁡​ was removed due to redundancy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Highly correlated with </a:t>
            </a: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dirty="0"/>
              <a:t>​.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More sensitive to transient noise and signal spikes.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 err="1"/>
              <a:t>R</a:t>
            </a:r>
            <a:r>
              <a:rPr lang="en-US" altLang="zh-TW" sz="1800" baseline="-25000" dirty="0" err="1"/>
              <a:t>plateau</a:t>
            </a:r>
            <a:r>
              <a:rPr lang="en-US" altLang="zh-TW" sz="1800" dirty="0"/>
              <a:t>​ was retained as a more stable steady-state feature.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1800" b="1" dirty="0"/>
              <a:t>Screening outcome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PC1: </a:t>
            </a:r>
            <a:r>
              <a:rPr lang="en-US" altLang="zh-TW" sz="1800" b="1" dirty="0"/>
              <a:t>48.6% → 59.9%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PC1 + PC2: </a:t>
            </a:r>
            <a:r>
              <a:rPr lang="en-US" altLang="zh-TW" sz="1800" b="1" dirty="0"/>
              <a:t>72.9% → 81.2%</a:t>
            </a:r>
            <a:r>
              <a:rPr lang="en-US" altLang="zh-TW" sz="18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1800" dirty="0"/>
              <a:t>Reduced unstable and redundant information in the feature set. </a:t>
            </a:r>
          </a:p>
          <a:p>
            <a:pPr marL="0" indent="0">
              <a:buNone/>
            </a:pPr>
            <a:endParaRPr lang="en-US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965984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4E22F-F75B-497A-9A86-C1B78EBE7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PCA</a:t>
            </a:r>
            <a:r>
              <a:rPr lang="zh-TW" altLang="en-US" dirty="0"/>
              <a:t> </a:t>
            </a:r>
            <a:r>
              <a:rPr lang="en-US" altLang="zh-TW" dirty="0"/>
              <a:t>Day1-3 result comparison</a:t>
            </a:r>
            <a:endParaRPr lang="zh-TW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29C73-1A05-4405-9E09-6FCEF46017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0"/>
          <a:stretch/>
        </p:blipFill>
        <p:spPr>
          <a:xfrm>
            <a:off x="6350258" y="1690688"/>
            <a:ext cx="5297790" cy="3946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2E052F-D177-4A81-B7D0-42B5326D9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301" y="1609222"/>
            <a:ext cx="5034699" cy="40277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208172-1991-4DA9-97F0-E9D2BE6EFAE7}"/>
              </a:ext>
            </a:extLst>
          </p:cNvPr>
          <p:cNvSpPr txBox="1"/>
          <p:nvPr/>
        </p:nvSpPr>
        <p:spPr>
          <a:xfrm>
            <a:off x="2159916" y="5636981"/>
            <a:ext cx="283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All feature</a:t>
            </a:r>
            <a:endParaRPr lang="zh-TW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EFA5E-F7D9-4E4E-ADC7-C525E65558D2}"/>
              </a:ext>
            </a:extLst>
          </p:cNvPr>
          <p:cNvSpPr txBox="1"/>
          <p:nvPr/>
        </p:nvSpPr>
        <p:spPr>
          <a:xfrm>
            <a:off x="7580419" y="5636981"/>
            <a:ext cx="2837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Removed Ro, </a:t>
            </a:r>
            <a:r>
              <a:rPr lang="en-US" altLang="zh-TW" dirty="0" err="1"/>
              <a:t>Rmax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426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34E8-503D-4489-A27B-6A06A1D42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Correlation-Based Redundancy Screening</a:t>
            </a:r>
            <a:endParaRPr lang="zh-TW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453427-0021-4CCD-8B44-658B97AD0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lvl="1"/>
            <a:r>
              <a:rPr lang="en-US" altLang="zh-TW" sz="1800" dirty="0"/>
              <a:t>Pearson correlation</a:t>
            </a:r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F0540-96B2-4162-8174-13470D185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12" y="2479125"/>
            <a:ext cx="5085284" cy="1161542"/>
          </a:xfrm>
          <a:prstGeom prst="rect">
            <a:avLst/>
          </a:prstGeom>
        </p:spPr>
      </p:pic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4B2ED71C-09B9-4494-B95C-247ECEE33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696997"/>
              </p:ext>
            </p:extLst>
          </p:nvPr>
        </p:nvGraphicFramePr>
        <p:xfrm>
          <a:off x="7920885" y="1690688"/>
          <a:ext cx="3400169" cy="2286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Worksheet" r:id="rId4" imgW="3285992" imgH="2209839" progId="Excel.Sheet.12">
                  <p:embed/>
                </p:oleObj>
              </mc:Choice>
              <mc:Fallback>
                <p:oleObj name="Worksheet" r:id="rId4" imgW="3285992" imgH="2209839" progId="Excel.Sheet.12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4B2ED71C-09B9-4494-B95C-247ECEE33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20885" y="1690688"/>
                        <a:ext cx="3400169" cy="22862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626B209-2972-4024-BA44-C873C4113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945" y="3829845"/>
            <a:ext cx="7716664" cy="2485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Calibri(body)"/>
              </a:rPr>
              <a:t>Pearson correlation was calculated between corresponding features of each sensor pair.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Calibri(body)"/>
              </a:rPr>
              <a:t>A sensor pair was considered redundant when at least 4 of 5 features had </a:t>
            </a:r>
            <a:r>
              <a:rPr lang="en-US" altLang="zh-TW" sz="1600" dirty="0">
                <a:latin typeface="Calibri(body)"/>
              </a:rPr>
              <a:t> </a:t>
            </a:r>
            <a:r>
              <a:rPr lang="zh-TW" altLang="zh-TW" sz="1600" dirty="0">
                <a:latin typeface="Calibri(body)"/>
              </a:rPr>
              <a:t>|r</a:t>
            </a:r>
            <a:r>
              <a:rPr lang="en-US" altLang="zh-TW" sz="1600" dirty="0">
                <a:latin typeface="Calibri(body)"/>
              </a:rPr>
              <a:t>|&gt;</a:t>
            </a:r>
            <a:r>
              <a:rPr lang="zh-TW" altLang="zh-TW" sz="1600" dirty="0">
                <a:latin typeface="Calibri(body)"/>
              </a:rPr>
              <a:t>0.92.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Calibri(body)"/>
              </a:rPr>
              <a:t>One representative sensor was retained from each redundant pair.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TW" altLang="zh-TW" sz="1600" dirty="0">
                <a:latin typeface="Calibri(body)"/>
              </a:rPr>
              <a:t>Redundant sensors were removed to reduce dimensionality and repeated information.</a:t>
            </a:r>
            <a:endParaRPr lang="en-US" altLang="zh-TW" sz="1600" dirty="0">
              <a:latin typeface="Calibri(body)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TW" sz="1600" dirty="0">
                <a:latin typeface="Calibri(body)"/>
              </a:rPr>
              <a:t>Finally retained sensors: </a:t>
            </a:r>
            <a:r>
              <a:rPr lang="pt-BR" altLang="zh-TW" sz="1600" dirty="0">
                <a:latin typeface="Calibri(body)"/>
              </a:rPr>
              <a:t>R1, R3, R9, R19, R31, and R49 (reduced to 6*5=30 features).</a:t>
            </a:r>
            <a:endParaRPr lang="zh-TW" altLang="zh-TW" sz="1600" dirty="0">
              <a:latin typeface="Calibri(body)"/>
            </a:endParaRPr>
          </a:p>
        </p:txBody>
      </p:sp>
    </p:spTree>
    <p:extLst>
      <p:ext uri="{BB962C8B-B14F-4D97-AF65-F5344CB8AC3E}">
        <p14:creationId xmlns:p14="http://schemas.microsoft.com/office/powerpoint/2010/main" val="3415836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FFB0-A7C9-456C-B039-3B1DFD8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MDIP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BAA407A4-B503-4ED5-8B15-9A48F986DC29}"/>
                  </a:ext>
                </a:extLst>
              </p:cNvPr>
              <p:cNvSpPr/>
              <p:nvPr/>
            </p:nvSpPr>
            <p:spPr>
              <a:xfrm>
                <a:off x="435709" y="1958065"/>
                <a:ext cx="3591168" cy="3236685"/>
              </a:xfrm>
              <a:prstGeom prst="roundRect">
                <a:avLst>
                  <a:gd name="adj" fmla="val 824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altLang="zh-TW" dirty="0"/>
                  <a:t>Inlier Probability(IP)</a:t>
                </a:r>
              </a:p>
              <a:p>
                <a:pPr algn="ctr"/>
                <a:endParaRPr lang="en-CA" altLang="zh-TW" dirty="0"/>
              </a:p>
              <a:p>
                <a:pPr algn="ctr"/>
                <a:r>
                  <a:rPr lang="en-CA" altLang="zh-TW" dirty="0"/>
                  <a:t>RANSAC regression</a:t>
                </a:r>
              </a:p>
              <a:p>
                <a:pPr algn="ctr"/>
                <a:endParaRPr lang="en-CA" altLang="zh-TW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CA" altLang="zh-TW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𝐼𝑃</m:t>
                      </m:r>
                      <m:r>
                        <a:rPr kumimoji="0" lang="en-CA" altLang="zh-TW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𝑖𝑛𝑙𝑖𝑒𝑟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num>
                        <m:den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(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𝑑𝑎𝑡𝑎</m:t>
                          </m:r>
                          <m:r>
                            <a:rPr kumimoji="0" lang="en-CA" altLang="zh-TW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CA" altLang="zh-TW" sz="2400" dirty="0"/>
              </a:p>
              <a:p>
                <a:pPr algn="ctr"/>
                <a:endParaRPr lang="en-CA" altLang="zh-TW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altLang="zh-TW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sz="1200" i="1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  <m:sub>
                          <m:r>
                            <a:rPr lang="en-CA" altLang="zh-TW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CA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200" b="0" i="1" smtClean="0">
                                  <a:latin typeface="Cambria Math" panose="02040503050406030204" pitchFamily="18" charset="0"/>
                                </a:rPr>
                                <m:t>𝐷𝑖𝑎𝑐𝑒𝑡𝑦𝑙</m:t>
                              </m:r>
                            </m:sub>
                          </m:sSub>
                          <m:r>
                            <a:rPr lang="en-CA" altLang="zh-TW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  <m:t>𝐸𝑡h𝑎𝑛𝑜𝑙</m:t>
                              </m:r>
                            </m:sub>
                          </m:sSub>
                          <m:r>
                            <a:rPr lang="en-CA" altLang="zh-TW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200" i="1">
                                  <a:latin typeface="Cambria Math" panose="02040503050406030204" pitchFamily="18" charset="0"/>
                                </a:rPr>
                                <m:t>𝑝h𝑒𝑛𝑦𝑙𝑒𝑡h𝑎𝑛𝑜𝑙</m:t>
                              </m:r>
                            </m:sub>
                          </m:sSub>
                        </m:num>
                        <m:den>
                          <m:r>
                            <a:rPr lang="en-CA" altLang="zh-TW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BAA407A4-B503-4ED5-8B15-9A48F986DC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09" y="1958065"/>
                <a:ext cx="3591168" cy="3236685"/>
              </a:xfrm>
              <a:prstGeom prst="roundRect">
                <a:avLst>
                  <a:gd name="adj" fmla="val 8246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D325628-4F83-40F8-A73A-01E242A48D95}"/>
                  </a:ext>
                </a:extLst>
              </p:cNvPr>
              <p:cNvSpPr/>
              <p:nvPr/>
            </p:nvSpPr>
            <p:spPr>
              <a:xfrm>
                <a:off x="4121639" y="1958065"/>
                <a:ext cx="2964961" cy="147093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altLang="zh-TW" sz="120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CA" altLang="zh-TW" dirty="0"/>
                  <a:t>Minimum Distance(MD)</a:t>
                </a:r>
              </a:p>
              <a:p>
                <a:pPr algn="ctr"/>
                <a:endParaRPr lang="en-CA" altLang="zh-TW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kumimoji="0" lang="en-CA" altLang="zh-TW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CA" altLang="zh-TW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𝑀𝐷</m:t>
                        </m:r>
                      </m:e>
                      <m:sub>
                        <m:r>
                          <a:rPr kumimoji="0" lang="en-CA" altLang="zh-TW" sz="1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𝑓</m:t>
                        </m:r>
                      </m:sub>
                    </m:sSub>
                    <m:r>
                      <a:rPr kumimoji="0" lang="en-CA" altLang="zh-TW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m:rPr>
                        <m:sty m:val="p"/>
                      </m:rPr>
                      <a:rPr kumimoji="0" lang="en-CA" altLang="zh-TW" sz="12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min</m:t>
                    </m:r>
                    <m:r>
                      <a:rPr kumimoji="0" lang="en-CA" altLang="zh-TW" sz="1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⁡(</m:t>
                    </m:r>
                    <m:sSub>
                      <m:sSubPr>
                        <m:ctrlPr>
                          <a:rPr lang="en-CA" altLang="zh-TW" sz="12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CA" altLang="zh-TW" dirty="0"/>
                  <a:t>,</a:t>
                </a:r>
                <a:r>
                  <a:rPr lang="en-CA" altLang="zh-TW" sz="12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TW" sz="12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CA" altLang="zh-TW" dirty="0"/>
                  <a:t>,</a:t>
                </a:r>
                <a:r>
                  <a:rPr lang="en-CA" altLang="zh-TW" sz="1200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TW" sz="12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altLang="zh-TW" sz="1200" b="0" i="1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CA" altLang="zh-TW" sz="1200" b="0" i="1" smtClean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D325628-4F83-40F8-A73A-01E242A48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1639" y="1958065"/>
                <a:ext cx="2964961" cy="147093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077BA35-72B6-4928-BE7B-917607504D48}"/>
                  </a:ext>
                </a:extLst>
              </p:cNvPr>
              <p:cNvSpPr/>
              <p:nvPr/>
            </p:nvSpPr>
            <p:spPr>
              <a:xfrm>
                <a:off x="435710" y="1450730"/>
                <a:ext cx="6650890" cy="360535"/>
              </a:xfrm>
              <a:prstGeom prst="round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𝑛𝑜𝑟𝑚𝑎𝑙𝑖𝑧𝑒𝑑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𝑀𝐷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077BA35-72B6-4928-BE7B-917607504D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710" y="1450730"/>
                <a:ext cx="6650890" cy="36053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86A359-3BEA-4010-8277-3C9F111B7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889788"/>
              </p:ext>
            </p:extLst>
          </p:nvPr>
        </p:nvGraphicFramePr>
        <p:xfrm>
          <a:off x="4422531" y="3874442"/>
          <a:ext cx="7333760" cy="1828800"/>
        </p:xfrm>
        <a:graphic>
          <a:graphicData uri="http://schemas.openxmlformats.org/drawingml/2006/table">
            <a:tbl>
              <a:tblPr/>
              <a:tblGrid>
                <a:gridCol w="931985">
                  <a:extLst>
                    <a:ext uri="{9D8B030D-6E8A-4147-A177-3AD203B41FA5}">
                      <a16:colId xmlns:a16="http://schemas.microsoft.com/office/drawing/2014/main" val="3919550093"/>
                    </a:ext>
                  </a:extLst>
                </a:gridCol>
                <a:gridCol w="2001519">
                  <a:extLst>
                    <a:ext uri="{9D8B030D-6E8A-4147-A177-3AD203B41FA5}">
                      <a16:colId xmlns:a16="http://schemas.microsoft.com/office/drawing/2014/main" val="3114134628"/>
                    </a:ext>
                  </a:extLst>
                </a:gridCol>
                <a:gridCol w="1466752">
                  <a:extLst>
                    <a:ext uri="{9D8B030D-6E8A-4147-A177-3AD203B41FA5}">
                      <a16:colId xmlns:a16="http://schemas.microsoft.com/office/drawing/2014/main" val="185016383"/>
                    </a:ext>
                  </a:extLst>
                </a:gridCol>
                <a:gridCol w="1466752">
                  <a:extLst>
                    <a:ext uri="{9D8B030D-6E8A-4147-A177-3AD203B41FA5}">
                      <a16:colId xmlns:a16="http://schemas.microsoft.com/office/drawing/2014/main" val="3127441671"/>
                    </a:ext>
                  </a:extLst>
                </a:gridCol>
                <a:gridCol w="1466752">
                  <a:extLst>
                    <a:ext uri="{9D8B030D-6E8A-4147-A177-3AD203B41FA5}">
                      <a16:colId xmlns:a16="http://schemas.microsoft.com/office/drawing/2014/main" val="3726997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CA" sz="1400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 dirty="0"/>
                        <a:t>Mean 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/>
                        <a:t>Standardized 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400"/>
                        <a:t>MDIP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154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R19_Min_Slope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/>
                        <a:t>0.493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1.186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0.493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6617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R19_Max_Slope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/>
                        <a:t>0.484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1.315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0.484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560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R49_AUC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0.535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0.804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0.424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1027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/>
                        <a:t>R1_Fractional_Change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0.503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0.682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0.338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688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400" dirty="0"/>
                        <a:t>R49_Min_Slope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/>
                        <a:t>0.502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/>
                        <a:t>0.592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400" dirty="0"/>
                        <a:t>0.293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795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060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02EF-C14B-4B3F-A092-0A3DAD22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Training&amp; Validation</a:t>
            </a:r>
            <a:endParaRPr lang="zh-TW" alt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8F0759-2008-4007-ADE9-2D00D7432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276928"/>
              </p:ext>
            </p:extLst>
          </p:nvPr>
        </p:nvGraphicFramePr>
        <p:xfrm>
          <a:off x="838200" y="1413679"/>
          <a:ext cx="8387687" cy="1097280"/>
        </p:xfrm>
        <a:graphic>
          <a:graphicData uri="http://schemas.openxmlformats.org/drawingml/2006/table">
            <a:tbl>
              <a:tblPr/>
              <a:tblGrid>
                <a:gridCol w="1552390">
                  <a:extLst>
                    <a:ext uri="{9D8B030D-6E8A-4147-A177-3AD203B41FA5}">
                      <a16:colId xmlns:a16="http://schemas.microsoft.com/office/drawing/2014/main" val="233675452"/>
                    </a:ext>
                  </a:extLst>
                </a:gridCol>
                <a:gridCol w="1601160">
                  <a:extLst>
                    <a:ext uri="{9D8B030D-6E8A-4147-A177-3AD203B41FA5}">
                      <a16:colId xmlns:a16="http://schemas.microsoft.com/office/drawing/2014/main" val="3435399630"/>
                    </a:ext>
                  </a:extLst>
                </a:gridCol>
                <a:gridCol w="1601160">
                  <a:extLst>
                    <a:ext uri="{9D8B030D-6E8A-4147-A177-3AD203B41FA5}">
                      <a16:colId xmlns:a16="http://schemas.microsoft.com/office/drawing/2014/main" val="2192696650"/>
                    </a:ext>
                  </a:extLst>
                </a:gridCol>
                <a:gridCol w="3632977">
                  <a:extLst>
                    <a:ext uri="{9D8B030D-6E8A-4147-A177-3AD203B41FA5}">
                      <a16:colId xmlns:a16="http://schemas.microsoft.com/office/drawing/2014/main" val="3210315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dirty="0"/>
                        <a:t>Samples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616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/>
                        <a:t>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Day 1–25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215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Feature ranking and model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485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/>
                        <a:t>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Day 26–30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/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Top-k and model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888357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EE3833-2CA7-486C-9E41-CD11F3E772E4}"/>
              </a:ext>
            </a:extLst>
          </p:cNvPr>
          <p:cNvSpPr/>
          <p:nvPr/>
        </p:nvSpPr>
        <p:spPr>
          <a:xfrm>
            <a:off x="838200" y="2739242"/>
            <a:ext cx="3297072" cy="38748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Training Procedure</a:t>
            </a:r>
          </a:p>
          <a:p>
            <a:pPr algn="ctr"/>
            <a:r>
              <a:rPr lang="en-US" altLang="zh-TW" dirty="0"/>
              <a:t>Day 1–25</a:t>
            </a:r>
          </a:p>
          <a:p>
            <a:pPr algn="ctr"/>
            <a:r>
              <a:rPr lang="en-US" altLang="zh-TW" dirty="0"/>
              <a:t>   ↓</a:t>
            </a:r>
          </a:p>
          <a:p>
            <a:pPr algn="ctr"/>
            <a:r>
              <a:rPr lang="en-US" altLang="zh-TW" dirty="0"/>
              <a:t>Feature Selection</a:t>
            </a:r>
          </a:p>
          <a:p>
            <a:pPr algn="ctr"/>
            <a:r>
              <a:rPr lang="en-US" altLang="zh-TW" dirty="0"/>
              <a:t>(All Features / Two-Stage MDIP Top-k)</a:t>
            </a:r>
          </a:p>
          <a:p>
            <a:pPr algn="ctr"/>
            <a:r>
              <a:rPr lang="en-US" altLang="zh-TW" dirty="0"/>
              <a:t>   ↓</a:t>
            </a:r>
          </a:p>
          <a:p>
            <a:pPr algn="ctr"/>
            <a:r>
              <a:rPr lang="en-US" altLang="zh-TW" dirty="0"/>
              <a:t>Standardization</a:t>
            </a:r>
          </a:p>
          <a:p>
            <a:pPr algn="ctr"/>
            <a:r>
              <a:rPr lang="en-US" altLang="zh-TW" dirty="0"/>
              <a:t>   ↓</a:t>
            </a:r>
          </a:p>
          <a:p>
            <a:pPr algn="ctr"/>
            <a:r>
              <a:rPr lang="en-US" altLang="zh-TW" dirty="0"/>
              <a:t>PCA</a:t>
            </a:r>
          </a:p>
          <a:p>
            <a:pPr algn="ctr"/>
            <a:r>
              <a:rPr lang="en-US" altLang="zh-TW" dirty="0"/>
              <a:t>   ↓</a:t>
            </a:r>
          </a:p>
          <a:p>
            <a:pPr algn="ctr"/>
            <a:r>
              <a:rPr lang="en-US" altLang="zh-TW" dirty="0"/>
              <a:t>Two-Stage Classifier</a:t>
            </a:r>
          </a:p>
          <a:p>
            <a:pPr algn="ctr"/>
            <a:r>
              <a:rPr lang="en-US" altLang="zh-TW" dirty="0"/>
              <a:t>(Linear SVM / Random Forest)</a:t>
            </a:r>
            <a:endParaRPr lang="zh-TW" alt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F8F3B2-9640-4124-BBB6-417051D422AC}"/>
              </a:ext>
            </a:extLst>
          </p:cNvPr>
          <p:cNvSpPr/>
          <p:nvPr/>
        </p:nvSpPr>
        <p:spPr>
          <a:xfrm>
            <a:off x="4297339" y="2739241"/>
            <a:ext cx="3297072" cy="375363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Validation Procedure</a:t>
            </a:r>
            <a:endParaRPr lang="en-CA" altLang="zh-TW" b="1" dirty="0"/>
          </a:p>
          <a:p>
            <a:pPr algn="ctr"/>
            <a:r>
              <a:rPr lang="en-CA" altLang="zh-TW" dirty="0" err="1"/>
              <a:t>Scaler.transform</a:t>
            </a:r>
            <a:r>
              <a:rPr lang="en-CA" altLang="zh-TW" dirty="0"/>
              <a:t> + </a:t>
            </a:r>
            <a:r>
              <a:rPr lang="en-CA" altLang="zh-TW" dirty="0" err="1"/>
              <a:t>PCA.transform</a:t>
            </a:r>
            <a:endParaRPr lang="en-CA" altLang="zh-TW" dirty="0"/>
          </a:p>
          <a:p>
            <a:pPr algn="ctr"/>
            <a:r>
              <a:rPr lang="en-CA" altLang="zh-TW" dirty="0"/>
              <a:t>↓</a:t>
            </a:r>
          </a:p>
          <a:p>
            <a:pPr algn="ctr"/>
            <a:r>
              <a:rPr lang="en-CA" altLang="zh-TW" dirty="0"/>
              <a:t>Day 26–30 Validation</a:t>
            </a:r>
          </a:p>
          <a:p>
            <a:pPr algn="ctr"/>
            <a:r>
              <a:rPr lang="en-CA" altLang="zh-TW" dirty="0"/>
              <a:t>↓</a:t>
            </a:r>
          </a:p>
          <a:p>
            <a:pPr algn="ctr"/>
            <a:r>
              <a:rPr lang="en-CA" altLang="zh-TW" dirty="0"/>
              <a:t>Compare Top-k and Models</a:t>
            </a:r>
          </a:p>
          <a:p>
            <a:pPr algn="ctr"/>
            <a:r>
              <a:rPr lang="en-CA" altLang="zh-TW" dirty="0"/>
              <a:t>↓</a:t>
            </a:r>
          </a:p>
          <a:p>
            <a:pPr algn="ctr"/>
            <a:r>
              <a:rPr lang="en-CA" altLang="zh-TW" dirty="0"/>
              <a:t>Select Best Model</a:t>
            </a:r>
            <a:endParaRPr lang="zh-TW" alt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511594-6F36-47E2-9A46-E2588E38FBA1}"/>
              </a:ext>
            </a:extLst>
          </p:cNvPr>
          <p:cNvSpPr/>
          <p:nvPr/>
        </p:nvSpPr>
        <p:spPr>
          <a:xfrm>
            <a:off x="7674592" y="5188310"/>
            <a:ext cx="3297072" cy="51202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Validation Macro F1</a:t>
            </a:r>
          </a:p>
        </p:txBody>
      </p:sp>
    </p:spTree>
    <p:extLst>
      <p:ext uri="{BB962C8B-B14F-4D97-AF65-F5344CB8AC3E}">
        <p14:creationId xmlns:p14="http://schemas.microsoft.com/office/powerpoint/2010/main" val="4069295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7082-1DBB-4B47-A997-88681A84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29" y="365125"/>
            <a:ext cx="11941790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Top-8 Features Achieved the Best Validation Performance</a:t>
            </a:r>
            <a:endParaRPr lang="zh-TW" altLang="en-US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79B6C8-DAB6-4D76-A3E9-8E3E4BF87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936" y="1553213"/>
            <a:ext cx="8010127" cy="4760227"/>
          </a:xfrm>
        </p:spPr>
      </p:pic>
    </p:spTree>
    <p:extLst>
      <p:ext uri="{BB962C8B-B14F-4D97-AF65-F5344CB8AC3E}">
        <p14:creationId xmlns:p14="http://schemas.microsoft.com/office/powerpoint/2010/main" val="3877051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6330-57D1-4A90-B69A-26380CA7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Different number of feature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3A995F-12E3-4F2C-80C0-1A4520725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3351" y="1576731"/>
            <a:ext cx="3148649" cy="2520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EEA5A5-FD3D-487D-A480-931578C3F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071"/>
          <a:stretch/>
        </p:blipFill>
        <p:spPr>
          <a:xfrm>
            <a:off x="6073140" y="1576731"/>
            <a:ext cx="2768602" cy="252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FA36C0-2F89-48D8-AEB7-B99BAC3440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071"/>
          <a:stretch/>
        </p:blipFill>
        <p:spPr>
          <a:xfrm>
            <a:off x="3102928" y="1576731"/>
            <a:ext cx="2768602" cy="252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F85D80-8F0D-4D23-A092-310F6F037F3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2071"/>
          <a:stretch/>
        </p:blipFill>
        <p:spPr>
          <a:xfrm>
            <a:off x="132716" y="1576731"/>
            <a:ext cx="2768602" cy="252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710F60-3C1B-4091-B9EA-044947D04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16" y="4184949"/>
            <a:ext cx="2883670" cy="2307926"/>
          </a:xfrm>
          <a:prstGeom prst="rect">
            <a:avLst/>
          </a:prstGeom>
        </p:spPr>
      </p:pic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926BC3CE-090C-456B-B94B-87726EF52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425395"/>
              </p:ext>
            </p:extLst>
          </p:nvPr>
        </p:nvGraphicFramePr>
        <p:xfrm>
          <a:off x="7631722" y="4250061"/>
          <a:ext cx="409721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3247">
                  <a:extLst>
                    <a:ext uri="{9D8B030D-6E8A-4147-A177-3AD203B41FA5}">
                      <a16:colId xmlns:a16="http://schemas.microsoft.com/office/drawing/2014/main" val="706382144"/>
                    </a:ext>
                  </a:extLst>
                </a:gridCol>
                <a:gridCol w="1863968">
                  <a:extLst>
                    <a:ext uri="{9D8B030D-6E8A-4147-A177-3AD203B41FA5}">
                      <a16:colId xmlns:a16="http://schemas.microsoft.com/office/drawing/2014/main" val="3505600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Number of feature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Accuracy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1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310(all feature)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97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5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0.96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26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92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8836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C529-1488-46FD-B120-FA58A586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PCA Training result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F69919-2F5F-4D85-A0F2-6E15EE0DE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2961" y="1348327"/>
            <a:ext cx="6646078" cy="5144548"/>
          </a:xfrm>
        </p:spPr>
      </p:pic>
    </p:spTree>
    <p:extLst>
      <p:ext uri="{BB962C8B-B14F-4D97-AF65-F5344CB8AC3E}">
        <p14:creationId xmlns:p14="http://schemas.microsoft.com/office/powerpoint/2010/main" val="19043483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CFFB0-A7C9-456C-B039-3B1DFD8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2-stage MDIP</a:t>
            </a:r>
            <a:endParaRPr lang="zh-TW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010CDD-C605-4F74-846A-D1A98A970DE6}"/>
              </a:ext>
            </a:extLst>
          </p:cNvPr>
          <p:cNvSpPr txBox="1"/>
          <p:nvPr/>
        </p:nvSpPr>
        <p:spPr>
          <a:xfrm>
            <a:off x="838199" y="1287025"/>
            <a:ext cx="99708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The original MDIP used the minimum distance among all VOC pairs. However, the main classification difficulty was EtOH vs. </a:t>
            </a:r>
            <a:r>
              <a:rPr lang="en-US" altLang="zh-TW" dirty="0" err="1"/>
              <a:t>Phenylethanol</a:t>
            </a:r>
            <a:r>
              <a:rPr lang="en-US" altLang="zh-TW" dirty="0"/>
              <a:t>.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0295048-68D8-40BA-8D99-AE0D43AA4528}"/>
                  </a:ext>
                </a:extLst>
              </p:cNvPr>
              <p:cNvSpPr/>
              <p:nvPr/>
            </p:nvSpPr>
            <p:spPr>
              <a:xfrm>
                <a:off x="100023" y="2218347"/>
                <a:ext cx="5290843" cy="209434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altLang="zh-TW" b="1" dirty="0"/>
                  <a:t>Stage 1: Diacetyl Detection</a:t>
                </a:r>
              </a:p>
              <a:p>
                <a:pPr algn="ctr"/>
                <a:endParaRPr lang="en-CA" altLang="zh-TW" dirty="0"/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CA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𝑀𝐷</m:t>
                        </m:r>
                      </m:e>
                      <m:sub>
                        <m:r>
                          <a:rPr lang="en-CA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altLang="zh-TW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CA" altLang="zh-TW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CA" altLang="zh-TW" dirty="0"/>
                  <a:t>,</a:t>
                </a:r>
                <a:r>
                  <a:rPr lang="en-CA" altLang="zh-TW" dirty="0">
                    <a:solidFill>
                      <a:prstClr val="white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altLang="zh-TW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CA" altLang="zh-TW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altLang="zh-TW" dirty="0">
                  <a:solidFill>
                    <a:prstClr val="white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altLang="zh-TW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sz="1800" i="1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  <m:sub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altLang="zh-TW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800" b="0" i="1" smtClean="0">
                                  <a:latin typeface="Cambria Math" panose="02040503050406030204" pitchFamily="18" charset="0"/>
                                </a:rPr>
                                <m:t>𝐷𝑖𝑎𝑐𝑒𝑡𝑦𝑙</m:t>
                              </m:r>
                            </m:sub>
                          </m:sSub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𝐸𝑡h𝑎𝑛𝑜𝑙</m:t>
                              </m:r>
                            </m:sub>
                          </m:sSub>
                          <m:r>
                            <a:rPr lang="en-CA" altLang="zh-TW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𝑝h𝑒𝑛𝑦𝑙𝑒𝑡h𝑎𝑛𝑜𝑙</m:t>
                              </m:r>
                            </m:sub>
                          </m:sSub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)/2</m:t>
                          </m:r>
                        </m:num>
                        <m:den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  <a:p>
                <a:pPr algn="ctr"/>
                <a:endParaRPr lang="zh-TW" altLang="en-US" dirty="0"/>
              </a:p>
              <a:p>
                <a:pPr algn="ctr"/>
                <a:endParaRPr lang="en-CA" altLang="zh-TW" dirty="0"/>
              </a:p>
            </p:txBody>
          </p:sp>
        </mc:Choice>
        <mc:Fallback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0295048-68D8-40BA-8D99-AE0D43AA45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3" y="2218347"/>
                <a:ext cx="5290843" cy="209434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501EDF4-857F-4601-A4B9-D8697F94B380}"/>
                  </a:ext>
                </a:extLst>
              </p:cNvPr>
              <p:cNvSpPr/>
              <p:nvPr/>
            </p:nvSpPr>
            <p:spPr>
              <a:xfrm>
                <a:off x="1007600" y="3763870"/>
                <a:ext cx="3885121" cy="36053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1=</m:t>
                      </m:r>
                      <m:sSub>
                        <m:sSubPr>
                          <m:ctrlPr>
                            <a:rPr lang="en-CA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  <m:sub>
                          <m:r>
                            <a:rPr lang="en-CA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𝑀𝐷</m:t>
                          </m:r>
                        </m:e>
                        <m:sub>
                          <m: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8501EDF4-857F-4601-A4B9-D8697F94B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0" y="3763870"/>
                <a:ext cx="3885121" cy="36053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CD7BF57-29D6-4C14-AE10-1733FB665C0E}"/>
                  </a:ext>
                </a:extLst>
              </p:cNvPr>
              <p:cNvSpPr/>
              <p:nvPr/>
            </p:nvSpPr>
            <p:spPr>
              <a:xfrm>
                <a:off x="100023" y="4381306"/>
                <a:ext cx="5195308" cy="2111569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CA" altLang="zh-TW" b="1" dirty="0"/>
                  <a:t>Stage 2: EtOH and </a:t>
                </a:r>
                <a:r>
                  <a:rPr lang="en-CA" altLang="zh-TW" b="1" dirty="0" err="1"/>
                  <a:t>Phenylethanol</a:t>
                </a:r>
                <a:r>
                  <a:rPr lang="en-CA" altLang="zh-TW" b="1" dirty="0"/>
                  <a:t> Detection</a:t>
                </a:r>
              </a:p>
              <a:p>
                <a:pPr algn="ctr"/>
                <a:endParaRPr lang="en-CA" altLang="zh-TW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𝑀𝐷</m:t>
                          </m:r>
                        </m:e>
                        <m:sub>
                          <m:r>
                            <a:rPr lang="en-CA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altLang="zh-TW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altLang="zh-TW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CA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CA" altLang="zh-TW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altLang="zh-TW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CA" altLang="zh-TW" dirty="0">
                  <a:solidFill>
                    <a:prstClr val="white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altLang="zh-TW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sz="1800" i="1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  <m:sub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altLang="zh-TW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CA" altLang="zh-TW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𝐸𝑡h𝑎𝑛𝑜𝑙</m:t>
                              </m:r>
                            </m:sub>
                          </m:sSub>
                          <m:r>
                            <a:rPr lang="en-CA" altLang="zh-TW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𝐼𝑃</m:t>
                              </m:r>
                            </m:e>
                            <m:sub>
                              <m:r>
                                <a:rPr lang="en-CA" altLang="zh-TW" sz="1800" i="1">
                                  <a:latin typeface="Cambria Math" panose="02040503050406030204" pitchFamily="18" charset="0"/>
                                </a:rPr>
                                <m:t>𝑝h𝑒𝑛𝑦𝑙𝑒𝑡h𝑎𝑛𝑜𝑙</m:t>
                              </m:r>
                            </m:sub>
                          </m:sSub>
                        </m:num>
                        <m:den>
                          <m:r>
                            <a:rPr lang="en-CA" altLang="zh-TW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  <a:p>
                <a:pPr algn="ctr"/>
                <a:endParaRPr lang="zh-TW" altLang="en-US" dirty="0"/>
              </a:p>
              <a:p>
                <a:pPr algn="ctr"/>
                <a:endParaRPr lang="en-CA" altLang="zh-TW" dirty="0"/>
              </a:p>
            </p:txBody>
          </p:sp>
        </mc:Choice>
        <mc:Fallback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FCD7BF57-29D6-4C14-AE10-1733FB665C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3" y="4381306"/>
                <a:ext cx="5195308" cy="2111569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AC1F88B-F94E-46F7-A758-4F51E73117F3}"/>
                  </a:ext>
                </a:extLst>
              </p:cNvPr>
              <p:cNvSpPr/>
              <p:nvPr/>
            </p:nvSpPr>
            <p:spPr>
              <a:xfrm>
                <a:off x="1007600" y="5992727"/>
                <a:ext cx="3885121" cy="36053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2=</m:t>
                      </m:r>
                      <m:sSub>
                        <m:sSubPr>
                          <m:ctrlPr>
                            <a:rPr lang="en-CA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latin typeface="Cambria Math" panose="02040503050406030204" pitchFamily="18" charset="0"/>
                            </a:rPr>
                            <m:t>𝐼𝑃</m:t>
                          </m:r>
                        </m:e>
                        <m:sub>
                          <m:r>
                            <a:rPr lang="en-CA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altLang="zh-TW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𝑀𝐷</m:t>
                          </m:r>
                        </m:e>
                        <m:sub>
                          <m: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en-CA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AC1F88B-F94E-46F7-A758-4F51E7311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600" y="5992727"/>
                <a:ext cx="3885121" cy="36053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C01E303-494D-4A34-9F48-A42B61A8E80D}"/>
                  </a:ext>
                </a:extLst>
              </p:cNvPr>
              <p:cNvSpPr/>
              <p:nvPr/>
            </p:nvSpPr>
            <p:spPr>
              <a:xfrm>
                <a:off x="6968349" y="2403546"/>
                <a:ext cx="4385451" cy="360535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=0.3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1+0.7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𝑀𝐷𝐼𝑃</m:t>
                      </m:r>
                      <m:r>
                        <a:rPr lang="en-CA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C01E303-494D-4A34-9F48-A42B61A8E8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349" y="2403546"/>
                <a:ext cx="4385451" cy="3605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1D9B186-8600-4CAA-A7DF-F4F11EEDF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49989"/>
              </p:ext>
            </p:extLst>
          </p:nvPr>
        </p:nvGraphicFramePr>
        <p:xfrm>
          <a:off x="5703582" y="3009919"/>
          <a:ext cx="6354278" cy="3541805"/>
        </p:xfrm>
        <a:graphic>
          <a:graphicData uri="http://schemas.openxmlformats.org/drawingml/2006/table">
            <a:tbl>
              <a:tblPr/>
              <a:tblGrid>
                <a:gridCol w="723640">
                  <a:extLst>
                    <a:ext uri="{9D8B030D-6E8A-4147-A177-3AD203B41FA5}">
                      <a16:colId xmlns:a16="http://schemas.microsoft.com/office/drawing/2014/main" val="3533447780"/>
                    </a:ext>
                  </a:extLst>
                </a:gridCol>
                <a:gridCol w="827012">
                  <a:extLst>
                    <a:ext uri="{9D8B030D-6E8A-4147-A177-3AD203B41FA5}">
                      <a16:colId xmlns:a16="http://schemas.microsoft.com/office/drawing/2014/main" val="551651906"/>
                    </a:ext>
                  </a:extLst>
                </a:gridCol>
                <a:gridCol w="567440">
                  <a:extLst>
                    <a:ext uri="{9D8B030D-6E8A-4147-A177-3AD203B41FA5}">
                      <a16:colId xmlns:a16="http://schemas.microsoft.com/office/drawing/2014/main" val="4200127862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4087916420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1279140223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1342798777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1161635957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2320003601"/>
                    </a:ext>
                  </a:extLst>
                </a:gridCol>
                <a:gridCol w="706031">
                  <a:extLst>
                    <a:ext uri="{9D8B030D-6E8A-4147-A177-3AD203B41FA5}">
                      <a16:colId xmlns:a16="http://schemas.microsoft.com/office/drawing/2014/main" val="4092754827"/>
                    </a:ext>
                  </a:extLst>
                </a:gridCol>
              </a:tblGrid>
              <a:tr h="893985">
                <a:tc>
                  <a:txBody>
                    <a:bodyPr/>
                    <a:lstStyle/>
                    <a:p>
                      <a:pPr algn="l"/>
                      <a:r>
                        <a:rPr lang="en-CA" sz="1200" dirty="0"/>
                        <a:t>Rank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Feature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1 IP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1 MD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2 IP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2 MD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1 MDIP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Stage 2 MDIP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A" sz="1200"/>
                        <a:t>Final Score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4581997"/>
                  </a:ext>
                </a:extLst>
              </a:tr>
              <a:tr h="63526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/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R1_Fractional_Change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0.503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5.671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2.626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0.440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/>
                        <a:t>0.504</a:t>
                      </a:r>
                      <a:endParaRPr lang="zh-TW" altLang="en-US" sz="12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411507"/>
                  </a:ext>
                </a:extLst>
              </a:tr>
              <a:tr h="63526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/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R31_Fractional_Change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0.503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4.754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1.695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0.369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/>
                        <a:t>0.483</a:t>
                      </a:r>
                      <a:endParaRPr lang="zh-TW" altLang="en-US" sz="12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363191"/>
                  </a:ext>
                </a:extLst>
              </a:tr>
              <a:tr h="254106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/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R49_AUC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7.935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0.518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1.008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0.349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/>
                        <a:t>0.405</a:t>
                      </a:r>
                      <a:endParaRPr lang="zh-TW" altLang="en-US" sz="12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981747"/>
                  </a:ext>
                </a:extLst>
              </a:tr>
              <a:tr h="63526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/>
                        <a:t>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R19_Fractional_Change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0.554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3.592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0.539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1.216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0.307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0.441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/>
                        <a:t>0.401</a:t>
                      </a:r>
                      <a:endParaRPr lang="zh-TW" altLang="en-US" sz="12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963080"/>
                  </a:ext>
                </a:extLst>
              </a:tr>
              <a:tr h="444687">
                <a:tc>
                  <a:txBody>
                    <a:bodyPr/>
                    <a:lstStyle/>
                    <a:p>
                      <a:pPr algn="l"/>
                      <a:r>
                        <a:rPr lang="en-US" altLang="zh-TW" sz="1200" dirty="0"/>
                        <a:t>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1200"/>
                        <a:t>R1_Min_Slope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dirty="0"/>
                        <a:t>0.544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4.801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0.510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0.858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0.403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/>
                        <a:t>0.291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200" b="1" dirty="0"/>
                        <a:t>0.325</a:t>
                      </a:r>
                      <a:endParaRPr lang="zh-TW" altLang="en-US" sz="12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615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6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F7082-1DBB-4B47-A997-88681A84B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729" y="365125"/>
            <a:ext cx="11941790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Top-14 Features Achieved the Best Validation Performance</a:t>
            </a:r>
            <a:endParaRPr lang="zh-TW" altLang="en-US" sz="3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DF6CB6-04B6-496C-BBD0-CC4AD32AE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3987" y="1395981"/>
            <a:ext cx="8324025" cy="4946769"/>
          </a:xfrm>
        </p:spPr>
      </p:pic>
    </p:spTree>
    <p:extLst>
      <p:ext uri="{BB962C8B-B14F-4D97-AF65-F5344CB8AC3E}">
        <p14:creationId xmlns:p14="http://schemas.microsoft.com/office/powerpoint/2010/main" val="2119535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6330-57D1-4A90-B69A-26380CA73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Different number of feature</a:t>
            </a:r>
            <a:endParaRPr lang="zh-TW" altLang="en-US" dirty="0"/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926BC3CE-090C-456B-B94B-87726EF52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48592"/>
              </p:ext>
            </p:extLst>
          </p:nvPr>
        </p:nvGraphicFramePr>
        <p:xfrm>
          <a:off x="7420707" y="4161571"/>
          <a:ext cx="433077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9492">
                  <a:extLst>
                    <a:ext uri="{9D8B030D-6E8A-4147-A177-3AD203B41FA5}">
                      <a16:colId xmlns:a16="http://schemas.microsoft.com/office/drawing/2014/main" val="706382144"/>
                    </a:ext>
                  </a:extLst>
                </a:gridCol>
                <a:gridCol w="1611281">
                  <a:extLst>
                    <a:ext uri="{9D8B030D-6E8A-4147-A177-3AD203B41FA5}">
                      <a16:colId xmlns:a16="http://schemas.microsoft.com/office/drawing/2014/main" val="3505600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Number of feature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Accuracy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1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310(all feature)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97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6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6"/>
                          </a:solidFill>
                        </a:rPr>
                        <a:t>0.98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57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8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ysClr val="windowText" lastClr="000000"/>
                          </a:solidFill>
                        </a:rPr>
                        <a:t>0.86</a:t>
                      </a:r>
                      <a:endParaRPr lang="zh-TW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267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0.73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927402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327325A-69A3-434D-A747-9A86F40AF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749" y="1307948"/>
            <a:ext cx="3148649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60343E-4510-49B3-B964-3875FEDAB9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207"/>
          <a:stretch/>
        </p:blipFill>
        <p:spPr>
          <a:xfrm>
            <a:off x="5879832" y="1307948"/>
            <a:ext cx="2795759" cy="25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4CDDC0-FD33-45C1-8BAA-A05A05A6E0E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207"/>
          <a:stretch/>
        </p:blipFill>
        <p:spPr>
          <a:xfrm>
            <a:off x="2939916" y="1307948"/>
            <a:ext cx="2795759" cy="252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CB7423-1471-4BCD-B07E-688FD5A36CF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1207"/>
          <a:stretch/>
        </p:blipFill>
        <p:spPr>
          <a:xfrm>
            <a:off x="0" y="1307948"/>
            <a:ext cx="2795759" cy="252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39B06CE-9639-4B67-89DC-82A42687C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716" y="4184949"/>
            <a:ext cx="2883670" cy="230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01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5946-0465-43C7-BA39-DF212C74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Comparison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649F2-C963-47FD-8AD9-6A8B598E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/>
              <a:t>The proposed two-stage MDIP achieved the highest accuracy of 0.98 using 14 features.</a:t>
            </a:r>
          </a:p>
          <a:p>
            <a:r>
              <a:rPr lang="en-US" altLang="zh-TW" sz="2000" dirty="0"/>
              <a:t>Two-stage MDIP reduced the feature dimensionality by more than 95% compared with the all-feature baseline.</a:t>
            </a:r>
          </a:p>
          <a:p>
            <a:r>
              <a:rPr lang="en-US" altLang="zh-TW" sz="2000" dirty="0"/>
              <a:t>The result shows that stage-specific feature ranking improves VOC discrimination, especially between EtOH and </a:t>
            </a:r>
            <a:r>
              <a:rPr lang="en-US" altLang="zh-TW" sz="2000" dirty="0" err="1"/>
              <a:t>Phenylethanol</a:t>
            </a:r>
            <a:r>
              <a:rPr lang="en-US" altLang="zh-TW" sz="2000" dirty="0"/>
              <a:t>.</a:t>
            </a:r>
            <a:endParaRPr lang="zh-TW" altLang="en-US" sz="2000" dirty="0"/>
          </a:p>
        </p:txBody>
      </p:sp>
      <p:graphicFrame>
        <p:nvGraphicFramePr>
          <p:cNvPr id="4" name="Table 16">
            <a:extLst>
              <a:ext uri="{FF2B5EF4-FFF2-40B4-BE49-F238E27FC236}">
                <a16:creationId xmlns:a16="http://schemas.microsoft.com/office/drawing/2014/main" id="{968CAA5B-8F38-43A9-B14F-DA3233C53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055275"/>
              </p:ext>
            </p:extLst>
          </p:nvPr>
        </p:nvGraphicFramePr>
        <p:xfrm>
          <a:off x="4299439" y="4693603"/>
          <a:ext cx="657957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862">
                  <a:extLst>
                    <a:ext uri="{9D8B030D-6E8A-4147-A177-3AD203B41FA5}">
                      <a16:colId xmlns:a16="http://schemas.microsoft.com/office/drawing/2014/main" val="2372597169"/>
                    </a:ext>
                  </a:extLst>
                </a:gridCol>
                <a:gridCol w="2928007">
                  <a:extLst>
                    <a:ext uri="{9D8B030D-6E8A-4147-A177-3AD203B41FA5}">
                      <a16:colId xmlns:a16="http://schemas.microsoft.com/office/drawing/2014/main" val="706382144"/>
                    </a:ext>
                  </a:extLst>
                </a:gridCol>
                <a:gridCol w="1503710">
                  <a:extLst>
                    <a:ext uri="{9D8B030D-6E8A-4147-A177-3AD203B41FA5}">
                      <a16:colId xmlns:a16="http://schemas.microsoft.com/office/drawing/2014/main" val="3505600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Feature selection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Number of feature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Accuracy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21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All feature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0.89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970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MDIP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56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6"/>
                          </a:solidFill>
                        </a:rPr>
                        <a:t>2-stage MDIP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6"/>
                          </a:solidFill>
                        </a:rPr>
                        <a:t>14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accent6"/>
                          </a:solidFill>
                        </a:rPr>
                        <a:t>0.98</a:t>
                      </a:r>
                      <a:endParaRPr lang="zh-TW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957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49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BB9B-798B-40FD-9A80-CFA78F46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4FE19-F936-4068-A660-08562ECE9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altLang="zh-TW" sz="1800" dirty="0"/>
              <a:t>Develop drift-aware feature selection by considering both class separability and feature stability across different days.</a:t>
            </a:r>
          </a:p>
          <a:p>
            <a:pPr>
              <a:lnSpc>
                <a:spcPct val="100000"/>
              </a:lnSpc>
            </a:pPr>
            <a:r>
              <a:rPr lang="en-CA" altLang="zh-TW" sz="1800" dirty="0"/>
              <a:t>Build separate feature sets for Stage 1 and Stage 2, instead of using the same selected features for both classification tasks.</a:t>
            </a:r>
          </a:p>
          <a:p>
            <a:pPr>
              <a:lnSpc>
                <a:spcPct val="100000"/>
              </a:lnSpc>
            </a:pPr>
            <a:r>
              <a:rPr lang="en-CA" altLang="zh-TW" sz="1800" dirty="0"/>
              <a:t>Compare different dimensionality-reduction settings, including fixed two-component PCA, 95% explained variance, and classification without PCA.</a:t>
            </a:r>
          </a:p>
          <a:p>
            <a:pPr>
              <a:lnSpc>
                <a:spcPct val="100000"/>
              </a:lnSpc>
            </a:pPr>
            <a:r>
              <a:rPr lang="en-CA" altLang="zh-TW" sz="1800" dirty="0"/>
              <a:t>Analyze the temporal drift of individual VOCs, particularly the shift of </a:t>
            </a:r>
            <a:r>
              <a:rPr lang="en-CA" altLang="zh-TW" sz="1800" dirty="0" err="1"/>
              <a:t>Phenylethanol</a:t>
            </a:r>
            <a:r>
              <a:rPr lang="en-CA" altLang="zh-TW" sz="1800" dirty="0"/>
              <a:t> toward the EtOH decision region.</a:t>
            </a:r>
          </a:p>
          <a:p>
            <a:pPr>
              <a:lnSpc>
                <a:spcPct val="100000"/>
              </a:lnSpc>
            </a:pPr>
            <a:r>
              <a:rPr lang="en-CA" altLang="zh-TW" sz="1800" dirty="0"/>
              <a:t>Evaluate the proposed method on longer time periods and additional VOC concentrations to verify its long-term robustness and generalizability.</a:t>
            </a:r>
          </a:p>
          <a:p>
            <a:pPr>
              <a:lnSpc>
                <a:spcPct val="100000"/>
              </a:lnSpc>
            </a:pPr>
            <a:endParaRPr lang="en-CA" altLang="zh-TW" sz="1800" dirty="0"/>
          </a:p>
        </p:txBody>
      </p:sp>
    </p:spTree>
    <p:extLst>
      <p:ext uri="{BB962C8B-B14F-4D97-AF65-F5344CB8AC3E}">
        <p14:creationId xmlns:p14="http://schemas.microsoft.com/office/powerpoint/2010/main" val="397881441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16C154-5A0F-4CDC-8C15-D2E2158464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6C3F92-CC28-42D8-BF09-0770755510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A6D3478-2986-4664-940C-67E0CAA21E0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{3B0BF26D-3894-4DBE-9686-92E0495B7537}TFc753ccf7-4498-4ed8-94c0-86a3b9f2a1eef843efdc_win32-c66155b11087</Template>
  <TotalTime>633</TotalTime>
  <Words>1281</Words>
  <Application>Microsoft Office PowerPoint</Application>
  <PresentationFormat>Widescreen</PresentationFormat>
  <Paragraphs>297</Paragraphs>
  <Slides>27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Calibri(body)</vt:lpstr>
      <vt:lpstr>Abadi</vt:lpstr>
      <vt:lpstr>Arial</vt:lpstr>
      <vt:lpstr>Calibri</vt:lpstr>
      <vt:lpstr>Calibri Light</vt:lpstr>
      <vt:lpstr>Cambria Math</vt:lpstr>
      <vt:lpstr>Franklin Gothic Book</vt:lpstr>
      <vt:lpstr>Franklin Gothic Demi</vt:lpstr>
      <vt:lpstr>Wingdings 2</vt:lpstr>
      <vt:lpstr>DividendVTI</vt:lpstr>
      <vt:lpstr>Office Theme</vt:lpstr>
      <vt:lpstr>Worksheet</vt:lpstr>
      <vt:lpstr>Two-Stage MDIP Feature Selection for Electronic-Nose VOC Classification</vt:lpstr>
      <vt:lpstr>Outline</vt:lpstr>
      <vt:lpstr>A Minimum Distance Inlier Probability (MDIP) Feature Selection Method to Improve Gas Classification for Electronic Nose Systems</vt:lpstr>
      <vt:lpstr>Problem Statement</vt:lpstr>
      <vt:lpstr>Methodology</vt:lpstr>
      <vt:lpstr>Algorithm- ranking strategy</vt:lpstr>
      <vt:lpstr>Result</vt:lpstr>
      <vt:lpstr>Result</vt:lpstr>
      <vt:lpstr>PowerPoint Presentation</vt:lpstr>
      <vt:lpstr>Conclusion</vt:lpstr>
      <vt:lpstr>Experiment</vt:lpstr>
      <vt:lpstr>Feature Extraction</vt:lpstr>
      <vt:lpstr>Preprocessing: Savitzky–Golay Filter</vt:lpstr>
      <vt:lpstr>Feature table</vt:lpstr>
      <vt:lpstr>Based Feature Screening</vt:lpstr>
      <vt:lpstr>PCA Day1-3 result comparison</vt:lpstr>
      <vt:lpstr>Correlation-Based Redundancy Screening</vt:lpstr>
      <vt:lpstr>MDIP</vt:lpstr>
      <vt:lpstr>Training&amp; Validation</vt:lpstr>
      <vt:lpstr>Top-8 Features Achieved the Best Validation Performance</vt:lpstr>
      <vt:lpstr>Different number of feature</vt:lpstr>
      <vt:lpstr>PCA Training result</vt:lpstr>
      <vt:lpstr>2-stage MDIP</vt:lpstr>
      <vt:lpstr>Top-14 Features Achieved the Best Validation Performance</vt:lpstr>
      <vt:lpstr>Different number of feature</vt:lpstr>
      <vt:lpstr>Comparison</vt:lpstr>
      <vt:lpstr>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Two-Stage MDIP Feature Selection for Electronic-Nose VOC Classification</dc:title>
  <dc:creator>Yvonne Chen</dc:creator>
  <cp:lastModifiedBy>Yvonne Chen</cp:lastModifiedBy>
  <cp:revision>14</cp:revision>
  <dcterms:created xsi:type="dcterms:W3CDTF">2026-08-04T07:43:49Z</dcterms:created>
  <dcterms:modified xsi:type="dcterms:W3CDTF">2026-08-04T18:17:08Z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