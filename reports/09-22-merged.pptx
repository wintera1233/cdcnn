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72" r:id="rId1"/>
  </p:sldMasterIdLst>
  <p:notesMasterIdLst>
    <p:notesMasterId r:id="rId18"/>
  </p:notesMasterIdLst>
  <p:sldIdLst>
    <p:sldId id="315" r:id="rId2"/>
    <p:sldId id="327" r:id="rId3"/>
    <p:sldId id="316" r:id="rId4"/>
    <p:sldId id="318" r:id="rId5"/>
    <p:sldId id="319" r:id="rId6"/>
    <p:sldId id="320" r:id="rId7"/>
    <p:sldId id="321" r:id="rId8"/>
    <p:sldId id="322" r:id="rId9"/>
    <p:sldId id="326" r:id="rId10"/>
    <p:sldId id="323" r:id="rId11"/>
    <p:sldId id="324" r:id="rId12"/>
    <p:sldId id="328" r:id="rId17"/>
    <p:sldId id="329" r:id="rId16"/>
    <p:sldId id="330" r:id="rId15"/>
    <p:sldId id="331" r:id="rId14"/>
    <p:sldId id="332" r:id="rId13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F589BC7-C77D-4DC2-9EB4-8320D16199E8}">
          <p14:sldIdLst>
            <p14:sldId id="315"/>
            <p14:sldId id="327"/>
            <p14:sldId id="316"/>
            <p14:sldId id="318"/>
            <p14:sldId id="319"/>
            <p14:sldId id="320"/>
            <p14:sldId id="321"/>
            <p14:sldId id="322"/>
            <p14:sldId id="326"/>
            <p14:sldId id="323"/>
            <p14:sldId id="324"/>
            <p14:sldId id="328"/>
            <p14:sldId id="329"/>
            <p14:sldId id="330"/>
            <p14:sldId id="331"/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e10001@gmail.com" initials="w" lastIdx="1" clrIdx="0">
    <p:extLst>
      <p:ext uri="{19B8F6BF-5375-455C-9EA6-DF929625EA0E}">
        <p15:presenceInfo xmlns:p15="http://schemas.microsoft.com/office/powerpoint/2012/main" userId="352a12620070698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D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79974" autoAdjust="0"/>
  </p:normalViewPr>
  <p:slideViewPr>
    <p:cSldViewPr snapToGrid="0">
      <p:cViewPr varScale="1">
        <p:scale>
          <a:sx n="105" d="100"/>
          <a:sy n="105" d="100"/>
        </p:scale>
        <p:origin x="360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6.xml"/><Relationship Id="rId14" Type="http://schemas.openxmlformats.org/officeDocument/2006/relationships/slide" Target="slides/slide15.xml"/><Relationship Id="rId15" Type="http://schemas.openxmlformats.org/officeDocument/2006/relationships/slide" Target="slides/slide14.xml"/><Relationship Id="rId16" Type="http://schemas.openxmlformats.org/officeDocument/2006/relationships/slide" Target="slides/slide13.xml"/><Relationship Id="rId17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vonne Chen" userId="cdf6c2fa8f1ea833" providerId="LiveId" clId="{DCA5A71D-B571-4584-930E-95E8AD7C3DB8}"/>
    <pc:docChg chg="undo redo custSel addSld delSld modSld modSection">
      <pc:chgData name="Yvonne Chen" userId="cdf6c2fa8f1ea833" providerId="LiveId" clId="{DCA5A71D-B571-4584-930E-95E8AD7C3DB8}" dt="2026-09-29T06:08:20.735" v="4307" actId="20577"/>
      <pc:docMkLst>
        <pc:docMk/>
      </pc:docMkLst>
      <pc:sldChg chg="modSp mod">
        <pc:chgData name="Yvonne Chen" userId="cdf6c2fa8f1ea833" providerId="LiveId" clId="{DCA5A71D-B571-4584-930E-95E8AD7C3DB8}" dt="2026-09-22T04:21:24.364" v="1" actId="1076"/>
        <pc:sldMkLst>
          <pc:docMk/>
          <pc:sldMk cId="2152298854" sldId="315"/>
        </pc:sldMkLst>
        <pc:spChg chg="mod">
          <ac:chgData name="Yvonne Chen" userId="cdf6c2fa8f1ea833" providerId="LiveId" clId="{DCA5A71D-B571-4584-930E-95E8AD7C3DB8}" dt="2026-09-22T04:21:24.364" v="1" actId="1076"/>
          <ac:spMkLst>
            <pc:docMk/>
            <pc:sldMk cId="2152298854" sldId="315"/>
            <ac:spMk id="2" creationId="{F1A621B8-F77A-44B9-8DA7-492E3A86D86F}"/>
          </ac:spMkLst>
        </pc:spChg>
      </pc:sldChg>
      <pc:sldChg chg="modSp mod">
        <pc:chgData name="Yvonne Chen" userId="cdf6c2fa8f1ea833" providerId="LiveId" clId="{DCA5A71D-B571-4584-930E-95E8AD7C3DB8}" dt="2026-09-29T05:51:38.243" v="4181" actId="20577"/>
        <pc:sldMkLst>
          <pc:docMk/>
          <pc:sldMk cId="1345758893" sldId="316"/>
        </pc:sldMkLst>
        <pc:spChg chg="mod">
          <ac:chgData name="Yvonne Chen" userId="cdf6c2fa8f1ea833" providerId="LiveId" clId="{DCA5A71D-B571-4584-930E-95E8AD7C3DB8}" dt="2026-09-29T05:51:38.243" v="4181" actId="20577"/>
          <ac:spMkLst>
            <pc:docMk/>
            <pc:sldMk cId="1345758893" sldId="316"/>
            <ac:spMk id="4" creationId="{B6CA089B-1845-4CC1-8FAE-918254220BCC}"/>
          </ac:spMkLst>
        </pc:spChg>
      </pc:sldChg>
      <pc:sldChg chg="modSp mod">
        <pc:chgData name="Yvonne Chen" userId="cdf6c2fa8f1ea833" providerId="LiveId" clId="{DCA5A71D-B571-4584-930E-95E8AD7C3DB8}" dt="2026-09-29T05:17:27.506" v="1484" actId="20577"/>
        <pc:sldMkLst>
          <pc:docMk/>
          <pc:sldMk cId="2973553008" sldId="320"/>
        </pc:sldMkLst>
        <pc:spChg chg="mod">
          <ac:chgData name="Yvonne Chen" userId="cdf6c2fa8f1ea833" providerId="LiveId" clId="{DCA5A71D-B571-4584-930E-95E8AD7C3DB8}" dt="2026-09-29T05:17:27.506" v="1484" actId="20577"/>
          <ac:spMkLst>
            <pc:docMk/>
            <pc:sldMk cId="2973553008" sldId="320"/>
            <ac:spMk id="5" creationId="{8EEE2174-501C-4F1E-967D-B2207CDC2B30}"/>
          </ac:spMkLst>
        </pc:spChg>
        <pc:picChg chg="mod">
          <ac:chgData name="Yvonne Chen" userId="cdf6c2fa8f1ea833" providerId="LiveId" clId="{DCA5A71D-B571-4584-930E-95E8AD7C3DB8}" dt="2026-09-29T05:13:12.437" v="1200" actId="1076"/>
          <ac:picMkLst>
            <pc:docMk/>
            <pc:sldMk cId="2973553008" sldId="320"/>
            <ac:picMk id="10" creationId="{504DC2FC-0FEB-4D5A-8A68-7D4A288409C5}"/>
          </ac:picMkLst>
        </pc:picChg>
      </pc:sldChg>
      <pc:sldChg chg="modSp mod">
        <pc:chgData name="Yvonne Chen" userId="cdf6c2fa8f1ea833" providerId="LiveId" clId="{DCA5A71D-B571-4584-930E-95E8AD7C3DB8}" dt="2026-09-29T06:08:20.735" v="4307" actId="20577"/>
        <pc:sldMkLst>
          <pc:docMk/>
          <pc:sldMk cId="2516555416" sldId="321"/>
        </pc:sldMkLst>
        <pc:spChg chg="mod">
          <ac:chgData name="Yvonne Chen" userId="cdf6c2fa8f1ea833" providerId="LiveId" clId="{DCA5A71D-B571-4584-930E-95E8AD7C3DB8}" dt="2026-09-29T06:08:20.735" v="4307" actId="20577"/>
          <ac:spMkLst>
            <pc:docMk/>
            <pc:sldMk cId="2516555416" sldId="321"/>
            <ac:spMk id="7" creationId="{5DA208A1-8E70-44E6-BC82-8F7FE9095FC0}"/>
          </ac:spMkLst>
        </pc:spChg>
      </pc:sldChg>
      <pc:sldChg chg="modSp mod">
        <pc:chgData name="Yvonne Chen" userId="cdf6c2fa8f1ea833" providerId="LiveId" clId="{DCA5A71D-B571-4584-930E-95E8AD7C3DB8}" dt="2026-09-29T05:54:14.300" v="4298" actId="20577"/>
        <pc:sldMkLst>
          <pc:docMk/>
          <pc:sldMk cId="3394191139" sldId="325"/>
        </pc:sldMkLst>
        <pc:spChg chg="mod">
          <ac:chgData name="Yvonne Chen" userId="cdf6c2fa8f1ea833" providerId="LiveId" clId="{DCA5A71D-B571-4584-930E-95E8AD7C3DB8}" dt="2026-09-29T05:54:14.300" v="4298" actId="20577"/>
          <ac:spMkLst>
            <pc:docMk/>
            <pc:sldMk cId="3394191139" sldId="325"/>
            <ac:spMk id="4" creationId="{F5B4CD51-7521-4B7C-90C3-1067D8DC9959}"/>
          </ac:spMkLst>
        </pc:spChg>
      </pc:sldChg>
      <pc:sldChg chg="addSp delSp modSp new mod">
        <pc:chgData name="Yvonne Chen" userId="cdf6c2fa8f1ea833" providerId="LiveId" clId="{DCA5A71D-B571-4584-930E-95E8AD7C3DB8}" dt="2026-09-22T04:34:35.356" v="1067" actId="1076"/>
        <pc:sldMkLst>
          <pc:docMk/>
          <pc:sldMk cId="1934456855" sldId="326"/>
        </pc:sldMkLst>
        <pc:spChg chg="mod">
          <ac:chgData name="Yvonne Chen" userId="cdf6c2fa8f1ea833" providerId="LiveId" clId="{DCA5A71D-B571-4584-930E-95E8AD7C3DB8}" dt="2026-09-22T04:31:32.158" v="746" actId="404"/>
          <ac:spMkLst>
            <pc:docMk/>
            <pc:sldMk cId="1934456855" sldId="326"/>
            <ac:spMk id="2" creationId="{61D9E4CA-8B45-498E-9B3C-0CD5989AAFE2}"/>
          </ac:spMkLst>
        </pc:spChg>
        <pc:spChg chg="del">
          <ac:chgData name="Yvonne Chen" userId="cdf6c2fa8f1ea833" providerId="LiveId" clId="{DCA5A71D-B571-4584-930E-95E8AD7C3DB8}" dt="2026-09-22T04:30:57.137" v="734" actId="22"/>
          <ac:spMkLst>
            <pc:docMk/>
            <pc:sldMk cId="1934456855" sldId="326"/>
            <ac:spMk id="4" creationId="{06A2D2A4-1A7A-4C03-8A72-27884D812991}"/>
          </ac:spMkLst>
        </pc:spChg>
        <pc:spChg chg="add mod">
          <ac:chgData name="Yvonne Chen" userId="cdf6c2fa8f1ea833" providerId="LiveId" clId="{DCA5A71D-B571-4584-930E-95E8AD7C3DB8}" dt="2026-09-22T04:34:23.601" v="1063" actId="404"/>
          <ac:spMkLst>
            <pc:docMk/>
            <pc:sldMk cId="1934456855" sldId="326"/>
            <ac:spMk id="7" creationId="{A3A94744-DCE6-4EAC-B9B1-E141DB080B15}"/>
          </ac:spMkLst>
        </pc:spChg>
        <pc:picChg chg="add mod ord">
          <ac:chgData name="Yvonne Chen" userId="cdf6c2fa8f1ea833" providerId="LiveId" clId="{DCA5A71D-B571-4584-930E-95E8AD7C3DB8}" dt="2026-09-22T04:34:35.356" v="1067" actId="1076"/>
          <ac:picMkLst>
            <pc:docMk/>
            <pc:sldMk cId="1934456855" sldId="326"/>
            <ac:picMk id="6" creationId="{B09DFA15-DA68-44DE-9B5B-EF2ACD0B6B69}"/>
          </ac:picMkLst>
        </pc:picChg>
      </pc:sldChg>
      <pc:sldChg chg="modSp new del mod">
        <pc:chgData name="Yvonne Chen" userId="cdf6c2fa8f1ea833" providerId="LiveId" clId="{DCA5A71D-B571-4584-930E-95E8AD7C3DB8}" dt="2026-09-29T05:17:58.753" v="1499" actId="47"/>
        <pc:sldMkLst>
          <pc:docMk/>
          <pc:sldMk cId="2274906692" sldId="327"/>
        </pc:sldMkLst>
        <pc:spChg chg="mod">
          <ac:chgData name="Yvonne Chen" userId="cdf6c2fa8f1ea833" providerId="LiveId" clId="{DCA5A71D-B571-4584-930E-95E8AD7C3DB8}" dt="2026-09-29T05:17:57.418" v="1498" actId="20577"/>
          <ac:spMkLst>
            <pc:docMk/>
            <pc:sldMk cId="2274906692" sldId="327"/>
            <ac:spMk id="2" creationId="{AB810759-E629-4972-A0E5-0925FA777B3B}"/>
          </ac:spMkLst>
        </pc:spChg>
      </pc:sldChg>
      <pc:sldChg chg="modSp new add del mod">
        <pc:chgData name="Yvonne Chen" userId="cdf6c2fa8f1ea833" providerId="LiveId" clId="{DCA5A71D-B571-4584-930E-95E8AD7C3DB8}" dt="2026-09-29T05:19:42.383" v="1657" actId="2710"/>
        <pc:sldMkLst>
          <pc:docMk/>
          <pc:sldMk cId="3349366117" sldId="327"/>
        </pc:sldMkLst>
        <pc:spChg chg="mod">
          <ac:chgData name="Yvonne Chen" userId="cdf6c2fa8f1ea833" providerId="LiveId" clId="{DCA5A71D-B571-4584-930E-95E8AD7C3DB8}" dt="2026-09-29T05:18:06.263" v="1509" actId="20577"/>
          <ac:spMkLst>
            <pc:docMk/>
            <pc:sldMk cId="3349366117" sldId="327"/>
            <ac:spMk id="2" creationId="{865F6C4D-2825-4488-9FE5-55624C269E7B}"/>
          </ac:spMkLst>
        </pc:spChg>
        <pc:spChg chg="mod">
          <ac:chgData name="Yvonne Chen" userId="cdf6c2fa8f1ea833" providerId="LiveId" clId="{DCA5A71D-B571-4584-930E-95E8AD7C3DB8}" dt="2026-09-29T05:19:42.383" v="1657" actId="2710"/>
          <ac:spMkLst>
            <pc:docMk/>
            <pc:sldMk cId="3349366117" sldId="327"/>
            <ac:spMk id="3" creationId="{4A2E76B6-15C8-4355-A951-01577F8B66DD}"/>
          </ac:spMkLst>
        </pc:spChg>
      </pc:sldChg>
      <pc:sldChg chg="addSp delSp modSp new mod">
        <pc:chgData name="Yvonne Chen" userId="cdf6c2fa8f1ea833" providerId="LiveId" clId="{DCA5A71D-B571-4584-930E-95E8AD7C3DB8}" dt="2026-09-29T05:30:03.354" v="2672" actId="20577"/>
        <pc:sldMkLst>
          <pc:docMk/>
          <pc:sldMk cId="1256603778" sldId="328"/>
        </pc:sldMkLst>
        <pc:spChg chg="mod">
          <ac:chgData name="Yvonne Chen" userId="cdf6c2fa8f1ea833" providerId="LiveId" clId="{DCA5A71D-B571-4584-930E-95E8AD7C3DB8}" dt="2026-09-29T05:20:08.542" v="1684" actId="20577"/>
          <ac:spMkLst>
            <pc:docMk/>
            <pc:sldMk cId="1256603778" sldId="328"/>
            <ac:spMk id="2" creationId="{68C52178-C8AC-4F2F-A49C-36C89AB02C32}"/>
          </ac:spMkLst>
        </pc:spChg>
        <pc:spChg chg="mod">
          <ac:chgData name="Yvonne Chen" userId="cdf6c2fa8f1ea833" providerId="LiveId" clId="{DCA5A71D-B571-4584-930E-95E8AD7C3DB8}" dt="2026-09-29T05:30:03.354" v="2672" actId="20577"/>
          <ac:spMkLst>
            <pc:docMk/>
            <pc:sldMk cId="1256603778" sldId="328"/>
            <ac:spMk id="4" creationId="{55B95B45-32FB-480C-980F-702D2E9CF16F}"/>
          </ac:spMkLst>
        </pc:spChg>
        <pc:spChg chg="add del">
          <ac:chgData name="Yvonne Chen" userId="cdf6c2fa8f1ea833" providerId="LiveId" clId="{DCA5A71D-B571-4584-930E-95E8AD7C3DB8}" dt="2026-09-29T05:26:58.171" v="2249"/>
          <ac:spMkLst>
            <pc:docMk/>
            <pc:sldMk cId="1256603778" sldId="328"/>
            <ac:spMk id="6" creationId="{AFC8D0F4-399A-4B12-AEE6-9216E098DDF3}"/>
          </ac:spMkLst>
        </pc:spChg>
        <pc:picChg chg="add del mod">
          <ac:chgData name="Yvonne Chen" userId="cdf6c2fa8f1ea833" providerId="LiveId" clId="{DCA5A71D-B571-4584-930E-95E8AD7C3DB8}" dt="2026-09-29T05:21:13.852" v="1687" actId="478"/>
          <ac:picMkLst>
            <pc:docMk/>
            <pc:sldMk cId="1256603778" sldId="328"/>
            <ac:picMk id="5" creationId="{CB60C59E-87DD-47F9-9D31-272EE0048E79}"/>
          </ac:picMkLst>
        </pc:picChg>
      </pc:sldChg>
      <pc:sldChg chg="addSp delSp modSp new del mod">
        <pc:chgData name="Yvonne Chen" userId="cdf6c2fa8f1ea833" providerId="LiveId" clId="{DCA5A71D-B571-4584-930E-95E8AD7C3DB8}" dt="2026-09-29T05:32:06.859" v="2713" actId="47"/>
        <pc:sldMkLst>
          <pc:docMk/>
          <pc:sldMk cId="1563941027" sldId="329"/>
        </pc:sldMkLst>
        <pc:spChg chg="mod">
          <ac:chgData name="Yvonne Chen" userId="cdf6c2fa8f1ea833" providerId="LiveId" clId="{DCA5A71D-B571-4584-930E-95E8AD7C3DB8}" dt="2026-09-29T05:31:01.909" v="2675" actId="27636"/>
          <ac:spMkLst>
            <pc:docMk/>
            <pc:sldMk cId="1563941027" sldId="329"/>
            <ac:spMk id="2" creationId="{28FE4B62-3C15-40E8-AD7E-0A62CB7FBB58}"/>
          </ac:spMkLst>
        </pc:spChg>
        <pc:spChg chg="del">
          <ac:chgData name="Yvonne Chen" userId="cdf6c2fa8f1ea833" providerId="LiveId" clId="{DCA5A71D-B571-4584-930E-95E8AD7C3DB8}" dt="2026-09-29T05:31:30.582" v="2682"/>
          <ac:spMkLst>
            <pc:docMk/>
            <pc:sldMk cId="1563941027" sldId="329"/>
            <ac:spMk id="4" creationId="{E7F8F6E7-0CC8-49DE-B2AA-57E14A445A9E}"/>
          </ac:spMkLst>
        </pc:spChg>
        <pc:spChg chg="add mod">
          <ac:chgData name="Yvonne Chen" userId="cdf6c2fa8f1ea833" providerId="LiveId" clId="{DCA5A71D-B571-4584-930E-95E8AD7C3DB8}" dt="2026-09-29T05:32:01.346" v="2712" actId="478"/>
          <ac:spMkLst>
            <pc:docMk/>
            <pc:sldMk cId="1563941027" sldId="329"/>
            <ac:spMk id="9" creationId="{8715A0B3-9881-4935-967A-B0EF807C21F6}"/>
          </ac:spMkLst>
        </pc:spChg>
        <pc:graphicFrameChg chg="add del mod modGraphic">
          <ac:chgData name="Yvonne Chen" userId="cdf6c2fa8f1ea833" providerId="LiveId" clId="{DCA5A71D-B571-4584-930E-95E8AD7C3DB8}" dt="2026-09-29T05:32:01.346" v="2712" actId="478"/>
          <ac:graphicFrameMkLst>
            <pc:docMk/>
            <pc:sldMk cId="1563941027" sldId="329"/>
            <ac:graphicFrameMk id="7" creationId="{FC89D5FF-54BF-41FC-8A6F-0AEFBB9B6067}"/>
          </ac:graphicFrameMkLst>
        </pc:graphicFrameChg>
        <pc:picChg chg="add mod">
          <ac:chgData name="Yvonne Chen" userId="cdf6c2fa8f1ea833" providerId="LiveId" clId="{DCA5A71D-B571-4584-930E-95E8AD7C3DB8}" dt="2026-09-29T05:31:09.519" v="2678" actId="1076"/>
          <ac:picMkLst>
            <pc:docMk/>
            <pc:sldMk cId="1563941027" sldId="329"/>
            <ac:picMk id="5" creationId="{48AEFC40-1AF8-4EC9-8C57-15E28A6408E2}"/>
          </ac:picMkLst>
        </pc:picChg>
        <pc:picChg chg="add mod modCrop">
          <ac:chgData name="Yvonne Chen" userId="cdf6c2fa8f1ea833" providerId="LiveId" clId="{DCA5A71D-B571-4584-930E-95E8AD7C3DB8}" dt="2026-09-29T05:31:21.470" v="2681" actId="1076"/>
          <ac:picMkLst>
            <pc:docMk/>
            <pc:sldMk cId="1563941027" sldId="329"/>
            <ac:picMk id="6" creationId="{2A77387E-C779-4C9F-A508-3FB65465908B}"/>
          </ac:picMkLst>
        </pc:picChg>
      </pc:sldChg>
      <pc:sldChg chg="addSp delSp modSp new mod">
        <pc:chgData name="Yvonne Chen" userId="cdf6c2fa8f1ea833" providerId="LiveId" clId="{DCA5A71D-B571-4584-930E-95E8AD7C3DB8}" dt="2026-09-29T05:35:04.347" v="2817" actId="403"/>
        <pc:sldMkLst>
          <pc:docMk/>
          <pc:sldMk cId="3378260168" sldId="329"/>
        </pc:sldMkLst>
        <pc:spChg chg="mod">
          <ac:chgData name="Yvonne Chen" userId="cdf6c2fa8f1ea833" providerId="LiveId" clId="{DCA5A71D-B571-4584-930E-95E8AD7C3DB8}" dt="2026-09-29T05:35:04.347" v="2817" actId="403"/>
          <ac:spMkLst>
            <pc:docMk/>
            <pc:sldMk cId="3378260168" sldId="329"/>
            <ac:spMk id="2" creationId="{11314B23-4183-4A8F-ADDF-38670CAAA2E4}"/>
          </ac:spMkLst>
        </pc:spChg>
        <pc:spChg chg="add del">
          <ac:chgData name="Yvonne Chen" userId="cdf6c2fa8f1ea833" providerId="LiveId" clId="{DCA5A71D-B571-4584-930E-95E8AD7C3DB8}" dt="2026-09-29T05:32:47.384" v="2728"/>
          <ac:spMkLst>
            <pc:docMk/>
            <pc:sldMk cId="3378260168" sldId="329"/>
            <ac:spMk id="4" creationId="{C4A839A0-231C-4BD4-880A-4E93896B1AC0}"/>
          </ac:spMkLst>
        </pc:spChg>
        <pc:spChg chg="add del mod">
          <ac:chgData name="Yvonne Chen" userId="cdf6c2fa8f1ea833" providerId="LiveId" clId="{DCA5A71D-B571-4584-930E-95E8AD7C3DB8}" dt="2026-09-29T05:32:46.554" v="2725" actId="478"/>
          <ac:spMkLst>
            <pc:docMk/>
            <pc:sldMk cId="3378260168" sldId="329"/>
            <ac:spMk id="8" creationId="{63D860FB-5118-4AF5-B51D-4F6F79D8DE13}"/>
          </ac:spMkLst>
        </pc:spChg>
        <pc:graphicFrameChg chg="add del mod modGraphic">
          <ac:chgData name="Yvonne Chen" userId="cdf6c2fa8f1ea833" providerId="LiveId" clId="{DCA5A71D-B571-4584-930E-95E8AD7C3DB8}" dt="2026-09-29T05:32:49.003" v="2734"/>
          <ac:graphicFrameMkLst>
            <pc:docMk/>
            <pc:sldMk cId="3378260168" sldId="329"/>
            <ac:graphicFrameMk id="5" creationId="{529D0477-5340-4D05-8BBC-A24CE2553739}"/>
          </ac:graphicFrameMkLst>
        </pc:graphicFrameChg>
        <pc:picChg chg="add del mod">
          <ac:chgData name="Yvonne Chen" userId="cdf6c2fa8f1ea833" providerId="LiveId" clId="{DCA5A71D-B571-4584-930E-95E8AD7C3DB8}" dt="2026-09-29T05:32:47.384" v="2728"/>
          <ac:picMkLst>
            <pc:docMk/>
            <pc:sldMk cId="3378260168" sldId="329"/>
            <ac:picMk id="6" creationId="{5413C662-817A-4058-94C8-508900B8F08E}"/>
          </ac:picMkLst>
        </pc:picChg>
        <pc:picChg chg="add mod">
          <ac:chgData name="Yvonne Chen" userId="cdf6c2fa8f1ea833" providerId="LiveId" clId="{DCA5A71D-B571-4584-930E-95E8AD7C3DB8}" dt="2026-09-29T05:34:10.464" v="2782" actId="1076"/>
          <ac:picMkLst>
            <pc:docMk/>
            <pc:sldMk cId="3378260168" sldId="329"/>
            <ac:picMk id="9" creationId="{EA16291B-E140-4975-A576-18AEE9CA8C50}"/>
          </ac:picMkLst>
        </pc:picChg>
        <pc:picChg chg="add mod">
          <ac:chgData name="Yvonne Chen" userId="cdf6c2fa8f1ea833" providerId="LiveId" clId="{DCA5A71D-B571-4584-930E-95E8AD7C3DB8}" dt="2026-09-29T05:34:19.376" v="2784" actId="1076"/>
          <ac:picMkLst>
            <pc:docMk/>
            <pc:sldMk cId="3378260168" sldId="329"/>
            <ac:picMk id="10" creationId="{2F518D64-EBD4-47FD-ACE7-C2C7C5540221}"/>
          </ac:picMkLst>
        </pc:picChg>
      </pc:sldChg>
      <pc:sldChg chg="addSp delSp modSp new mod">
        <pc:chgData name="Yvonne Chen" userId="cdf6c2fa8f1ea833" providerId="LiveId" clId="{DCA5A71D-B571-4584-930E-95E8AD7C3DB8}" dt="2026-09-29T05:44:14.695" v="3728" actId="1076"/>
        <pc:sldMkLst>
          <pc:docMk/>
          <pc:sldMk cId="197851043" sldId="330"/>
        </pc:sldMkLst>
        <pc:spChg chg="mod">
          <ac:chgData name="Yvonne Chen" userId="cdf6c2fa8f1ea833" providerId="LiveId" clId="{DCA5A71D-B571-4584-930E-95E8AD7C3DB8}" dt="2026-09-29T05:35:34.969" v="2831" actId="404"/>
          <ac:spMkLst>
            <pc:docMk/>
            <pc:sldMk cId="197851043" sldId="330"/>
            <ac:spMk id="2" creationId="{6B478C00-6155-44FE-AD63-E51FE1ECAE4A}"/>
          </ac:spMkLst>
        </pc:spChg>
        <pc:spChg chg="del">
          <ac:chgData name="Yvonne Chen" userId="cdf6c2fa8f1ea833" providerId="LiveId" clId="{DCA5A71D-B571-4584-930E-95E8AD7C3DB8}" dt="2026-09-29T05:35:42.214" v="2832"/>
          <ac:spMkLst>
            <pc:docMk/>
            <pc:sldMk cId="197851043" sldId="330"/>
            <ac:spMk id="4" creationId="{CF53D388-59DC-40CA-BD4B-3FB0889F5BBD}"/>
          </ac:spMkLst>
        </pc:spChg>
        <pc:spChg chg="add mod">
          <ac:chgData name="Yvonne Chen" userId="cdf6c2fa8f1ea833" providerId="LiveId" clId="{DCA5A71D-B571-4584-930E-95E8AD7C3DB8}" dt="2026-09-29T05:44:14.695" v="3728" actId="1076"/>
          <ac:spMkLst>
            <pc:docMk/>
            <pc:sldMk cId="197851043" sldId="330"/>
            <ac:spMk id="6" creationId="{0DC18316-3740-4BED-BE64-EF1BC30197EE}"/>
          </ac:spMkLst>
        </pc:spChg>
        <pc:picChg chg="add mod modCrop">
          <ac:chgData name="Yvonne Chen" userId="cdf6c2fa8f1ea833" providerId="LiveId" clId="{DCA5A71D-B571-4584-930E-95E8AD7C3DB8}" dt="2026-09-29T05:44:01.670" v="3721" actId="1076"/>
          <ac:picMkLst>
            <pc:docMk/>
            <pc:sldMk cId="197851043" sldId="330"/>
            <ac:picMk id="5" creationId="{FE4A640B-165F-441D-A4B4-6732B408E795}"/>
          </ac:picMkLst>
        </pc:picChg>
        <pc:picChg chg="add mod modCrop">
          <ac:chgData name="Yvonne Chen" userId="cdf6c2fa8f1ea833" providerId="LiveId" clId="{DCA5A71D-B571-4584-930E-95E8AD7C3DB8}" dt="2026-09-29T05:44:09.607" v="3726" actId="1076"/>
          <ac:picMkLst>
            <pc:docMk/>
            <pc:sldMk cId="197851043" sldId="330"/>
            <ac:picMk id="7" creationId="{8899289B-7428-4425-802E-B2B4B70696E3}"/>
          </ac:picMkLst>
        </pc:picChg>
      </pc:sldChg>
      <pc:sldChg chg="addSp delSp modSp new mod">
        <pc:chgData name="Yvonne Chen" userId="cdf6c2fa8f1ea833" providerId="LiveId" clId="{DCA5A71D-B571-4584-930E-95E8AD7C3DB8}" dt="2026-09-29T05:53:40.677" v="4292" actId="798"/>
        <pc:sldMkLst>
          <pc:docMk/>
          <pc:sldMk cId="1641116743" sldId="331"/>
        </pc:sldMkLst>
        <pc:spChg chg="mod">
          <ac:chgData name="Yvonne Chen" userId="cdf6c2fa8f1ea833" providerId="LiveId" clId="{DCA5A71D-B571-4584-930E-95E8AD7C3DB8}" dt="2026-09-29T05:44:28.989" v="3744" actId="20577"/>
          <ac:spMkLst>
            <pc:docMk/>
            <pc:sldMk cId="1641116743" sldId="331"/>
            <ac:spMk id="2" creationId="{B1CC1C04-DB78-473C-BBA1-44FD4C33BA57}"/>
          </ac:spMkLst>
        </pc:spChg>
        <pc:spChg chg="del mod">
          <ac:chgData name="Yvonne Chen" userId="cdf6c2fa8f1ea833" providerId="LiveId" clId="{DCA5A71D-B571-4584-930E-95E8AD7C3DB8}" dt="2026-09-29T05:44:49.195" v="3759" actId="478"/>
          <ac:spMkLst>
            <pc:docMk/>
            <pc:sldMk cId="1641116743" sldId="331"/>
            <ac:spMk id="4" creationId="{5EFA910F-5F94-4678-B0A8-D468FC4E581B}"/>
          </ac:spMkLst>
        </pc:spChg>
        <pc:graphicFrameChg chg="add del mod modGraphic">
          <ac:chgData name="Yvonne Chen" userId="cdf6c2fa8f1ea833" providerId="LiveId" clId="{DCA5A71D-B571-4584-930E-95E8AD7C3DB8}" dt="2026-09-29T05:50:57.952" v="4137" actId="478"/>
          <ac:graphicFrameMkLst>
            <pc:docMk/>
            <pc:sldMk cId="1641116743" sldId="331"/>
            <ac:graphicFrameMk id="5" creationId="{8605955F-962F-4D28-99FC-6AD4AE2765DB}"/>
          </ac:graphicFrameMkLst>
        </pc:graphicFrameChg>
        <pc:graphicFrameChg chg="add mod modGraphic">
          <ac:chgData name="Yvonne Chen" userId="cdf6c2fa8f1ea833" providerId="LiveId" clId="{DCA5A71D-B571-4584-930E-95E8AD7C3DB8}" dt="2026-09-29T05:53:40.677" v="4292" actId="798"/>
          <ac:graphicFrameMkLst>
            <pc:docMk/>
            <pc:sldMk cId="1641116743" sldId="331"/>
            <ac:graphicFrameMk id="6" creationId="{A39C05A4-61D4-4E45-96E0-5E0B88E70077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83875-1F8E-4729-BB01-E5507ECDB26F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CA75C-488B-44EE-A145-FB399880B4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04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157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218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519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0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065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TW" dirty="0"/>
              <a:t>Conv1D </a:t>
            </a:r>
            <a:r>
              <a:rPr lang="zh-TW" altLang="en-US" dirty="0"/>
              <a:t>增加 </a:t>
            </a:r>
            <a:r>
              <a:rPr lang="en-CA" altLang="zh-TW" dirty="0"/>
              <a:t>learned feature representations</a:t>
            </a:r>
            <a:r>
              <a:rPr lang="zh-TW" altLang="en-CA" dirty="0"/>
              <a:t>，</a:t>
            </a:r>
            <a:r>
              <a:rPr lang="en-CA" altLang="zh-TW" dirty="0"/>
              <a:t>Pooling </a:t>
            </a:r>
            <a:r>
              <a:rPr lang="zh-TW" altLang="en-US" dirty="0"/>
              <a:t>壓縮時間軸，</a:t>
            </a:r>
            <a:r>
              <a:rPr lang="en-CA" altLang="zh-TW" dirty="0"/>
              <a:t>BN </a:t>
            </a:r>
            <a:r>
              <a:rPr lang="zh-TW" altLang="en-US" dirty="0"/>
              <a:t>穩定每個 </a:t>
            </a:r>
            <a:r>
              <a:rPr lang="en-CA" altLang="zh-TW" dirty="0"/>
              <a:t>feature channel </a:t>
            </a:r>
            <a:r>
              <a:rPr lang="zh-TW" altLang="en-US" dirty="0"/>
              <a:t>的數值分布。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375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635896" y="1196752"/>
            <a:ext cx="5040560" cy="2664296"/>
          </a:xfrm>
        </p:spPr>
        <p:txBody>
          <a:bodyPr/>
          <a:lstStyle>
            <a:lvl1pPr>
              <a:defRPr>
                <a:solidFill>
                  <a:srgbClr val="06164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35896" y="4221088"/>
            <a:ext cx="5040560" cy="15841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FADC78-9159-45FA-9D41-11D2468F06FF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54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2B1-6805-4DE6-A748-6982A74B9BD6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06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87824" y="4077072"/>
            <a:ext cx="5684168" cy="2016224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987824" y="3140969"/>
            <a:ext cx="5684168" cy="936104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6164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90CB-0946-49BE-8CDD-EFB5341A56AD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64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7585-208B-498D-98B4-A96AF9A3EFC6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11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EB98-C986-4C98-9E1A-EDC9B461A565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69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1CBB-E5B4-40A8-8D84-DC24EDB53F36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73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000A-9B95-489C-95F8-2939803A11B7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44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DCB1-B2B6-4CDB-80DB-C5451DC3FA2B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70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文多_1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283152" cy="72008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CBB-0077-4C86-835B-5E07B370979B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5304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文多_2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283152" cy="72008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D756D-CAD3-4F1C-AA19-B84A98BA3654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1690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B4E8D-D661-4034-B723-A921D4F707CA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19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3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A621B8-F77A-44B9-8DA7-492E3A86D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8582" y="1027336"/>
            <a:ext cx="5555188" cy="3066926"/>
          </a:xfrm>
        </p:spPr>
        <p:txBody>
          <a:bodyPr>
            <a:noAutofit/>
          </a:bodyPr>
          <a:lstStyle/>
          <a:p>
            <a:r>
              <a:rPr lang="en-US" altLang="zh-TW" sz="2000" dirty="0">
                <a:ea typeface="標楷體" panose="03000509000000000000" pitchFamily="65" charset="-120"/>
              </a:rPr>
              <a:t>Contrastive domain generalization convolution neural network correcting the drift of gas sensors</a:t>
            </a:r>
            <a:br>
              <a:rPr lang="en-US" altLang="zh-TW" sz="2000" dirty="0">
                <a:ea typeface="標楷體" panose="03000509000000000000" pitchFamily="65" charset="-120"/>
              </a:rPr>
            </a:br>
            <a:br>
              <a:rPr lang="en-US" altLang="zh-TW" sz="2000" dirty="0">
                <a:ea typeface="標楷體" panose="03000509000000000000" pitchFamily="65" charset="-120"/>
              </a:rPr>
            </a:br>
            <a:r>
              <a:rPr lang="en-US" altLang="zh-TW" sz="1600" dirty="0" err="1">
                <a:ea typeface="標楷體" panose="03000509000000000000" pitchFamily="65" charset="-120"/>
              </a:rPr>
              <a:t>Sensors</a:t>
            </a:r>
            <a:r>
              <a:rPr lang="en-US" altLang="zh-TW" sz="1600" dirty="0">
                <a:ea typeface="標楷體" panose="03000509000000000000" pitchFamily="65" charset="-120"/>
              </a:rPr>
              <a:t> and Actuators A: Physical, 2024</a:t>
            </a:r>
            <a:br>
              <a:rPr lang="en-US" altLang="zh-TW" sz="1600" dirty="0">
                <a:ea typeface="標楷體" panose="03000509000000000000" pitchFamily="65" charset="-120"/>
              </a:rPr>
            </a:br>
            <a:r>
              <a:rPr lang="en-US" altLang="zh-TW" sz="1400" dirty="0" err="1">
                <a:ea typeface="標楷體" panose="03000509000000000000" pitchFamily="65" charset="-120"/>
              </a:rPr>
              <a:t>Jifeng</a:t>
            </a:r>
            <a:r>
              <a:rPr lang="en-US" altLang="zh-TW" sz="1400" dirty="0">
                <a:ea typeface="標楷體" panose="03000509000000000000" pitchFamily="65" charset="-120"/>
              </a:rPr>
              <a:t> Chu , </a:t>
            </a:r>
            <a:r>
              <a:rPr lang="en-US" altLang="zh-TW" sz="1400" dirty="0" err="1">
                <a:ea typeface="標楷體" panose="03000509000000000000" pitchFamily="65" charset="-120"/>
              </a:rPr>
              <a:t>Renhong</a:t>
            </a:r>
            <a:r>
              <a:rPr lang="en-US" altLang="zh-TW" sz="1400" dirty="0">
                <a:ea typeface="標楷體" panose="03000509000000000000" pitchFamily="65" charset="-120"/>
              </a:rPr>
              <a:t> Yao , </a:t>
            </a:r>
            <a:r>
              <a:rPr lang="en-US" altLang="zh-TW" sz="1400" dirty="0" err="1">
                <a:ea typeface="標楷體" panose="03000509000000000000" pitchFamily="65" charset="-120"/>
              </a:rPr>
              <a:t>Xianbo</a:t>
            </a:r>
            <a:r>
              <a:rPr lang="en-US" altLang="zh-TW" sz="1400" dirty="0">
                <a:ea typeface="標楷體" panose="03000509000000000000" pitchFamily="65" charset="-120"/>
              </a:rPr>
              <a:t> Huang </a:t>
            </a:r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8A1B309-3A86-460D-9F25-F0B155201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5896" y="4715933"/>
            <a:ext cx="5040560" cy="1114731"/>
          </a:xfrm>
        </p:spPr>
        <p:txBody>
          <a:bodyPr>
            <a:normAutofit/>
          </a:bodyPr>
          <a:lstStyle/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陳柏臻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指導教授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鄭桂忠 教授</a:t>
            </a:r>
          </a:p>
          <a:p>
            <a:pPr algn="l"/>
            <a:endParaRPr lang="zh-TW" altLang="en-US" sz="18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229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6C4D-2825-4488-9FE5-55624C26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76B6-15C8-4355-A951-01577F8B6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/>
              <a:t>問題與既有方法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en-US" altLang="zh-TW" sz="2800" dirty="0"/>
              <a:t>Domain generalization and Contrastive learning</a:t>
            </a:r>
          </a:p>
          <a:p>
            <a:pPr>
              <a:lnSpc>
                <a:spcPct val="150000"/>
              </a:lnSpc>
            </a:pPr>
            <a:r>
              <a:rPr lang="en-US" altLang="zh-TW" sz="2800" dirty="0"/>
              <a:t>Methodology: CDCNN</a:t>
            </a:r>
            <a:br>
              <a:rPr lang="en-US" altLang="zh-TW" sz="2800" dirty="0"/>
            </a:br>
            <a:r>
              <a:rPr lang="en-US" altLang="zh-TW" sz="2000" dirty="0"/>
              <a:t>(Contrastive </a:t>
            </a:r>
            <a:r>
              <a:rPr lang="en-CA" altLang="zh-TW" sz="2000" dirty="0"/>
              <a:t>domain generalization convolution neural network)</a:t>
            </a:r>
          </a:p>
          <a:p>
            <a:pPr>
              <a:lnSpc>
                <a:spcPct val="150000"/>
              </a:lnSpc>
            </a:pPr>
            <a:r>
              <a:rPr lang="en-US" altLang="zh-TW" sz="2800" dirty="0"/>
              <a:t>CDCNN</a:t>
            </a:r>
            <a:r>
              <a:rPr lang="zh-TW" altLang="en-US" sz="2800" dirty="0"/>
              <a:t>重現與探討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結論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endParaRPr lang="zh-TW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DF44C-30E7-4ED0-A43F-145A28E3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366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3BA-932E-4921-9608-EFC0B401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問題與既有方法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29F614-D416-462F-947C-50C2D6B5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A089B-1845-4CC1-8FAE-918254220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2281"/>
            <a:ext cx="8229600" cy="4929411"/>
          </a:xfrm>
        </p:spPr>
        <p:txBody>
          <a:bodyPr>
            <a:normAutofit fontScale="92500" lnSpcReduction="20000"/>
          </a:bodyPr>
          <a:lstStyle/>
          <a:p>
            <a:pPr algn="l">
              <a:spcAft>
                <a:spcPts val="1200"/>
              </a:spcAft>
            </a:pPr>
            <a:r>
              <a:rPr lang="zh-TW" altLang="en-US" sz="2800" b="1" i="0" dirty="0">
                <a:solidFill>
                  <a:srgbClr val="1E2761"/>
                </a:solidFill>
                <a:latin typeface="Cambria"/>
              </a:rPr>
              <a:t>感測器漂移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CADCFC"/>
                </a:solidFill>
                <a:latin typeface="Calibri"/>
              </a:rPr>
              <a:t>·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MOS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氣體感測器因元件老化與環境波動，對同一氣體的響應隨時間偏移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CADCFC"/>
                </a:solidFill>
                <a:latin typeface="Calibri"/>
              </a:rPr>
              <a:t>·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電子鼻的長期辨識準確率與壽命因此大幅下降</a:t>
            </a:r>
          </a:p>
          <a:p>
            <a:pPr>
              <a:spcAft>
                <a:spcPts val="1200"/>
              </a:spcAft>
            </a:pPr>
            <a:r>
              <a:rPr lang="zh-TW" altLang="en-US" sz="2800" b="1" i="0" dirty="0">
                <a:solidFill>
                  <a:srgbClr val="1E2761"/>
                </a:solidFill>
                <a:latin typeface="Cambria"/>
              </a:rPr>
              <a:t>既有方法的限制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PCA-SVM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、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LDA-SVM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：手工特徵與線性／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kernel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轉換，無法擬合非線性長期漂移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SVM-GFK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等流形學習或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transfer learning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：需窺探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target domain </a:t>
            </a:r>
            <a:endParaRPr lang="zh-TW" altLang="en-US" sz="2400" b="0" i="0" dirty="0">
              <a:solidFill>
                <a:srgbClr val="1A1A1A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zh-TW" altLang="en-US" sz="2400" b="0" i="0" dirty="0">
                <a:latin typeface="Calibri"/>
              </a:rPr>
              <a:t>其他演算法大多也需要 </a:t>
            </a:r>
            <a:r>
              <a:rPr lang="en-US" altLang="zh-TW" sz="2400" b="0" i="0" dirty="0">
                <a:latin typeface="Calibri"/>
              </a:rPr>
              <a:t>target domain</a:t>
            </a:r>
            <a:r>
              <a:rPr lang="zh-TW" altLang="en-US" sz="2400" b="0" i="0" dirty="0">
                <a:latin typeface="Calibri"/>
              </a:rPr>
              <a:t> 的資料</a:t>
            </a:r>
            <a:r>
              <a:rPr lang="zh-TW" altLang="en-US" sz="2400" dirty="0">
                <a:latin typeface="Calibri"/>
              </a:rPr>
              <a:t>，難以在現實使用</a:t>
            </a:r>
            <a:endParaRPr lang="en-CA" altLang="zh-TW" sz="2400" dirty="0"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zh-TW" altLang="en-US" sz="2400" dirty="0">
                <a:latin typeface="Calibri"/>
              </a:rPr>
              <a:t>此方法相較傳統 </a:t>
            </a:r>
            <a:r>
              <a:rPr lang="en-US" altLang="zh-TW" sz="2400" dirty="0" err="1">
                <a:latin typeface="Calibri"/>
              </a:rPr>
              <a:t>ResNet</a:t>
            </a:r>
            <a:r>
              <a:rPr lang="zh-TW" altLang="en-US" sz="2400" dirty="0">
                <a:latin typeface="Calibri"/>
              </a:rPr>
              <a:t>，在</a:t>
            </a:r>
            <a:r>
              <a:rPr lang="en-US" altLang="zh-TW" sz="2400" dirty="0">
                <a:latin typeface="Calibri"/>
              </a:rPr>
              <a:t>target domain</a:t>
            </a:r>
            <a:r>
              <a:rPr lang="zh-TW" altLang="en-US" sz="2400" dirty="0">
                <a:latin typeface="Calibri"/>
              </a:rPr>
              <a:t>上的表現為</a:t>
            </a:r>
            <a:r>
              <a:rPr lang="en-US" altLang="zh-TW" sz="2400" dirty="0" err="1">
                <a:latin typeface="Calibri"/>
              </a:rPr>
              <a:t>acuucracy</a:t>
            </a:r>
            <a:r>
              <a:rPr lang="zh-TW" altLang="en-US" sz="2400" dirty="0">
                <a:latin typeface="Calibri"/>
              </a:rPr>
              <a:t>提升</a:t>
            </a:r>
            <a:r>
              <a:rPr lang="en-US" altLang="zh-TW" sz="2400" dirty="0">
                <a:latin typeface="Calibri"/>
              </a:rPr>
              <a:t>0.05</a:t>
            </a:r>
            <a:endParaRPr lang="en-CA" altLang="zh-TW" sz="24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575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D16B-3902-4C19-AFBD-F64E7E6F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Domain generalization and Contrastive learning</a:t>
            </a:r>
            <a:endParaRPr lang="zh-TW" alt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BE29E-269F-4EDA-A496-FF5590CF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6A0D2-B668-4813-8C39-20839EA2C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231" y="1657349"/>
            <a:ext cx="6151537" cy="419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0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F661-4210-4FCF-8921-0AC1F1F7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Methodology: CDCNN</a:t>
            </a:r>
            <a:br>
              <a:rPr lang="en-US" altLang="zh-TW" dirty="0"/>
            </a:br>
            <a:r>
              <a:rPr lang="en-US" altLang="zh-TW" sz="2200" dirty="0"/>
              <a:t>Contrastive </a:t>
            </a:r>
            <a:r>
              <a:rPr lang="en-CA" altLang="zh-TW" sz="2200" dirty="0"/>
              <a:t>domain generalization convolution neural network</a:t>
            </a:r>
            <a:endParaRPr lang="zh-TW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725C0-BA9F-4FF5-A754-BEBD4C48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53151-15BC-49E7-86CD-085BC7FFB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8232"/>
            <a:ext cx="7315200" cy="429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92A7-37CD-41BD-A674-9944CFA9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altLang="zh-TW" dirty="0"/>
              <a:t>Data augmentation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AD5DF-B6F6-4347-837D-9916BE23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EE2174-501C-4F1E-967D-B2207CDC2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3" y="1196752"/>
            <a:ext cx="8229600" cy="4929411"/>
          </a:xfrm>
        </p:spPr>
        <p:txBody>
          <a:bodyPr>
            <a:normAutofit/>
          </a:bodyPr>
          <a:lstStyle/>
          <a:p>
            <a:r>
              <a:rPr lang="zh-TW" altLang="en-US" sz="1800" dirty="0"/>
              <a:t>研究者受到</a:t>
            </a:r>
            <a:r>
              <a:rPr lang="en-US" altLang="zh-TW" sz="1800" dirty="0"/>
              <a:t>VAE(Variational Auto</a:t>
            </a:r>
            <a:r>
              <a:rPr lang="zh-TW" altLang="en-US" sz="1800" dirty="0"/>
              <a:t> </a:t>
            </a:r>
            <a:r>
              <a:rPr lang="en-US" altLang="zh-TW" sz="1800" dirty="0"/>
              <a:t>Encoder</a:t>
            </a:r>
            <a:r>
              <a:rPr lang="zh-TW" altLang="en-US" sz="1800" dirty="0"/>
              <a:t>，變分自編碼器</a:t>
            </a:r>
            <a:r>
              <a:rPr lang="en-US" altLang="zh-TW" sz="1800" dirty="0"/>
              <a:t>)</a:t>
            </a:r>
            <a:r>
              <a:rPr lang="zh-TW" altLang="en-US" sz="1800" dirty="0"/>
              <a:t>啟發，設計一套專門的資料增強方法，將輸入資料轉換成機率模型並從中取樣並合成。</a:t>
            </a:r>
            <a:endParaRPr lang="en-US" altLang="zh-TW" sz="1800" dirty="0"/>
          </a:p>
          <a:p>
            <a:endParaRPr lang="en-US" altLang="zh-TW" sz="1800" dirty="0"/>
          </a:p>
          <a:p>
            <a:pPr marL="457200" lvl="1" indent="0">
              <a:buNone/>
            </a:pPr>
            <a:endParaRPr lang="en-US" altLang="zh-TW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4DC2FC-0FEB-4D5A-8A68-7D4A288409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23505" b="-1412"/>
          <a:stretch/>
        </p:blipFill>
        <p:spPr>
          <a:xfrm>
            <a:off x="535703" y="1916521"/>
            <a:ext cx="4509521" cy="4615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29B048-CC7A-4E5A-AC81-3A51B3160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706" y="2400330"/>
            <a:ext cx="4182161" cy="3797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FC7CD4-E489-43C8-B194-ACDD88255235}"/>
              </a:ext>
            </a:extLst>
          </p:cNvPr>
          <p:cNvSpPr txBox="1"/>
          <p:nvPr/>
        </p:nvSpPr>
        <p:spPr>
          <a:xfrm>
            <a:off x="4659438" y="6218148"/>
            <a:ext cx="3787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solidFill>
                  <a:srgbClr val="5A5A66"/>
                </a:solidFill>
                <a:latin typeface="Calibri"/>
              </a:rPr>
              <a:t>相較白高斯雜訊與常數雜訊，</a:t>
            </a:r>
            <a:r>
              <a:rPr lang="en-US" altLang="zh-TW" sz="1400" b="0" i="0" dirty="0">
                <a:solidFill>
                  <a:srgbClr val="5A5A66"/>
                </a:solidFill>
                <a:latin typeface="Calibri"/>
              </a:rPr>
              <a:t>CDCNN </a:t>
            </a:r>
            <a:r>
              <a:rPr lang="zh-TW" altLang="en-US" sz="1400" b="0" i="0" dirty="0">
                <a:solidFill>
                  <a:srgbClr val="5A5A66"/>
                </a:solidFill>
                <a:latin typeface="Calibri"/>
              </a:rPr>
              <a:t>的擴充在 </a:t>
            </a:r>
            <a:r>
              <a:rPr lang="en-US" altLang="zh-TW" sz="1400" b="0" i="0" dirty="0">
                <a:solidFill>
                  <a:srgbClr val="5A5A66"/>
                </a:solidFill>
                <a:latin typeface="Calibri"/>
              </a:rPr>
              <a:t>PCA </a:t>
            </a:r>
            <a:r>
              <a:rPr lang="zh-TW" altLang="en-US" sz="1400" b="0" i="0" dirty="0">
                <a:solidFill>
                  <a:srgbClr val="5A5A66"/>
                </a:solidFill>
                <a:latin typeface="Calibri"/>
              </a:rPr>
              <a:t>空間產生明顯更大的分散。</a:t>
            </a:r>
            <a:endParaRPr lang="zh-TW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551E7-54BD-4118-B5FF-0E51F89F7070}"/>
              </a:ext>
            </a:extLst>
          </p:cNvPr>
          <p:cNvSpPr txBox="1"/>
          <p:nvPr/>
        </p:nvSpPr>
        <p:spPr>
          <a:xfrm>
            <a:off x="457203" y="2397948"/>
            <a:ext cx="3360417" cy="300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/>
              <a:t>1. </a:t>
            </a:r>
            <a:r>
              <a:rPr lang="zh-TW" altLang="en-US" sz="1600" dirty="0"/>
              <a:t>   計算其中一個氣體感測器訊號 </a:t>
            </a:r>
            <a:r>
              <a:rPr lang="en-US" altLang="zh-TW" sz="1600" dirty="0"/>
              <a:t>j</a:t>
            </a:r>
            <a:r>
              <a:rPr lang="zh-TW" altLang="en-US" sz="1600" dirty="0"/>
              <a:t> 的資料平均與變異數</a:t>
            </a:r>
            <a:endParaRPr lang="en-US" altLang="zh-TW" sz="1600" dirty="0"/>
          </a:p>
          <a:p>
            <a:pPr>
              <a:lnSpc>
                <a:spcPct val="150000"/>
              </a:lnSpc>
            </a:pPr>
            <a:r>
              <a:rPr lang="en-US" altLang="zh-TW" sz="1600" dirty="0"/>
              <a:t>2.</a:t>
            </a:r>
            <a:r>
              <a:rPr lang="zh-TW" altLang="en-US" sz="1600" dirty="0"/>
              <a:t>   再挑選同一個氣體資料中另一條不同的訊號 </a:t>
            </a:r>
            <a:r>
              <a:rPr lang="en-US" altLang="zh-TW" sz="1600" dirty="0"/>
              <a:t>k</a:t>
            </a:r>
            <a:r>
              <a:rPr lang="zh-TW" altLang="en-US" sz="1600" dirty="0"/>
              <a:t> 計算平均與變異數</a:t>
            </a:r>
            <a:endParaRPr lang="en-US" altLang="zh-TW" sz="1600" dirty="0"/>
          </a:p>
          <a:p>
            <a:pPr>
              <a:lnSpc>
                <a:spcPct val="150000"/>
              </a:lnSpc>
            </a:pPr>
            <a:r>
              <a:rPr lang="en-US" altLang="zh-TW" sz="1600" dirty="0"/>
              <a:t>3.</a:t>
            </a:r>
            <a:r>
              <a:rPr lang="zh-TW" altLang="en-US" sz="1600" dirty="0"/>
              <a:t>   將兩者訊號以設定好的 參數</a:t>
            </a:r>
            <a:r>
              <a:rPr lang="el-GR" altLang="zh-TW" sz="1600" dirty="0"/>
              <a:t>λ</a:t>
            </a:r>
            <a:r>
              <a:rPr lang="zh-TW" altLang="en-US" sz="1600" dirty="0"/>
              <a:t> 線性組合，得到混合平均值及混和變異數，再建立高斯分布模型，合成擴充訊號並保留原本的標籤。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297355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DFFE-47A9-42A1-AB91-255668E4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Feature Generation</a:t>
            </a:r>
            <a:endParaRPr lang="zh-TW" alt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3ADD9-3627-4DC3-8215-9B53C8A7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A208A1-8E70-44E6-BC82-8F7FE9095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941" y="1426939"/>
            <a:ext cx="4453720" cy="492941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50000"/>
              </a:lnSpc>
            </a:pPr>
            <a:endParaRPr lang="en-US" altLang="zh-TW" sz="1800" dirty="0"/>
          </a:p>
          <a:p>
            <a:pPr>
              <a:lnSpc>
                <a:spcPct val="150000"/>
              </a:lnSpc>
            </a:pPr>
            <a:r>
              <a:rPr lang="zh-TW" altLang="en-US" sz="7200" b="1" dirty="0"/>
              <a:t>高頻特徵：</a:t>
            </a:r>
            <a:r>
              <a:rPr lang="zh-TW" altLang="en-US" sz="7200" dirty="0"/>
              <a:t>先將訊號以 </a:t>
            </a:r>
            <a:r>
              <a:rPr lang="en-US" altLang="zh-TW" sz="7200" dirty="0" err="1"/>
              <a:t>Maxpool</a:t>
            </a:r>
            <a:r>
              <a:rPr lang="en-US" altLang="zh-TW" sz="7200" dirty="0"/>
              <a:t>() </a:t>
            </a:r>
            <a:r>
              <a:rPr lang="zh-TW" altLang="en-US" sz="7200" dirty="0"/>
              <a:t>取出，再用最近鄰上採樣</a:t>
            </a:r>
            <a:r>
              <a:rPr lang="en-US" altLang="zh-TW" sz="7200" dirty="0"/>
              <a:t>(sample)</a:t>
            </a:r>
            <a:r>
              <a:rPr lang="zh-TW" altLang="en-US" sz="7200" dirty="0"/>
              <a:t>還原尺寸。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b="1" dirty="0"/>
              <a:t>低頻特徵：</a:t>
            </a:r>
            <a:r>
              <a:rPr lang="zh-TW" altLang="en-US" sz="7200" dirty="0"/>
              <a:t>原始特徵減去高頻特徵得到，這部分視為與</a:t>
            </a:r>
            <a:r>
              <a:rPr lang="en-US" altLang="zh-TW" sz="7200" dirty="0"/>
              <a:t>domain</a:t>
            </a:r>
            <a:r>
              <a:rPr lang="zh-TW" altLang="en-US" sz="7200" dirty="0"/>
              <a:t>相關的緩慢變化。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dirty="0"/>
              <a:t>將高頻特徵與另一組低頻特徵組合，可生成具原始分類標籤且帶有 </a:t>
            </a:r>
            <a:r>
              <a:rPr lang="en-US" altLang="zh-TW" sz="7200" dirty="0"/>
              <a:t>domain </a:t>
            </a:r>
            <a:r>
              <a:rPr lang="zh-TW" altLang="en-US" sz="7200" dirty="0"/>
              <a:t>漂移的特徵訊號。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dirty="0"/>
              <a:t>再進入 </a:t>
            </a:r>
            <a:r>
              <a:rPr lang="en-US" altLang="zh-TW" sz="7200" dirty="0"/>
              <a:t>ResNet-4,5 </a:t>
            </a:r>
            <a:r>
              <a:rPr lang="zh-TW" altLang="en-US" sz="7200" dirty="0"/>
              <a:t>生成深層特徵，計算 </a:t>
            </a:r>
            <a:r>
              <a:rPr lang="en-US" altLang="zh-TW" sz="7200" dirty="0"/>
              <a:t>Contrast Loss</a:t>
            </a:r>
            <a:r>
              <a:rPr lang="zh-TW" altLang="en-US" sz="7200" dirty="0"/>
              <a:t>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dirty="0"/>
              <a:t>最後在得到分類機率後計算</a:t>
            </a:r>
            <a:r>
              <a:rPr lang="en-US" altLang="zh-TW" sz="7200" dirty="0"/>
              <a:t>MSE Loss</a:t>
            </a:r>
            <a:r>
              <a:rPr lang="zh-TW" altLang="en-US" sz="7200" dirty="0"/>
              <a:t>，確保兩種</a:t>
            </a:r>
            <a:r>
              <a:rPr lang="en-US" altLang="zh-TW" sz="7200" dirty="0"/>
              <a:t>feature</a:t>
            </a:r>
            <a:r>
              <a:rPr lang="zh-TW" altLang="en-US" sz="7200" dirty="0"/>
              <a:t>的預測結果一致。</a:t>
            </a:r>
            <a:endParaRPr lang="en-US" altLang="zh-TW" sz="7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19A453-1BE5-4F31-BA62-AAEA0BC9A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58" y="1594965"/>
            <a:ext cx="3903401" cy="15773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1BEE24-1DA4-4C6D-B719-5E2759D04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922" y="3666527"/>
            <a:ext cx="3729137" cy="205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55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CDE5-8C66-4FEE-9AE9-B703CBA5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Loss</a:t>
            </a:r>
            <a:r>
              <a:rPr lang="zh-TW" altLang="en-US" dirty="0"/>
              <a:t> </a:t>
            </a:r>
            <a:r>
              <a:rPr lang="en-US" altLang="zh-TW" dirty="0"/>
              <a:t>Function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BE91FD-636D-4051-908C-A3245C32B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73BEA-41DA-4AE2-B9FB-091E7C3BD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損失函數</a:t>
            </a:r>
            <a:r>
              <a:rPr lang="en-US" altLang="zh-TW" sz="2800" dirty="0"/>
              <a:t>L</a:t>
            </a:r>
            <a:r>
              <a:rPr lang="zh-TW" altLang="en-US" sz="2800" dirty="0"/>
              <a:t>：</a:t>
            </a:r>
            <a:endParaRPr lang="en-US" altLang="zh-TW" sz="2800" dirty="0"/>
          </a:p>
          <a:p>
            <a:pPr lvl="1"/>
            <a:r>
              <a:rPr lang="en-US" altLang="zh-TW" sz="2400" dirty="0" err="1"/>
              <a:t>L</a:t>
            </a:r>
            <a:r>
              <a:rPr lang="en-US" altLang="zh-TW" sz="2400" baseline="-25000" dirty="0" err="1"/>
              <a:t>ce</a:t>
            </a:r>
            <a:r>
              <a:rPr lang="en-US" altLang="zh-TW" sz="2400" dirty="0"/>
              <a:t>: Cross-Entropy loss</a:t>
            </a:r>
          </a:p>
          <a:p>
            <a:pPr lvl="1"/>
            <a:endParaRPr lang="en-US" altLang="zh-TW" sz="2400" dirty="0"/>
          </a:p>
          <a:p>
            <a:pPr lvl="1"/>
            <a:endParaRPr lang="en-US" altLang="zh-TW" sz="2400" dirty="0"/>
          </a:p>
          <a:p>
            <a:pPr lvl="1"/>
            <a:r>
              <a:rPr lang="en-US" altLang="zh-TW" sz="2400" dirty="0"/>
              <a:t>L</a:t>
            </a:r>
            <a:r>
              <a:rPr lang="en-US" altLang="zh-TW" sz="2400" baseline="-25000" dirty="0"/>
              <a:t>MSE</a:t>
            </a:r>
            <a:r>
              <a:rPr lang="en-US" altLang="zh-TW" sz="2400" dirty="0"/>
              <a:t>: </a:t>
            </a:r>
            <a:r>
              <a:rPr lang="zh-TW" altLang="en-US" sz="2400" dirty="0"/>
              <a:t>確保</a:t>
            </a:r>
            <a:r>
              <a:rPr lang="en-US" altLang="zh-TW" sz="2400" dirty="0"/>
              <a:t>generate feature </a:t>
            </a:r>
            <a:r>
              <a:rPr lang="zh-TW" altLang="en-US" sz="2400" dirty="0"/>
              <a:t>跟原始特徵保持一致性。</a:t>
            </a:r>
            <a:endParaRPr lang="en-US" altLang="zh-TW" sz="2400" dirty="0"/>
          </a:p>
          <a:p>
            <a:pPr marL="457200" lvl="1" indent="0">
              <a:buNone/>
            </a:pPr>
            <a:endParaRPr lang="en-US" altLang="zh-TW" sz="2400" dirty="0"/>
          </a:p>
          <a:p>
            <a:pPr marL="457200" lvl="1" indent="0">
              <a:buNone/>
            </a:pPr>
            <a:r>
              <a:rPr lang="en-US" altLang="zh-TW" sz="2400" dirty="0"/>
              <a:t>	</a:t>
            </a:r>
          </a:p>
          <a:p>
            <a:pPr lvl="1"/>
            <a:r>
              <a:rPr lang="en-US" altLang="zh-TW" sz="2400" dirty="0" err="1"/>
              <a:t>L</a:t>
            </a:r>
            <a:r>
              <a:rPr lang="en-US" altLang="zh-TW" sz="2400" baseline="-25000" dirty="0" err="1"/>
              <a:t>con</a:t>
            </a:r>
            <a:r>
              <a:rPr lang="en-US" altLang="zh-TW" sz="2400" dirty="0"/>
              <a:t>: </a:t>
            </a:r>
            <a:r>
              <a:rPr lang="zh-TW" altLang="en-US" sz="2400" dirty="0"/>
              <a:t>使用 </a:t>
            </a:r>
            <a:r>
              <a:rPr lang="en-US" altLang="zh-TW" sz="2400" dirty="0"/>
              <a:t>dot-product similarity</a:t>
            </a:r>
            <a:r>
              <a:rPr lang="zh-TW" altLang="en-US" sz="2400" dirty="0"/>
              <a:t>拉近同標籤樣本的距離。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sz="2400" dirty="0"/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341214-5CCD-48E5-B5E1-E130F55D8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10" y="1196752"/>
            <a:ext cx="4153219" cy="700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BA0B6E-51BC-400D-B696-F25034785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545" y="2154778"/>
            <a:ext cx="4505675" cy="91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D64E16-DA3B-4126-BD66-4C578A9E5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545" y="3555089"/>
            <a:ext cx="5385785" cy="8258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282726-88C7-4014-A1AD-266FB69A4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526" y="4865044"/>
            <a:ext cx="5870947" cy="149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7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E4CA-8B45-498E-9B3C-0CD5989A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Dataset:</a:t>
            </a:r>
            <a:r>
              <a:rPr lang="zh-TW" altLang="en-US" sz="3200" dirty="0"/>
              <a:t> </a:t>
            </a:r>
            <a:r>
              <a:rPr lang="en-CA" altLang="zh-TW" sz="3200" dirty="0"/>
              <a:t>UCI long-term sensor drift dataset</a:t>
            </a:r>
            <a:r>
              <a:rPr lang="zh-TW" altLang="en-US" sz="3200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FD6E7C-18BE-4AA2-970E-0E252A84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9DFA15-DA68-44DE-9B5B-EF2ACD0B6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600" y="3628330"/>
            <a:ext cx="7956799" cy="2032918"/>
          </a:xfr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3A94744-DCE6-4EAC-B9B1-E141DB080B15}"/>
              </a:ext>
            </a:extLst>
          </p:cNvPr>
          <p:cNvSpPr txBox="1">
            <a:spLocks/>
          </p:cNvSpPr>
          <p:nvPr/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36</a:t>
            </a:r>
            <a:r>
              <a:rPr lang="zh-TW" altLang="en-US" sz="2000" dirty="0"/>
              <a:t>個月採集時間</a:t>
            </a:r>
            <a:endParaRPr lang="en-US" altLang="zh-TW" sz="2000" dirty="0"/>
          </a:p>
          <a:p>
            <a:r>
              <a:rPr lang="en-US" altLang="zh-TW" sz="2000" dirty="0"/>
              <a:t>13910</a:t>
            </a:r>
            <a:r>
              <a:rPr lang="zh-TW" altLang="en-US" sz="2000" dirty="0"/>
              <a:t>個樣本，根據時間切成</a:t>
            </a:r>
            <a:r>
              <a:rPr lang="en-US" altLang="zh-TW" sz="2000" dirty="0"/>
              <a:t>10 batches</a:t>
            </a:r>
          </a:p>
          <a:p>
            <a:r>
              <a:rPr lang="en-US" altLang="zh-TW" sz="2000" dirty="0"/>
              <a:t>Label:</a:t>
            </a:r>
            <a:r>
              <a:rPr lang="zh-TW" altLang="en-US" sz="2000" dirty="0"/>
              <a:t>氨氣 </a:t>
            </a:r>
            <a:r>
              <a:rPr lang="en-US" altLang="zh-TW" sz="2000" dirty="0"/>
              <a:t>ammonia</a:t>
            </a:r>
            <a:r>
              <a:rPr lang="zh-TW" altLang="en-US" sz="2000" dirty="0"/>
              <a:t>、乙醛 </a:t>
            </a:r>
            <a:r>
              <a:rPr lang="en-US" altLang="zh-TW" sz="2000" dirty="0"/>
              <a:t>acetaldehyde</a:t>
            </a:r>
            <a:r>
              <a:rPr lang="zh-TW" altLang="en-US" sz="2000" dirty="0"/>
              <a:t>、丙酮 </a:t>
            </a:r>
            <a:r>
              <a:rPr lang="en-US" altLang="zh-TW" sz="2000" dirty="0"/>
              <a:t>acetone</a:t>
            </a:r>
            <a:r>
              <a:rPr lang="zh-TW" altLang="en-US" sz="2000" dirty="0"/>
              <a:t>、乙烯 </a:t>
            </a:r>
            <a:r>
              <a:rPr lang="en-US" altLang="zh-TW" sz="2000" dirty="0"/>
              <a:t>ethylene</a:t>
            </a:r>
            <a:r>
              <a:rPr lang="zh-TW" altLang="en-US" sz="2000" dirty="0"/>
              <a:t>、乙醇 </a:t>
            </a:r>
            <a:r>
              <a:rPr lang="en-US" altLang="zh-TW" sz="2000" dirty="0"/>
              <a:t>ethanol</a:t>
            </a:r>
            <a:r>
              <a:rPr lang="zh-TW" altLang="en-US" sz="2000" dirty="0"/>
              <a:t>、甲苯 </a:t>
            </a:r>
            <a:r>
              <a:rPr lang="en-US" altLang="zh-TW" sz="2000" dirty="0"/>
              <a:t>toluene</a:t>
            </a:r>
          </a:p>
          <a:p>
            <a:r>
              <a:rPr lang="en-US" altLang="zh-TW" sz="2000" dirty="0"/>
              <a:t>16</a:t>
            </a:r>
            <a:r>
              <a:rPr lang="zh-TW" altLang="en-US" sz="2000" dirty="0"/>
              <a:t>顆 </a:t>
            </a:r>
            <a:r>
              <a:rPr lang="en-US" altLang="zh-TW" sz="2000" dirty="0"/>
              <a:t>MOS</a:t>
            </a:r>
            <a:r>
              <a:rPr lang="zh-TW" altLang="en-US" sz="2000" dirty="0"/>
              <a:t> </a:t>
            </a:r>
            <a:r>
              <a:rPr lang="en-US" altLang="zh-TW" sz="2000" dirty="0"/>
              <a:t>array</a:t>
            </a:r>
          </a:p>
          <a:p>
            <a:r>
              <a:rPr lang="en-US" altLang="zh-TW" sz="2000" dirty="0"/>
              <a:t>8</a:t>
            </a:r>
            <a:r>
              <a:rPr lang="zh-TW" altLang="en-US" sz="2000" dirty="0"/>
              <a:t>種特徵：</a:t>
            </a:r>
            <a:r>
              <a:rPr lang="en-US" altLang="zh-TW" sz="2000" dirty="0" err="1"/>
              <a:t>R</a:t>
            </a:r>
            <a:r>
              <a:rPr lang="en-US" altLang="zh-TW" sz="2000" baseline="-25000" dirty="0" err="1"/>
              <a:t>max</a:t>
            </a:r>
            <a:r>
              <a:rPr lang="zh-TW" altLang="en-US" sz="2000" dirty="0"/>
              <a:t>、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R</a:t>
            </a:r>
            <a:r>
              <a:rPr lang="en-US" altLang="zh-TW" sz="2000" baseline="-25000" dirty="0" err="1"/>
              <a:t>max</a:t>
            </a:r>
            <a:r>
              <a:rPr lang="en-US" altLang="zh-TW" sz="2000" dirty="0"/>
              <a:t> – R</a:t>
            </a:r>
            <a:r>
              <a:rPr lang="en-US" altLang="zh-TW" sz="2000" baseline="-25000" dirty="0"/>
              <a:t>o</a:t>
            </a:r>
            <a:r>
              <a:rPr lang="en-US" altLang="zh-TW" sz="2000" dirty="0"/>
              <a:t>)/R</a:t>
            </a:r>
            <a:r>
              <a:rPr lang="en-US" altLang="zh-TW" sz="2000" baseline="-25000" dirty="0"/>
              <a:t>o</a:t>
            </a:r>
            <a:r>
              <a:rPr lang="zh-TW" altLang="en-US" sz="2000" dirty="0"/>
              <a:t>、三個不同參數的上升與衰減</a:t>
            </a:r>
            <a:r>
              <a:rPr lang="en-US" altLang="zh-TW" sz="2000" dirty="0"/>
              <a:t>EMA	</a:t>
            </a:r>
          </a:p>
        </p:txBody>
      </p:sp>
    </p:spTree>
    <p:extLst>
      <p:ext uri="{BB962C8B-B14F-4D97-AF65-F5344CB8AC3E}">
        <p14:creationId xmlns:p14="http://schemas.microsoft.com/office/powerpoint/2010/main" val="1934456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8814-1431-433E-84DD-4812C58F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 </a:t>
            </a:r>
            <a:r>
              <a:rPr lang="en-US" altLang="zh-TW" sz="2700" dirty="0"/>
              <a:t>Performance differences between CDCNN and CDWC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99E36-3E2C-454A-AEF5-24A4BAE6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图片 1" descr="图表&#10;&#10;描述已自动生成">
            <a:extLst>
              <a:ext uri="{FF2B5EF4-FFF2-40B4-BE49-F238E27FC236}">
                <a16:creationId xmlns:a16="http://schemas.microsoft.com/office/drawing/2014/main" id="{74C59661-D5A9-4F49-9561-32045EDB032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"/>
          <a:stretch/>
        </p:blipFill>
        <p:spPr bwMode="auto">
          <a:xfrm>
            <a:off x="582930" y="1111607"/>
            <a:ext cx="6286500" cy="24784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图片 17" descr="图表&#10;&#10;描述已自动生成">
            <a:extLst>
              <a:ext uri="{FF2B5EF4-FFF2-40B4-BE49-F238E27FC236}">
                <a16:creationId xmlns:a16="http://schemas.microsoft.com/office/drawing/2014/main" id="{255EC01B-7AD2-42D7-A479-68016B831F6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71700" y="3772640"/>
            <a:ext cx="6515100" cy="2766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25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1366-542D-49F6-A087-F642879B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各式方法比較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5FA307-E241-43FF-9236-E481CDDC3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0766" y="1254125"/>
            <a:ext cx="5559234" cy="492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17472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CDCNN 重現與探討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1"/>
              <a:t>Executive Summary：</a:t>
            </a:r>
          </a:p>
          <a:p>
            <a:pPr lvl="1"/>
            <a:r>
              <a:rPr sz="1600"/>
              <a:t>只用 Batch 1 訓練與選擇；Batch 2–10 在所有 checkpoint 凍結、雜湊之後才開，每次執行有稽核。五個 seed、100 epochs，比較統計量是九個 batch 準確率的未加權平均（target mean），與論文相同。</a:t>
            </a:r>
          </a:p>
          <a:p>
            <a:pPr lvl="1"/>
            <a:r>
              <a:rPr sz="1600"/>
              <a:t>架構照 Fig. 2 重建，source-only 基線 0.5556（論文 ResNet 0.6346）。</a:t>
            </a:r>
          </a:p>
          <a:p>
            <a:pPr lvl="1"/>
            <a:r>
              <a:rPr sz="1600"/>
              <a:t>論文三個元件逐一加上去量：等向擴充 −0.0216、特徵生成 +0.0004、補上正負號 +0.0023；對比損失已實作，前提已被量掉，決定不跑。</a:t>
            </a:r>
          </a:p>
          <a:p>
            <a:pPr lvl="1"/>
            <a:r>
              <a:rPr sz="1600"/>
              <a:t>另做一個不在論文裡的延伸：把 Batch 1 估到的漂移軸投影掉，+0.0128，不可分辨。</a:t>
            </a:r>
          </a:p>
          <a:p>
            <a:pPr/>
            <a:r>
              <a:rPr sz="1800"/>
              <a:t>接下來每頁一個實作時撞到的問題，重點在 Fig. 5 的畫法、生成特徵有沒有覆蓋 target、以及為什麼。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重現了什麼、沒重現什麼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97864"/>
          <a:ext cx="8229600" cy="37124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62656"/>
                <a:gridCol w="2633472"/>
                <a:gridCol w="1316736"/>
                <a:gridCol w="1316736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497D"/>
                          </a:solidFill>
                        </a:rPr>
                        <a:t>論文的東西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497D"/>
                          </a:solidFill>
                        </a:rPr>
                        <a:t>重現狀態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497D"/>
                          </a:solidFill>
                        </a:rPr>
                        <a:t>我們的數字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497D"/>
                          </a:solidFill>
                        </a:rPr>
                        <a:t>論文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純 ResNet 基線（Fig. 2）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架構照圖重建，source-only 訓練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0.5556 ± 0.0137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0.6346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資料擴充（Eq. 7，等向噪聲）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照做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−0.0216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含在 +0.036 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特徵生成（Eqs. 8–16）+ L_MSE（S4）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照做，Fig. 5 畫得出同樣的圖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+0.0004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含在 +0.036 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特徵生成，Eq. (14) 補上正負號與幅度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照診斷修了，仍不動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+0.0023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對比損失 L_con（S5）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已實作，決定不跑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+0.053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Acetaldehyde 完全誤判（Fig. S3）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重現了，和論文一樣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84064"/>
            <a:ext cx="822960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</a:rPr>
              <a:t>機制都重現得出來，準確率的增益重現不出來。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</a:rPr>
              <a:t>可分辨門檻 0.009–0.022（五個 seed、2 × 標準誤）；低於 0.005 的差不算效應。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問題一：文字與圖互相矛盾，資料支持圖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97864"/>
          <a:ext cx="8229600" cy="3584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16736"/>
                <a:gridCol w="2633472"/>
                <a:gridCol w="2468880"/>
                <a:gridCol w="1810512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497D"/>
                          </a:solidFill>
                        </a:rPr>
                        <a:t>論文的地方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497D"/>
                          </a:solidFill>
                        </a:rPr>
                        <a:t>文字說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497D"/>
                          </a:solidFill>
                        </a:rPr>
                        <a:t>圖說／實作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497D"/>
                          </a:solidFill>
                        </a:rPr>
                        <a:t>實測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Channel 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§5.2「1 到 128 逐步增加」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Fig. 2 印 32/64/128/256/128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圖版高 +0.03 到 +0.05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Pooling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「doesn't apply the pooling layer」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加 GAP 掉 −0.078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Eq. (S2)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對 minibatch 取未加權平均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最後一批只有 61 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照 S2，記錄差異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Eq. (S4)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沒有 1/C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F.mse_loss 預設除以 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照 S4，六項相加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Eqs. (10)–(11)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統計量維度自相矛盾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逐純量／channel／位置三種讀法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三種都做，都約零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Eq. (14)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高斯可抽到負的尺度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照論文不截斷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負值比例 0.000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46903"/>
            <a:ext cx="822960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</a:rPr>
              <a:t>Pooling 那句是關鍵句：加了全域平均池化就掉 0.078，比任何 CDCNN 元件的效應都大。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</a:rPr>
              <a:t>能照做的都照做了；沒有一個歧義能解釋後面的差距。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問題二：標籤對不上論文的 Table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4" name="Picture 3" descr="fig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7864"/>
            <a:ext cx="4023360" cy="1863681"/>
          </a:xfrm>
          <a:prstGeom prst="rect">
            <a:avLst/>
          </a:prstGeom>
        </p:spPr>
      </p:pic>
      <p:pic>
        <p:nvPicPr>
          <p:cNvPr id="5" name="Picture 4" descr="batch1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97864"/>
            <a:ext cx="4023360" cy="1702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118104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論文的 PCA 總圖（batch1 面板），依氣體名稱上色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118104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我們的 Batch 1 PCA，只標整數標籤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83864"/>
            <a:ext cx="8229600" cy="2560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資料集文件：1=Ethanol, 2=Ethylene, 3=Ammonia, 4=Acetaldehyde, 5=Acetone, 6=Toluene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論文 Table 2 的 Batch 1 筆數（83/30/70/98/90/74）照欄位讀，要求標籤 1 有 83 筆；實際是 90，六欄只有一欄對得上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用 Batch 1 的 PCA 形狀對論文的圖，判定標籤 2 與 3 互換：採用 1=Ethanol, 2=Ammonia, 3=Ethylene, 4=Acetaldehyde, 5=Acetone, 6=Toluene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不影響任何準確率（模型只看整數），只影響「某氣體怎樣」的敘述；衝突只記錄、不宣稱解決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問題三：Fig. S1 的曲線畫的是什麼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4" name="Picture 3" descr="fig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7864"/>
            <a:ext cx="4023360" cy="1611423"/>
          </a:xfrm>
          <a:prstGeom prst="rect">
            <a:avLst/>
          </a:prstGeom>
        </p:spPr>
      </p:pic>
      <p:pic>
        <p:nvPicPr>
          <p:cNvPr id="5" name="Picture 4" descr="figS1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97864"/>
            <a:ext cx="396240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843784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論文 Fig. S1：準確率在 0.58／0.65／0.70 進入平台；CDCNN 的 loss 停在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843784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我們：Batch 1 訓練準確率到 1.000，target mean 0.35–0.55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55264"/>
            <a:ext cx="8229600" cy="2834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若 S1 是訓練曲線，0.58 太低；若是 target 曲線，它暗示訓練時一直在看 target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S1(b)：CDCNN 的 loss 比另外兩個高 1.0。我們量到的 L_MSE 最終只佔 loss 的 3%，那 1.0 幾乎全是對比損失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source-only 下沒有停止規則：5-fold CV、120 個 fold，held-out 準確率與 loss 的峰值都在 epoch 60–100，target 的峰值在 7／40／70，反相關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epoch 只能固定為 100，這是唯一不看 target 的做法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問題四：論文也死在 Acetaldehyde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7864"/>
            <a:ext cx="4023360" cy="1920240"/>
          </a:xfrm>
          <a:prstGeom prst="rect">
            <a:avLst/>
          </a:prstGeom>
        </p:spPr>
      </p:pic>
      <p:pic>
        <p:nvPicPr>
          <p:cNvPr id="5" name="Picture 4" descr="baseline-confusion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97864"/>
            <a:ext cx="3080461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118104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論文 Fig. S3：CDCNN 把 100% 的 Acetaldehyde 判成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118104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我們的基線混淆矩陣：Acetaldehyde 一樣是 0.00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483864"/>
          <a:ext cx="4023358" cy="1984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88643"/>
                <a:gridCol w="844905"/>
                <a:gridCol w="844905"/>
                <a:gridCol w="844905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類別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論文 CDCNN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論文 CDWC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我們的基線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Ethanol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Ethylene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Ammonia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Acetaldehyde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Acetone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Toluene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663440" y="3483864"/>
            <a:ext cx="4023360" cy="2560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原因是漂移，不是化學相似：Acetaldehyde 在 Batch 1 上 recall 1.000，到 target 每個 batch 的質心都落到 Batch 1 的 Ethanol 位置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它佔 target 14%，論文的 pooled 準確率因此只有約 0.80；0.7230 是在它為零的情況下達成的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與論文的差距在其他五類，尤其 Toluene（0.92 對 0.39）與 Acetone（0.94 對 0.51）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問題五：等向擴充是負的，有方向才是正的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97864"/>
          <a:ext cx="8229600" cy="1389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3127248"/>
                <a:gridCol w="1316736"/>
                <a:gridCol w="1152144"/>
                <a:gridCol w="98755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497D"/>
                          </a:solidFill>
                        </a:rPr>
                        <a:t>變體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497D"/>
                          </a:solidFill>
                        </a:rPr>
                        <a:t>擴充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497D"/>
                          </a:solidFill>
                        </a:rPr>
                        <a:t>target mean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497D"/>
                          </a:solidFill>
                        </a:rPr>
                        <a:t>vs 基準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497D"/>
                          </a:solidFill>
                        </a:rPr>
                        <a:t>可分辨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R-aug-t2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沿漂移方向，T=2，無噪聲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</a:rPr>
                        <a:t>0.5770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</a:rPr>
                        <a:t>+0.0214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</a:rPr>
                        <a:t>是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R-fig-logps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無（基準）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</a:rPr>
                        <a:t>0.5556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R-aug-paper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論文 Eq. (7) 等向噪聲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</a:rPr>
                        <a:t>0.5340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</a:rPr>
                        <a:t>−0.0216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ugmentation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11" y="2706624"/>
            <a:ext cx="4302578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23944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Batch 1 擴充前後的三維 PCA：等向噪聲只把雲撐大，到 target Acetaldehyde 重心的最近距離不變（2.36）；有方向的位移才縮到 1.46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9704"/>
            <a:ext cx="8229600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方向是看過 target 才選的，T 與去噪聲也是：target-informed，只能算上界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增益全是 Acetone +0.255 換 Ethylene −0.272；Ethylene 是漂移方向與共用方向最不對齊的類別（cos 0.451）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死類別仍是 0.003：Acetaldehyde 與 Ethanol 幾乎一起漂（cos 0.761），共用方向的平移解不開兩者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問題六：Fig. 5 的畫法違規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4" name="Picture 3" descr="fig5-feature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7864"/>
            <a:ext cx="4023360" cy="2321311"/>
          </a:xfrm>
          <a:prstGeom prst="rect">
            <a:avLst/>
          </a:prstGeom>
        </p:spPr>
      </p:pic>
      <p:pic>
        <p:nvPicPr>
          <p:cNvPr id="5" name="Picture 4" descr="feature_gen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97864"/>
            <a:ext cx="4023360" cy="2219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29584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論文 Fig. 5：區塊套在 batch 2 上（橘），與 batch 2 的原始特徵（藍）比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529584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我們照同樣畫法畫：形狀對得上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41064"/>
            <a:ext cx="8229600" cy="2194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這張圖用了 target 資料：橘點是把區塊套在 batch 2 上才有的，每個 batch 各自這樣畫，就是每個 batch 都獨立進了模型。訓練時區塊只看得到 Batch 1，推論時區塊根本不作用（Fig. 2）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這是循環論證：從 batch 2 生成的特徵當然靠近 batch 2，不管區塊做什麼；它證明不了區塊「涵蓋到未見過的域」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正確的問法：區塊只作用在 Batch 1，生成出來的雲有沒有到後面的 batch？→ 下一頁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問題七：生成特徵沒有覆蓋任何後續 batch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4" name="Picture 3" descr="generation_drift_aligned_2d_b2-7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42" y="1197864"/>
            <a:ext cx="6740716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43984"/>
            <a:ext cx="8229600" cy="1737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</a:rPr>
              <a:t>• X 軸為該氣體從 Batch 1 到 target batch 的漂移方向（質心差），Y 軸為扣除漂移方向後的第一主成分；漂移軸是建構出來的，雲沒有沿它走就藏不起來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</a:rPr>
              <a:t>• 灰 = Batch 1 原始特徵，橘 = 從 Batch 1 生成的人工特徵，藍 = target 原始特徵。若特徵生成有效，橘色應覆蓋藍色；實際上橘色只疊在灰色上，藍色在另一邊，中間一段空隙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</a:rPr>
              <a:t>• 在這樣的情況下，對比損失拉近 z_f 與 z̄_f 沒有意義：生成特徵本來就和 source 特徵幾乎相同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同一件事，沿漂移軸量成數字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4" name="Picture 3" descr="generation_drift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734" y="1197864"/>
            <a:ext cx="6536531" cy="2286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21024"/>
          <a:ext cx="5120638" cy="1170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74796"/>
                <a:gridCol w="819302"/>
                <a:gridCol w="112654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一維量（沿 u；source 質心 0，target 質心 1）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中位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範圍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橘雲與藍雲的直方圖重疊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0.00–0.42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橘雲寬度 ÷ 灰雲寬度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1.01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0.80–1.16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區塊沿 u 的配對位移（漂移距離為單位）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0.007–0.166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3621024"/>
            <a:ext cx="2926080" cy="2377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51 個（氣體, batch）格；沿漂移軸，人工雲與 Batch 1 原始雲是同一片雲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重疊 ≥ 0.10 的六格全是 target 自己散回 source 附近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換另一個 checkpoint 重跑，每格差在小數第三位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為什麼：Eq. (14) 沒有正負號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軸是對的：擾動對真實漂移的 |cos| 是隨機虛無值的 3.1–4.6 倍；7.6% 的擾動能量落在 51 維漂移張成空間（虛無值 0.3%）</a:t>
            </a:r>
          </a:p>
          <a:p>
            <a:pPr/>
            <a:r>
              <a:rPr sz="1800"/>
              <a:t>正負號沒有：有號分量 ÷ 典型幅度，逐類平均 −7.5%。Eq. (14) 的高斯是對稱的，順著與逆著漂移機率相同</a:t>
            </a:r>
          </a:p>
          <a:p>
            <a:pPr lvl="1"/>
            <a:r>
              <a:rPr sz="1600"/>
              <a:t>教分類器對 ±ε 鄰域不變，只會均勻撐大決策區域，不會把邊界搬向漂移後的資料</a:t>
            </a:r>
          </a:p>
          <a:p>
            <a:pPr/>
            <a:r>
              <a:rPr sz="1800"/>
              <a:t>沿軸幅度太小：全空間模長「只差 2 倍」是誤導，投影到任一條漂移軸差 30 倍</a:t>
            </a:r>
          </a:p>
          <a:p>
            <a:pPr/>
            <a:r>
              <a:rPr sz="1800"/>
              <a:t>網路確實學到區塊要求的不變性：L_MSE 降 2–5 倍，λ 拉到上限 1.0 也只差 0.0002；但真實漂移有 94% 原封不動穿過 backbone</a:t>
            </a:r>
          </a:p>
          <a:p>
            <a:pPr/>
            <a:r>
              <a:rPr sz="1800"/>
              <a:t>與問題五是同一件事的兩面：無方向的位移是負的或零，方向就是全部效應，而 Eq. (14) 把它丟掉了。準確率效應 +0.0004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問題八：補上正負號也沒用（v10）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23</a:t>
            </a:fld>
            <a:endParaRPr lang="zh-TW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97864"/>
          <a:ext cx="822960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16736"/>
                <a:gridCol w="2962656"/>
                <a:gridCol w="1152144"/>
                <a:gridCol w="822960"/>
                <a:gridCol w="1069848"/>
                <a:gridCol w="90525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變體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Eq. (14)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target mean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SD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vs R-gen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497D"/>
                          </a:solidFill>
                        </a:rPr>
                        <a:t>可分辨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R-gen-shift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論文噪聲 + 2 個區塊偏移的定向位移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0.5796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0.0077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+0.0023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R-gen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論文原版，對稱高斯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0.5773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0.0069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R-aug-t2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無區塊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0.5770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0.0078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−0.0003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R-gen-sign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只修正負號，幅度照論文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0.5767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0.0115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−0.0006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026664"/>
          <a:ext cx="3474719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59382"/>
                <a:gridCol w="1146657"/>
                <a:gridCol w="8686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類別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cos 與真實漂移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位移 / 漂移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Ethanol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+0.769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1.05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Ammonia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+0.558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1.16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Ethylene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+0.305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1.41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Acetaldehyde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+0.596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Acetone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+0.693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Toluene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+0.662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51 格平均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+0.593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0" y="3026664"/>
            <a:ext cx="4572000" cy="3017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方向用 Batch 1 自己兩個採集區塊的偏移，在 block 3 的 style 空間估，每個 epoch 重估，不碰 target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方向是對的、幅度也對：六類 cos 全為正（虛無值 0.088），位移是真實漂移的 0.73 到 1.41 倍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每個 batch、每個類別的差都在 0.012 內；同樣的定向位移在輸入端（v8.1）能把 Acetone、Ethylene 各搬 0.25 以上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事前否證條件觸發。特徵生成區塊作為機制關掉了，與 Eq. (14) 有沒有正負號無關：它能碰到的子空間不是決策邊界會回應的那一個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L_con（Eq. S5）：已實作，決定不跑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700"/>
              <a:t>S5 是標準的 Supervised Contrastive Loss，作用在 z_f ∪ z̄_f，生成特徵沿用原標籤，f 投影到單位球；τ 與 λ_con 論文都沒給</a:t>
            </a:r>
          </a:p>
          <a:p>
            <a:pPr/>
            <a:r>
              <a:rPr sz="1700"/>
              <a:t>做好的東西：損失函數、Eq. (4) 第三項、四格 config（R-con、R-con-shift、R-con-t5 對 R-gen）含事前預測；單元測試與單一 minibatch 前向通過</a:t>
            </a:r>
          </a:p>
          <a:p>
            <a:pPr/>
            <a:r>
              <a:rPr sz="1700"/>
              <a:t>為什麼不跑：它要求 z_f 對 z̄_f 不變，而 z̄_f 沒有離開 Batch 1（沿漂移軸重疊 0.00、寬度比 1.01），連方向對、幅度對的 z̄_f 都只值 +0.0023。對一個沒離開 source 的擾動做不變性，不會變成對真實漂移的不變性</a:t>
            </a:r>
          </a:p>
          <a:p>
            <a:pPr lvl="1"/>
            <a:r>
              <a:rPr sz="1500"/>
              <a:t>前一分支在另一個 backbone 上量了五次：−0.005 到 +0.003</a:t>
            </a:r>
          </a:p>
          <a:p>
            <a:pPr/>
            <a:r>
              <a:rPr sz="1700"/>
              <a:t>L_con 起始值 ≈ log(127) ≈ 4.8，是 L_ce 的兩倍多，乘 0.5 後主導前期梯度；論文 Fig. S1(b) 的 CDCNN loss 平台 1.5 與此一致</a:t>
            </a:r>
          </a:p>
          <a:p>
            <a:pPr/>
            <a:r>
              <a:rPr sz="1700"/>
              <a:t>config 與預測留檔，補跑是 15 分鐘。否證條件：R-con 若與 R-gen 可分辨，代表前一分支的五次零是 backbone 的問題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延伸：投影掉漂移軸（v12）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25</a:t>
            </a:fld>
            <a:endParaRPr lang="zh-TW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97864"/>
          <a:ext cx="822960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16736"/>
                <a:gridCol w="2962656"/>
                <a:gridCol w="493776"/>
                <a:gridCol w="1152144"/>
                <a:gridCol w="987552"/>
                <a:gridCol w="131673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變體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拿掉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497D"/>
                          </a:solidFill>
                        </a:rPr>
                        <a:t>k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target mean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vs 基準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可分辨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R-proj-eth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Ethanol 的採集偏移（看過 target）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0.5747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+0.0191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是（上界）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R-proj-axis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三個偏移的共同軸（頭條）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0.5684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+0.0128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否，門檻 0.0145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R-proj-sub3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三個偏移張成的空間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0.5610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+0.0055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R-fig-logps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不拿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0.5556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batch1_drift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962" y="2980944"/>
            <a:ext cx="4368076" cy="1508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89704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</a:rPr>
              <a:t>Batch 1 自己的 PCA 平面：氣體沿 PC1 分開，兩次採集沿 PC2 錯開；拿掉那條軸後 Batch 1 還分得開（CV 0.9709 對 0.9680）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9744"/>
            <a:ext cx="822960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x′ = x − U Uᵀ x，U 來自 Batch 1 兩次採集的偏移，不帶擴充、不帶生成區塊，對照是定案基準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那條軸只裝 29% 的三年漂移能量，卻裝 42% 的類內散佈：它是方向估計，不是漂移本身。拿三維就拿掉 76% 類間變異，漂移與類別資訊糾在同一個低維子空間裡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</a:rPr>
              <a:t>• 逐類別形狀與擴充一模一樣（Acetone +0.24、Ethylene −0.28）；Acetaldehyde 仍落在 Ethanol。兩個否證條件都觸發，source-only 定案仍是 0.5556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實驗結果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26</a:t>
            </a:fld>
            <a:endParaRPr lang="zh-TW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97864"/>
          <a:ext cx="8229600" cy="33284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80360"/>
                <a:gridCol w="1728216"/>
                <a:gridCol w="1975104"/>
                <a:gridCol w="16459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497D"/>
                          </a:solidFill>
                        </a:rPr>
                        <a:t>元件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497D"/>
                          </a:solidFill>
                        </a:rPr>
                        <a:t>本分支（五 seed）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497D"/>
                          </a:solidFill>
                        </a:rPr>
                        <a:t>前一分支（另一 backbone）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497D"/>
                          </a:solidFill>
                        </a:rPr>
                        <a:t>論文宣稱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資料擴充（論文等向）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−0.0216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−0.013 到 −0.009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ResNet→CDWC +0.036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資料擴充（有方向，target-informed）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+0.0214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特徵生成 + L_MSE（論文原版）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</a:rPr>
                        <a:t>+0.0004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</a:rPr>
                        <a:t>+0.001 到 +0.014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</a:rPr>
                        <a:t>（含在上列）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特徵生成，Eq. (14) 加正負號與幅度（v10）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</a:rPr>
                        <a:t>+0.0023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對比損失 L_con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已實作，未跑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−0.005 到 +0.003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CDWC→CDCNN +0.053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（非論文）投影掉 Batch 1 估的漂移軸（v12）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+0.0128，不可分辨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72584"/>
            <a:ext cx="822960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重現了的：架構、Eq. (7) 擴充、Eqs. (8)–(16) 生成、Fig. 5 的畫法、Acetaldehyde 的死亡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重現不了的：論文的準確率增益。source-only 定案 0.5556，所有 0.577 系列都是看過 target 的上界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</a:rPr>
              <a:t>• 與論文的差距在 Acetaldehyde 之外的五類，來源不在這三個元件裡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文獻對照：Batch 1 訓練，Batch 2–10 測試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27</a:t>
            </a:fld>
            <a:endParaRPr lang="zh-TW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97864"/>
          <a:ext cx="822960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75104"/>
                <a:gridCol w="3456432"/>
                <a:gridCol w="1481328"/>
                <a:gridCol w="1316736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用到的 target 資訊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方法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</a:rPr>
                        <a:t>來源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497D"/>
                          </a:solidFill>
                        </a:rPr>
                        <a:t>平均 B2–10 (%)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不碰 target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SVM-rbf，資料集原論文的基線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Vergara 2012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38.9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不碰 target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OSC 正交訊號校正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Yi 2019 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56.5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不碰 target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我們的 ResNet，R-fig-logps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本專案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55.6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不碰 target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我們的投影，R-proj-axis（不可分辨）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本專案 v12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A1A1A"/>
                          </a:solidFill>
                        </a:rPr>
                        <a:t>56.8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不碰 target（宣稱）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CDCNN 論文的 ResNet / CDWC / CDCNN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論文 Table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63.5 / 67.1 / 72.3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看過 target 選方向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我們的 R-aug-t2 / R-proj-eth（上界）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本專案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57.7 / 57.5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無標籤 target 樣本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SVM-comgfk / ML-comgfk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Vergara 2012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64.0 / 67.3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無標籤 target 樣本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DRCA / D-DRCA 子空間對齊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Zhang 2017 / Yi 2019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62.2 / 73.8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無標籤 target，半批調參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KD-DM 知識蒸餾（FCNN 無補償 38.7）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47.9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兩個 source + 無標籤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AMDS-PFFA 多源域適應（加權平均）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83.2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每批 20 / 50 筆有標籤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DAELM-S(20) / DAELM-T(50)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Zhang 2015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</a:rPr>
                        <a:t>80.8 / 91.9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9784"/>
            <a:ext cx="82296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</a:rPr>
              <a:t>• 不碰 target 的方法沒有一個超過 60%；我們的 55.6 比原論文的 SVM 高 17 個百分點，CDCNN 論文的 63.5 是唯一例外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</a:rPr>
              <a:t>• 跨過 60% 的做法清一色是看 target 的無標籤樣本做子空間對齊（DRCA 那一家）；80% 以上要有標籤的校正樣本或多個 source batch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消融實驗的結果：在嚴格 source-only 下，資料擴充與特徵生成都不能有效提高準確率；對比損失要求的不變性對象（生成特徵）沒有離開 source，前提已被量掉，故未執行。論文三個元件沒有一個重現得出增益</a:t>
            </a:r>
          </a:p>
          <a:p>
            <a:pPr/>
            <a:r>
              <a:rPr sz="1800"/>
              <a:t>與論文的 0.11 差距在 Acetaldehyde 之外的五類，不在這三個元件；Fig. 5 用 target 資料畫圖、標籤對不上 Table 2、Fig. S1 的曲線來源不明，三件事只記錄、不推測動機</a:t>
            </a:r>
          </a:p>
          <a:p>
            <a:pPr/>
            <a:r>
              <a:rPr sz="1800"/>
              <a:t>不依靠 target domain leakage 的模型是現實中比較需要的種類，但文獻在同一設定下不碰 target 沒有人過 60%；這份資料集該用的設定是「無標籤 target 樣本可用於對齊」，報告時明說是 unsupervised domain adaptation</a:t>
            </a:r>
          </a:p>
          <a:p>
            <a:pPr/>
            <a:r>
              <a:rPr sz="1800"/>
              <a:t>UCI Gas drift dataset 中的 Acetaldehyde 在 target 上必然誤判成 Ethanol，論文也救不回；任何後續結果都應分「五類」與「六類」報告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B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8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BME" id="{AA7E6EA0-1D5F-409F-956C-E3D4A11D80D7}" vid="{AE300734-491F-41D7-B009-1A9C00DED95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NBME</Template>
  <TotalTime>71814</TotalTime>
  <Words>1080</Words>
  <Application>Microsoft Office PowerPoint</Application>
  <PresentationFormat>On-screen Show (4:3)</PresentationFormat>
  <Paragraphs>115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Google Sans Text</vt:lpstr>
      <vt:lpstr>標楷體</vt:lpstr>
      <vt:lpstr>Arial</vt:lpstr>
      <vt:lpstr>Calibri</vt:lpstr>
      <vt:lpstr>Cambria</vt:lpstr>
      <vt:lpstr>Times New Roman</vt:lpstr>
      <vt:lpstr>NBME</vt:lpstr>
      <vt:lpstr>Contrastive domain generalization convolution neural network correcting the drift of gas sensors  Sensors and Actuators A: Physical, 2024 Jifeng Chu , Renhong Yao , Xianbo Huang </vt:lpstr>
      <vt:lpstr>目錄</vt:lpstr>
      <vt:lpstr>問題與既有方法</vt:lpstr>
      <vt:lpstr>Domain generalization and Contrastive learning</vt:lpstr>
      <vt:lpstr>Methodology: CDCNN Contrastive domain generalization convolution neural network</vt:lpstr>
      <vt:lpstr>Data augmentation</vt:lpstr>
      <vt:lpstr>Feature Generation</vt:lpstr>
      <vt:lpstr>Loss Function</vt:lpstr>
      <vt:lpstr>Dataset: UCI long-term sensor drift dataset </vt:lpstr>
      <vt:lpstr> Performance differences between CDCNN and CDWC</vt:lpstr>
      <vt:lpstr>各式方法比較</vt:lpstr>
      <vt:lpstr>實驗探討</vt:lpstr>
      <vt:lpstr>論文的feature generation 在 source-only無法重現</vt:lpstr>
      <vt:lpstr>從 Batch 1 生成的特徵沒有覆蓋任何後續 batch</vt:lpstr>
      <vt:lpstr>實驗結果</vt:lpstr>
      <vt:lpstr>結論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邦均 劉</dc:creator>
  <cp:lastModifiedBy>Yvonne Chen</cp:lastModifiedBy>
  <cp:revision>2148</cp:revision>
  <cp:lastPrinted>2026-09-29T05:22:58Z</cp:lastPrinted>
  <dcterms:created xsi:type="dcterms:W3CDTF">2022-06-23T07:26:37Z</dcterms:created>
  <dcterms:modified xsi:type="dcterms:W3CDTF">2026-09-29T07:09:19Z</dcterms:modified>
</cp:coreProperties>
</file>