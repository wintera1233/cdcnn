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72" r:id="rId1"/>
  </p:sldMasterIdLst>
  <p:notesMasterIdLst>
    <p:notesMasterId r:id="rId18"/>
  </p:notesMasterIdLst>
  <p:sldIdLst>
    <p:sldId id="315" r:id="rId2"/>
    <p:sldId id="327" r:id="rId3"/>
    <p:sldId id="316" r:id="rId4"/>
    <p:sldId id="318" r:id="rId5"/>
    <p:sldId id="319" r:id="rId6"/>
    <p:sldId id="320" r:id="rId7"/>
    <p:sldId id="321" r:id="rId8"/>
    <p:sldId id="322" r:id="rId9"/>
    <p:sldId id="326" r:id="rId10"/>
    <p:sldId id="323" r:id="rId11"/>
    <p:sldId id="324" r:id="rId12"/>
    <p:sldId id="328" r:id="rId13"/>
    <p:sldId id="329" r:id="rId14"/>
    <p:sldId id="330" r:id="rId15"/>
    <p:sldId id="331" r:id="rId16"/>
    <p:sldId id="325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F589BC7-C77D-4DC2-9EB4-8320D16199E8}">
          <p14:sldIdLst>
            <p14:sldId id="315"/>
            <p14:sldId id="327"/>
            <p14:sldId id="316"/>
            <p14:sldId id="318"/>
            <p14:sldId id="319"/>
            <p14:sldId id="320"/>
            <p14:sldId id="321"/>
            <p14:sldId id="322"/>
            <p14:sldId id="326"/>
            <p14:sldId id="323"/>
            <p14:sldId id="324"/>
            <p14:sldId id="328"/>
            <p14:sldId id="329"/>
            <p14:sldId id="330"/>
            <p14:sldId id="331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e10001@gmail.com" initials="w" lastIdx="1" clrIdx="0">
    <p:extLst>
      <p:ext uri="{19B8F6BF-5375-455C-9EA6-DF929625EA0E}">
        <p15:presenceInfo xmlns:p15="http://schemas.microsoft.com/office/powerpoint/2012/main" userId="352a1262007069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D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79974" autoAdjust="0"/>
  </p:normalViewPr>
  <p:slideViewPr>
    <p:cSldViewPr snapToGrid="0">
      <p:cViewPr varScale="1">
        <p:scale>
          <a:sx n="105" d="100"/>
          <a:sy n="105" d="100"/>
        </p:scale>
        <p:origin x="360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vonne Chen" userId="cdf6c2fa8f1ea833" providerId="LiveId" clId="{DCA5A71D-B571-4584-930E-95E8AD7C3DB8}"/>
    <pc:docChg chg="undo redo custSel addSld delSld modSld modSection">
      <pc:chgData name="Yvonne Chen" userId="cdf6c2fa8f1ea833" providerId="LiveId" clId="{DCA5A71D-B571-4584-930E-95E8AD7C3DB8}" dt="2026-09-29T06:08:20.735" v="4307" actId="20577"/>
      <pc:docMkLst>
        <pc:docMk/>
      </pc:docMkLst>
      <pc:sldChg chg="modSp mod">
        <pc:chgData name="Yvonne Chen" userId="cdf6c2fa8f1ea833" providerId="LiveId" clId="{DCA5A71D-B571-4584-930E-95E8AD7C3DB8}" dt="2026-09-22T04:21:24.364" v="1" actId="1076"/>
        <pc:sldMkLst>
          <pc:docMk/>
          <pc:sldMk cId="2152298854" sldId="315"/>
        </pc:sldMkLst>
        <pc:spChg chg="mod">
          <ac:chgData name="Yvonne Chen" userId="cdf6c2fa8f1ea833" providerId="LiveId" clId="{DCA5A71D-B571-4584-930E-95E8AD7C3DB8}" dt="2026-09-22T04:21:24.364" v="1" actId="1076"/>
          <ac:spMkLst>
            <pc:docMk/>
            <pc:sldMk cId="2152298854" sldId="315"/>
            <ac:spMk id="2" creationId="{F1A621B8-F77A-44B9-8DA7-492E3A86D86F}"/>
          </ac:spMkLst>
        </pc:spChg>
      </pc:sldChg>
      <pc:sldChg chg="modSp mod">
        <pc:chgData name="Yvonne Chen" userId="cdf6c2fa8f1ea833" providerId="LiveId" clId="{DCA5A71D-B571-4584-930E-95E8AD7C3DB8}" dt="2026-09-29T05:51:38.243" v="4181" actId="20577"/>
        <pc:sldMkLst>
          <pc:docMk/>
          <pc:sldMk cId="1345758893" sldId="316"/>
        </pc:sldMkLst>
        <pc:spChg chg="mod">
          <ac:chgData name="Yvonne Chen" userId="cdf6c2fa8f1ea833" providerId="LiveId" clId="{DCA5A71D-B571-4584-930E-95E8AD7C3DB8}" dt="2026-09-29T05:51:38.243" v="4181" actId="20577"/>
          <ac:spMkLst>
            <pc:docMk/>
            <pc:sldMk cId="1345758893" sldId="316"/>
            <ac:spMk id="4" creationId="{B6CA089B-1845-4CC1-8FAE-918254220BCC}"/>
          </ac:spMkLst>
        </pc:spChg>
      </pc:sldChg>
      <pc:sldChg chg="modSp mod">
        <pc:chgData name="Yvonne Chen" userId="cdf6c2fa8f1ea833" providerId="LiveId" clId="{DCA5A71D-B571-4584-930E-95E8AD7C3DB8}" dt="2026-09-29T05:17:27.506" v="1484" actId="20577"/>
        <pc:sldMkLst>
          <pc:docMk/>
          <pc:sldMk cId="2973553008" sldId="320"/>
        </pc:sldMkLst>
        <pc:spChg chg="mod">
          <ac:chgData name="Yvonne Chen" userId="cdf6c2fa8f1ea833" providerId="LiveId" clId="{DCA5A71D-B571-4584-930E-95E8AD7C3DB8}" dt="2026-09-29T05:17:27.506" v="1484" actId="20577"/>
          <ac:spMkLst>
            <pc:docMk/>
            <pc:sldMk cId="2973553008" sldId="320"/>
            <ac:spMk id="5" creationId="{8EEE2174-501C-4F1E-967D-B2207CDC2B30}"/>
          </ac:spMkLst>
        </pc:spChg>
        <pc:picChg chg="mod">
          <ac:chgData name="Yvonne Chen" userId="cdf6c2fa8f1ea833" providerId="LiveId" clId="{DCA5A71D-B571-4584-930E-95E8AD7C3DB8}" dt="2026-09-29T05:13:12.437" v="1200" actId="1076"/>
          <ac:picMkLst>
            <pc:docMk/>
            <pc:sldMk cId="2973553008" sldId="320"/>
            <ac:picMk id="10" creationId="{504DC2FC-0FEB-4D5A-8A68-7D4A288409C5}"/>
          </ac:picMkLst>
        </pc:picChg>
      </pc:sldChg>
      <pc:sldChg chg="modSp mod">
        <pc:chgData name="Yvonne Chen" userId="cdf6c2fa8f1ea833" providerId="LiveId" clId="{DCA5A71D-B571-4584-930E-95E8AD7C3DB8}" dt="2026-09-29T06:08:20.735" v="4307" actId="20577"/>
        <pc:sldMkLst>
          <pc:docMk/>
          <pc:sldMk cId="2516555416" sldId="321"/>
        </pc:sldMkLst>
        <pc:spChg chg="mod">
          <ac:chgData name="Yvonne Chen" userId="cdf6c2fa8f1ea833" providerId="LiveId" clId="{DCA5A71D-B571-4584-930E-95E8AD7C3DB8}" dt="2026-09-29T06:08:20.735" v="4307" actId="20577"/>
          <ac:spMkLst>
            <pc:docMk/>
            <pc:sldMk cId="2516555416" sldId="321"/>
            <ac:spMk id="7" creationId="{5DA208A1-8E70-44E6-BC82-8F7FE9095FC0}"/>
          </ac:spMkLst>
        </pc:spChg>
      </pc:sldChg>
      <pc:sldChg chg="modSp mod">
        <pc:chgData name="Yvonne Chen" userId="cdf6c2fa8f1ea833" providerId="LiveId" clId="{DCA5A71D-B571-4584-930E-95E8AD7C3DB8}" dt="2026-09-29T05:54:14.300" v="4298" actId="20577"/>
        <pc:sldMkLst>
          <pc:docMk/>
          <pc:sldMk cId="3394191139" sldId="325"/>
        </pc:sldMkLst>
        <pc:spChg chg="mod">
          <ac:chgData name="Yvonne Chen" userId="cdf6c2fa8f1ea833" providerId="LiveId" clId="{DCA5A71D-B571-4584-930E-95E8AD7C3DB8}" dt="2026-09-29T05:54:14.300" v="4298" actId="20577"/>
          <ac:spMkLst>
            <pc:docMk/>
            <pc:sldMk cId="3394191139" sldId="325"/>
            <ac:spMk id="4" creationId="{F5B4CD51-7521-4B7C-90C3-1067D8DC9959}"/>
          </ac:spMkLst>
        </pc:spChg>
      </pc:sldChg>
      <pc:sldChg chg="addSp delSp modSp new mod">
        <pc:chgData name="Yvonne Chen" userId="cdf6c2fa8f1ea833" providerId="LiveId" clId="{DCA5A71D-B571-4584-930E-95E8AD7C3DB8}" dt="2026-09-22T04:34:35.356" v="1067" actId="1076"/>
        <pc:sldMkLst>
          <pc:docMk/>
          <pc:sldMk cId="1934456855" sldId="326"/>
        </pc:sldMkLst>
        <pc:spChg chg="mod">
          <ac:chgData name="Yvonne Chen" userId="cdf6c2fa8f1ea833" providerId="LiveId" clId="{DCA5A71D-B571-4584-930E-95E8AD7C3DB8}" dt="2026-09-22T04:31:32.158" v="746" actId="404"/>
          <ac:spMkLst>
            <pc:docMk/>
            <pc:sldMk cId="1934456855" sldId="326"/>
            <ac:spMk id="2" creationId="{61D9E4CA-8B45-498E-9B3C-0CD5989AAFE2}"/>
          </ac:spMkLst>
        </pc:spChg>
        <pc:spChg chg="del">
          <ac:chgData name="Yvonne Chen" userId="cdf6c2fa8f1ea833" providerId="LiveId" clId="{DCA5A71D-B571-4584-930E-95E8AD7C3DB8}" dt="2026-09-22T04:30:57.137" v="734" actId="22"/>
          <ac:spMkLst>
            <pc:docMk/>
            <pc:sldMk cId="1934456855" sldId="326"/>
            <ac:spMk id="4" creationId="{06A2D2A4-1A7A-4C03-8A72-27884D812991}"/>
          </ac:spMkLst>
        </pc:spChg>
        <pc:spChg chg="add mod">
          <ac:chgData name="Yvonne Chen" userId="cdf6c2fa8f1ea833" providerId="LiveId" clId="{DCA5A71D-B571-4584-930E-95E8AD7C3DB8}" dt="2026-09-22T04:34:23.601" v="1063" actId="404"/>
          <ac:spMkLst>
            <pc:docMk/>
            <pc:sldMk cId="1934456855" sldId="326"/>
            <ac:spMk id="7" creationId="{A3A94744-DCE6-4EAC-B9B1-E141DB080B15}"/>
          </ac:spMkLst>
        </pc:spChg>
        <pc:picChg chg="add mod ord">
          <ac:chgData name="Yvonne Chen" userId="cdf6c2fa8f1ea833" providerId="LiveId" clId="{DCA5A71D-B571-4584-930E-95E8AD7C3DB8}" dt="2026-09-22T04:34:35.356" v="1067" actId="1076"/>
          <ac:picMkLst>
            <pc:docMk/>
            <pc:sldMk cId="1934456855" sldId="326"/>
            <ac:picMk id="6" creationId="{B09DFA15-DA68-44DE-9B5B-EF2ACD0B6B69}"/>
          </ac:picMkLst>
        </pc:picChg>
      </pc:sldChg>
      <pc:sldChg chg="modSp new del mod">
        <pc:chgData name="Yvonne Chen" userId="cdf6c2fa8f1ea833" providerId="LiveId" clId="{DCA5A71D-B571-4584-930E-95E8AD7C3DB8}" dt="2026-09-29T05:17:58.753" v="1499" actId="47"/>
        <pc:sldMkLst>
          <pc:docMk/>
          <pc:sldMk cId="2274906692" sldId="327"/>
        </pc:sldMkLst>
        <pc:spChg chg="mod">
          <ac:chgData name="Yvonne Chen" userId="cdf6c2fa8f1ea833" providerId="LiveId" clId="{DCA5A71D-B571-4584-930E-95E8AD7C3DB8}" dt="2026-09-29T05:17:57.418" v="1498" actId="20577"/>
          <ac:spMkLst>
            <pc:docMk/>
            <pc:sldMk cId="2274906692" sldId="327"/>
            <ac:spMk id="2" creationId="{AB810759-E629-4972-A0E5-0925FA777B3B}"/>
          </ac:spMkLst>
        </pc:spChg>
      </pc:sldChg>
      <pc:sldChg chg="modSp new add del mod">
        <pc:chgData name="Yvonne Chen" userId="cdf6c2fa8f1ea833" providerId="LiveId" clId="{DCA5A71D-B571-4584-930E-95E8AD7C3DB8}" dt="2026-09-29T05:19:42.383" v="1657" actId="2710"/>
        <pc:sldMkLst>
          <pc:docMk/>
          <pc:sldMk cId="3349366117" sldId="327"/>
        </pc:sldMkLst>
        <pc:spChg chg="mod">
          <ac:chgData name="Yvonne Chen" userId="cdf6c2fa8f1ea833" providerId="LiveId" clId="{DCA5A71D-B571-4584-930E-95E8AD7C3DB8}" dt="2026-09-29T05:18:06.263" v="1509" actId="20577"/>
          <ac:spMkLst>
            <pc:docMk/>
            <pc:sldMk cId="3349366117" sldId="327"/>
            <ac:spMk id="2" creationId="{865F6C4D-2825-4488-9FE5-55624C269E7B}"/>
          </ac:spMkLst>
        </pc:spChg>
        <pc:spChg chg="mod">
          <ac:chgData name="Yvonne Chen" userId="cdf6c2fa8f1ea833" providerId="LiveId" clId="{DCA5A71D-B571-4584-930E-95E8AD7C3DB8}" dt="2026-09-29T05:19:42.383" v="1657" actId="2710"/>
          <ac:spMkLst>
            <pc:docMk/>
            <pc:sldMk cId="3349366117" sldId="327"/>
            <ac:spMk id="3" creationId="{4A2E76B6-15C8-4355-A951-01577F8B66DD}"/>
          </ac:spMkLst>
        </pc:spChg>
      </pc:sldChg>
      <pc:sldChg chg="addSp delSp modSp new mod">
        <pc:chgData name="Yvonne Chen" userId="cdf6c2fa8f1ea833" providerId="LiveId" clId="{DCA5A71D-B571-4584-930E-95E8AD7C3DB8}" dt="2026-09-29T05:30:03.354" v="2672" actId="20577"/>
        <pc:sldMkLst>
          <pc:docMk/>
          <pc:sldMk cId="1256603778" sldId="328"/>
        </pc:sldMkLst>
        <pc:spChg chg="mod">
          <ac:chgData name="Yvonne Chen" userId="cdf6c2fa8f1ea833" providerId="LiveId" clId="{DCA5A71D-B571-4584-930E-95E8AD7C3DB8}" dt="2026-09-29T05:20:08.542" v="1684" actId="20577"/>
          <ac:spMkLst>
            <pc:docMk/>
            <pc:sldMk cId="1256603778" sldId="328"/>
            <ac:spMk id="2" creationId="{68C52178-C8AC-4F2F-A49C-36C89AB02C32}"/>
          </ac:spMkLst>
        </pc:spChg>
        <pc:spChg chg="mod">
          <ac:chgData name="Yvonne Chen" userId="cdf6c2fa8f1ea833" providerId="LiveId" clId="{DCA5A71D-B571-4584-930E-95E8AD7C3DB8}" dt="2026-09-29T05:30:03.354" v="2672" actId="20577"/>
          <ac:spMkLst>
            <pc:docMk/>
            <pc:sldMk cId="1256603778" sldId="328"/>
            <ac:spMk id="4" creationId="{55B95B45-32FB-480C-980F-702D2E9CF16F}"/>
          </ac:spMkLst>
        </pc:spChg>
        <pc:spChg chg="add del">
          <ac:chgData name="Yvonne Chen" userId="cdf6c2fa8f1ea833" providerId="LiveId" clId="{DCA5A71D-B571-4584-930E-95E8AD7C3DB8}" dt="2026-09-29T05:26:58.171" v="2249"/>
          <ac:spMkLst>
            <pc:docMk/>
            <pc:sldMk cId="1256603778" sldId="328"/>
            <ac:spMk id="6" creationId="{AFC8D0F4-399A-4B12-AEE6-9216E098DDF3}"/>
          </ac:spMkLst>
        </pc:spChg>
        <pc:picChg chg="add del mod">
          <ac:chgData name="Yvonne Chen" userId="cdf6c2fa8f1ea833" providerId="LiveId" clId="{DCA5A71D-B571-4584-930E-95E8AD7C3DB8}" dt="2026-09-29T05:21:13.852" v="1687" actId="478"/>
          <ac:picMkLst>
            <pc:docMk/>
            <pc:sldMk cId="1256603778" sldId="328"/>
            <ac:picMk id="5" creationId="{CB60C59E-87DD-47F9-9D31-272EE0048E79}"/>
          </ac:picMkLst>
        </pc:picChg>
      </pc:sldChg>
      <pc:sldChg chg="addSp delSp modSp new del mod">
        <pc:chgData name="Yvonne Chen" userId="cdf6c2fa8f1ea833" providerId="LiveId" clId="{DCA5A71D-B571-4584-930E-95E8AD7C3DB8}" dt="2026-09-29T05:32:06.859" v="2713" actId="47"/>
        <pc:sldMkLst>
          <pc:docMk/>
          <pc:sldMk cId="1563941027" sldId="329"/>
        </pc:sldMkLst>
        <pc:spChg chg="mod">
          <ac:chgData name="Yvonne Chen" userId="cdf6c2fa8f1ea833" providerId="LiveId" clId="{DCA5A71D-B571-4584-930E-95E8AD7C3DB8}" dt="2026-09-29T05:31:01.909" v="2675" actId="27636"/>
          <ac:spMkLst>
            <pc:docMk/>
            <pc:sldMk cId="1563941027" sldId="329"/>
            <ac:spMk id="2" creationId="{28FE4B62-3C15-40E8-AD7E-0A62CB7FBB58}"/>
          </ac:spMkLst>
        </pc:spChg>
        <pc:spChg chg="del">
          <ac:chgData name="Yvonne Chen" userId="cdf6c2fa8f1ea833" providerId="LiveId" clId="{DCA5A71D-B571-4584-930E-95E8AD7C3DB8}" dt="2026-09-29T05:31:30.582" v="2682"/>
          <ac:spMkLst>
            <pc:docMk/>
            <pc:sldMk cId="1563941027" sldId="329"/>
            <ac:spMk id="4" creationId="{E7F8F6E7-0CC8-49DE-B2AA-57E14A445A9E}"/>
          </ac:spMkLst>
        </pc:spChg>
        <pc:spChg chg="add mod">
          <ac:chgData name="Yvonne Chen" userId="cdf6c2fa8f1ea833" providerId="LiveId" clId="{DCA5A71D-B571-4584-930E-95E8AD7C3DB8}" dt="2026-09-29T05:32:01.346" v="2712" actId="478"/>
          <ac:spMkLst>
            <pc:docMk/>
            <pc:sldMk cId="1563941027" sldId="329"/>
            <ac:spMk id="9" creationId="{8715A0B3-9881-4935-967A-B0EF807C21F6}"/>
          </ac:spMkLst>
        </pc:spChg>
        <pc:graphicFrameChg chg="add del mod modGraphic">
          <ac:chgData name="Yvonne Chen" userId="cdf6c2fa8f1ea833" providerId="LiveId" clId="{DCA5A71D-B571-4584-930E-95E8AD7C3DB8}" dt="2026-09-29T05:32:01.346" v="2712" actId="478"/>
          <ac:graphicFrameMkLst>
            <pc:docMk/>
            <pc:sldMk cId="1563941027" sldId="329"/>
            <ac:graphicFrameMk id="7" creationId="{FC89D5FF-54BF-41FC-8A6F-0AEFBB9B6067}"/>
          </ac:graphicFrameMkLst>
        </pc:graphicFrameChg>
        <pc:picChg chg="add mod">
          <ac:chgData name="Yvonne Chen" userId="cdf6c2fa8f1ea833" providerId="LiveId" clId="{DCA5A71D-B571-4584-930E-95E8AD7C3DB8}" dt="2026-09-29T05:31:09.519" v="2678" actId="1076"/>
          <ac:picMkLst>
            <pc:docMk/>
            <pc:sldMk cId="1563941027" sldId="329"/>
            <ac:picMk id="5" creationId="{48AEFC40-1AF8-4EC9-8C57-15E28A6408E2}"/>
          </ac:picMkLst>
        </pc:picChg>
        <pc:picChg chg="add mod modCrop">
          <ac:chgData name="Yvonne Chen" userId="cdf6c2fa8f1ea833" providerId="LiveId" clId="{DCA5A71D-B571-4584-930E-95E8AD7C3DB8}" dt="2026-09-29T05:31:21.470" v="2681" actId="1076"/>
          <ac:picMkLst>
            <pc:docMk/>
            <pc:sldMk cId="1563941027" sldId="329"/>
            <ac:picMk id="6" creationId="{2A77387E-C779-4C9F-A508-3FB65465908B}"/>
          </ac:picMkLst>
        </pc:picChg>
      </pc:sldChg>
      <pc:sldChg chg="addSp delSp modSp new mod">
        <pc:chgData name="Yvonne Chen" userId="cdf6c2fa8f1ea833" providerId="LiveId" clId="{DCA5A71D-B571-4584-930E-95E8AD7C3DB8}" dt="2026-09-29T05:35:04.347" v="2817" actId="403"/>
        <pc:sldMkLst>
          <pc:docMk/>
          <pc:sldMk cId="3378260168" sldId="329"/>
        </pc:sldMkLst>
        <pc:spChg chg="mod">
          <ac:chgData name="Yvonne Chen" userId="cdf6c2fa8f1ea833" providerId="LiveId" clId="{DCA5A71D-B571-4584-930E-95E8AD7C3DB8}" dt="2026-09-29T05:35:04.347" v="2817" actId="403"/>
          <ac:spMkLst>
            <pc:docMk/>
            <pc:sldMk cId="3378260168" sldId="329"/>
            <ac:spMk id="2" creationId="{11314B23-4183-4A8F-ADDF-38670CAAA2E4}"/>
          </ac:spMkLst>
        </pc:spChg>
        <pc:spChg chg="add del">
          <ac:chgData name="Yvonne Chen" userId="cdf6c2fa8f1ea833" providerId="LiveId" clId="{DCA5A71D-B571-4584-930E-95E8AD7C3DB8}" dt="2026-09-29T05:32:47.384" v="2728"/>
          <ac:spMkLst>
            <pc:docMk/>
            <pc:sldMk cId="3378260168" sldId="329"/>
            <ac:spMk id="4" creationId="{C4A839A0-231C-4BD4-880A-4E93896B1AC0}"/>
          </ac:spMkLst>
        </pc:spChg>
        <pc:spChg chg="add del mod">
          <ac:chgData name="Yvonne Chen" userId="cdf6c2fa8f1ea833" providerId="LiveId" clId="{DCA5A71D-B571-4584-930E-95E8AD7C3DB8}" dt="2026-09-29T05:32:46.554" v="2725" actId="478"/>
          <ac:spMkLst>
            <pc:docMk/>
            <pc:sldMk cId="3378260168" sldId="329"/>
            <ac:spMk id="8" creationId="{63D860FB-5118-4AF5-B51D-4F6F79D8DE13}"/>
          </ac:spMkLst>
        </pc:spChg>
        <pc:graphicFrameChg chg="add del mod modGraphic">
          <ac:chgData name="Yvonne Chen" userId="cdf6c2fa8f1ea833" providerId="LiveId" clId="{DCA5A71D-B571-4584-930E-95E8AD7C3DB8}" dt="2026-09-29T05:32:49.003" v="2734"/>
          <ac:graphicFrameMkLst>
            <pc:docMk/>
            <pc:sldMk cId="3378260168" sldId="329"/>
            <ac:graphicFrameMk id="5" creationId="{529D0477-5340-4D05-8BBC-A24CE2553739}"/>
          </ac:graphicFrameMkLst>
        </pc:graphicFrameChg>
        <pc:picChg chg="add del mod">
          <ac:chgData name="Yvonne Chen" userId="cdf6c2fa8f1ea833" providerId="LiveId" clId="{DCA5A71D-B571-4584-930E-95E8AD7C3DB8}" dt="2026-09-29T05:32:47.384" v="2728"/>
          <ac:picMkLst>
            <pc:docMk/>
            <pc:sldMk cId="3378260168" sldId="329"/>
            <ac:picMk id="6" creationId="{5413C662-817A-4058-94C8-508900B8F08E}"/>
          </ac:picMkLst>
        </pc:picChg>
        <pc:picChg chg="add mod">
          <ac:chgData name="Yvonne Chen" userId="cdf6c2fa8f1ea833" providerId="LiveId" clId="{DCA5A71D-B571-4584-930E-95E8AD7C3DB8}" dt="2026-09-29T05:34:10.464" v="2782" actId="1076"/>
          <ac:picMkLst>
            <pc:docMk/>
            <pc:sldMk cId="3378260168" sldId="329"/>
            <ac:picMk id="9" creationId="{EA16291B-E140-4975-A576-18AEE9CA8C50}"/>
          </ac:picMkLst>
        </pc:picChg>
        <pc:picChg chg="add mod">
          <ac:chgData name="Yvonne Chen" userId="cdf6c2fa8f1ea833" providerId="LiveId" clId="{DCA5A71D-B571-4584-930E-95E8AD7C3DB8}" dt="2026-09-29T05:34:19.376" v="2784" actId="1076"/>
          <ac:picMkLst>
            <pc:docMk/>
            <pc:sldMk cId="3378260168" sldId="329"/>
            <ac:picMk id="10" creationId="{2F518D64-EBD4-47FD-ACE7-C2C7C5540221}"/>
          </ac:picMkLst>
        </pc:picChg>
      </pc:sldChg>
      <pc:sldChg chg="addSp delSp modSp new mod">
        <pc:chgData name="Yvonne Chen" userId="cdf6c2fa8f1ea833" providerId="LiveId" clId="{DCA5A71D-B571-4584-930E-95E8AD7C3DB8}" dt="2026-09-29T05:44:14.695" v="3728" actId="1076"/>
        <pc:sldMkLst>
          <pc:docMk/>
          <pc:sldMk cId="197851043" sldId="330"/>
        </pc:sldMkLst>
        <pc:spChg chg="mod">
          <ac:chgData name="Yvonne Chen" userId="cdf6c2fa8f1ea833" providerId="LiveId" clId="{DCA5A71D-B571-4584-930E-95E8AD7C3DB8}" dt="2026-09-29T05:35:34.969" v="2831" actId="404"/>
          <ac:spMkLst>
            <pc:docMk/>
            <pc:sldMk cId="197851043" sldId="330"/>
            <ac:spMk id="2" creationId="{6B478C00-6155-44FE-AD63-E51FE1ECAE4A}"/>
          </ac:spMkLst>
        </pc:spChg>
        <pc:spChg chg="del">
          <ac:chgData name="Yvonne Chen" userId="cdf6c2fa8f1ea833" providerId="LiveId" clId="{DCA5A71D-B571-4584-930E-95E8AD7C3DB8}" dt="2026-09-29T05:35:42.214" v="2832"/>
          <ac:spMkLst>
            <pc:docMk/>
            <pc:sldMk cId="197851043" sldId="330"/>
            <ac:spMk id="4" creationId="{CF53D388-59DC-40CA-BD4B-3FB0889F5BBD}"/>
          </ac:spMkLst>
        </pc:spChg>
        <pc:spChg chg="add mod">
          <ac:chgData name="Yvonne Chen" userId="cdf6c2fa8f1ea833" providerId="LiveId" clId="{DCA5A71D-B571-4584-930E-95E8AD7C3DB8}" dt="2026-09-29T05:44:14.695" v="3728" actId="1076"/>
          <ac:spMkLst>
            <pc:docMk/>
            <pc:sldMk cId="197851043" sldId="330"/>
            <ac:spMk id="6" creationId="{0DC18316-3740-4BED-BE64-EF1BC30197EE}"/>
          </ac:spMkLst>
        </pc:spChg>
        <pc:picChg chg="add mod modCrop">
          <ac:chgData name="Yvonne Chen" userId="cdf6c2fa8f1ea833" providerId="LiveId" clId="{DCA5A71D-B571-4584-930E-95E8AD7C3DB8}" dt="2026-09-29T05:44:01.670" v="3721" actId="1076"/>
          <ac:picMkLst>
            <pc:docMk/>
            <pc:sldMk cId="197851043" sldId="330"/>
            <ac:picMk id="5" creationId="{FE4A640B-165F-441D-A4B4-6732B408E795}"/>
          </ac:picMkLst>
        </pc:picChg>
        <pc:picChg chg="add mod modCrop">
          <ac:chgData name="Yvonne Chen" userId="cdf6c2fa8f1ea833" providerId="LiveId" clId="{DCA5A71D-B571-4584-930E-95E8AD7C3DB8}" dt="2026-09-29T05:44:09.607" v="3726" actId="1076"/>
          <ac:picMkLst>
            <pc:docMk/>
            <pc:sldMk cId="197851043" sldId="330"/>
            <ac:picMk id="7" creationId="{8899289B-7428-4425-802E-B2B4B70696E3}"/>
          </ac:picMkLst>
        </pc:picChg>
      </pc:sldChg>
      <pc:sldChg chg="addSp delSp modSp new mod">
        <pc:chgData name="Yvonne Chen" userId="cdf6c2fa8f1ea833" providerId="LiveId" clId="{DCA5A71D-B571-4584-930E-95E8AD7C3DB8}" dt="2026-09-29T05:53:40.677" v="4292" actId="798"/>
        <pc:sldMkLst>
          <pc:docMk/>
          <pc:sldMk cId="1641116743" sldId="331"/>
        </pc:sldMkLst>
        <pc:spChg chg="mod">
          <ac:chgData name="Yvonne Chen" userId="cdf6c2fa8f1ea833" providerId="LiveId" clId="{DCA5A71D-B571-4584-930E-95E8AD7C3DB8}" dt="2026-09-29T05:44:28.989" v="3744" actId="20577"/>
          <ac:spMkLst>
            <pc:docMk/>
            <pc:sldMk cId="1641116743" sldId="331"/>
            <ac:spMk id="2" creationId="{B1CC1C04-DB78-473C-BBA1-44FD4C33BA57}"/>
          </ac:spMkLst>
        </pc:spChg>
        <pc:spChg chg="del mod">
          <ac:chgData name="Yvonne Chen" userId="cdf6c2fa8f1ea833" providerId="LiveId" clId="{DCA5A71D-B571-4584-930E-95E8AD7C3DB8}" dt="2026-09-29T05:44:49.195" v="3759" actId="478"/>
          <ac:spMkLst>
            <pc:docMk/>
            <pc:sldMk cId="1641116743" sldId="331"/>
            <ac:spMk id="4" creationId="{5EFA910F-5F94-4678-B0A8-D468FC4E581B}"/>
          </ac:spMkLst>
        </pc:spChg>
        <pc:graphicFrameChg chg="add del mod modGraphic">
          <ac:chgData name="Yvonne Chen" userId="cdf6c2fa8f1ea833" providerId="LiveId" clId="{DCA5A71D-B571-4584-930E-95E8AD7C3DB8}" dt="2026-09-29T05:50:57.952" v="4137" actId="478"/>
          <ac:graphicFrameMkLst>
            <pc:docMk/>
            <pc:sldMk cId="1641116743" sldId="331"/>
            <ac:graphicFrameMk id="5" creationId="{8605955F-962F-4D28-99FC-6AD4AE2765DB}"/>
          </ac:graphicFrameMkLst>
        </pc:graphicFrameChg>
        <pc:graphicFrameChg chg="add mod modGraphic">
          <ac:chgData name="Yvonne Chen" userId="cdf6c2fa8f1ea833" providerId="LiveId" clId="{DCA5A71D-B571-4584-930E-95E8AD7C3DB8}" dt="2026-09-29T05:53:40.677" v="4292" actId="798"/>
          <ac:graphicFrameMkLst>
            <pc:docMk/>
            <pc:sldMk cId="1641116743" sldId="331"/>
            <ac:graphicFrameMk id="6" creationId="{A39C05A4-61D4-4E45-96E0-5E0B88E7007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83875-1F8E-4729-BB01-E5507ECDB26F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CA75C-488B-44EE-A145-FB399880B4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0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157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218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519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0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65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TW" dirty="0"/>
              <a:t>Conv1D </a:t>
            </a:r>
            <a:r>
              <a:rPr lang="zh-TW" altLang="en-US" dirty="0"/>
              <a:t>增加 </a:t>
            </a:r>
            <a:r>
              <a:rPr lang="en-CA" altLang="zh-TW" dirty="0"/>
              <a:t>learned feature representations</a:t>
            </a:r>
            <a:r>
              <a:rPr lang="zh-TW" altLang="en-CA" dirty="0"/>
              <a:t>，</a:t>
            </a:r>
            <a:r>
              <a:rPr lang="en-CA" altLang="zh-TW" dirty="0"/>
              <a:t>Pooling </a:t>
            </a:r>
            <a:r>
              <a:rPr lang="zh-TW" altLang="en-US" dirty="0"/>
              <a:t>壓縮時間軸，</a:t>
            </a:r>
            <a:r>
              <a:rPr lang="en-CA" altLang="zh-TW" dirty="0"/>
              <a:t>BN </a:t>
            </a:r>
            <a:r>
              <a:rPr lang="zh-TW" altLang="en-US" dirty="0"/>
              <a:t>穩定每個 </a:t>
            </a:r>
            <a:r>
              <a:rPr lang="en-CA" altLang="zh-TW" dirty="0"/>
              <a:t>feature channel </a:t>
            </a:r>
            <a:r>
              <a:rPr lang="zh-TW" altLang="en-US" dirty="0"/>
              <a:t>的數值分布。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CA75C-488B-44EE-A145-FB399880B4B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75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635896" y="1196752"/>
            <a:ext cx="5040560" cy="2664296"/>
          </a:xfrm>
        </p:spPr>
        <p:txBody>
          <a:bodyPr/>
          <a:lstStyle>
            <a:lvl1pPr>
              <a:defRPr>
                <a:solidFill>
                  <a:srgbClr val="06164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35896" y="4221088"/>
            <a:ext cx="5040560" cy="15841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FADC78-9159-45FA-9D41-11D2468F06FF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54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2B1-6805-4DE6-A748-6982A74B9BD6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6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87824" y="4077072"/>
            <a:ext cx="5684168" cy="2016224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987824" y="3140969"/>
            <a:ext cx="5684168" cy="936104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6164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90CB-0946-49BE-8CDD-EFB5341A56AD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64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77585-208B-498D-98B4-A96AF9A3EFC6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11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EB98-C986-4C98-9E1A-EDC9B461A565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69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1CBB-E5B4-40A8-8D84-DC24EDB53F36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73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000A-9B95-489C-95F8-2939803A11B7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44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7067128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DCB1-B2B6-4CDB-80DB-C5451DC3FA2B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70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1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CBB-0077-4C86-835B-5E07B370979B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5304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文多_2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72008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D756D-CAD3-4F1C-AA19-B84A98BA3654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16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B4E8D-D661-4034-B723-A921D4F707CA}" type="datetime1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50A0-E7D3-4082-9763-8E866FCC8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19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621B8-F77A-44B9-8DA7-492E3A86D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8582" y="1027336"/>
            <a:ext cx="5555188" cy="3066926"/>
          </a:xfrm>
        </p:spPr>
        <p:txBody>
          <a:bodyPr>
            <a:noAutofit/>
          </a:bodyPr>
          <a:lstStyle/>
          <a:p>
            <a:r>
              <a:rPr lang="en-US" altLang="zh-TW" sz="2000" dirty="0">
                <a:ea typeface="標楷體" panose="03000509000000000000" pitchFamily="65" charset="-120"/>
              </a:rPr>
              <a:t>Contrastive domain generalization convolution neural network correcting the drift of gas sensors</a:t>
            </a:r>
            <a:br>
              <a:rPr lang="en-US" altLang="zh-TW" sz="2000" dirty="0">
                <a:ea typeface="標楷體" panose="03000509000000000000" pitchFamily="65" charset="-120"/>
              </a:rPr>
            </a:br>
            <a:br>
              <a:rPr lang="en-US" altLang="zh-TW" sz="2000" dirty="0">
                <a:ea typeface="標楷體" panose="03000509000000000000" pitchFamily="65" charset="-120"/>
              </a:rPr>
            </a:br>
            <a:r>
              <a:rPr lang="en-US" altLang="zh-TW" sz="1600" dirty="0" err="1">
                <a:ea typeface="標楷體" panose="03000509000000000000" pitchFamily="65" charset="-120"/>
              </a:rPr>
              <a:t>Sensors</a:t>
            </a:r>
            <a:r>
              <a:rPr lang="en-US" altLang="zh-TW" sz="1600" dirty="0">
                <a:ea typeface="標楷體" panose="03000509000000000000" pitchFamily="65" charset="-120"/>
              </a:rPr>
              <a:t> and Actuators A: Physical, 2024</a:t>
            </a:r>
            <a:br>
              <a:rPr lang="en-US" altLang="zh-TW" sz="1600" dirty="0">
                <a:ea typeface="標楷體" panose="03000509000000000000" pitchFamily="65" charset="-120"/>
              </a:rPr>
            </a:br>
            <a:r>
              <a:rPr lang="en-US" altLang="zh-TW" sz="1400" dirty="0" err="1">
                <a:ea typeface="標楷體" panose="03000509000000000000" pitchFamily="65" charset="-120"/>
              </a:rPr>
              <a:t>Jifeng</a:t>
            </a:r>
            <a:r>
              <a:rPr lang="en-US" altLang="zh-TW" sz="1400" dirty="0">
                <a:ea typeface="標楷體" panose="03000509000000000000" pitchFamily="65" charset="-120"/>
              </a:rPr>
              <a:t> Chu , </a:t>
            </a:r>
            <a:r>
              <a:rPr lang="en-US" altLang="zh-TW" sz="1400" dirty="0" err="1">
                <a:ea typeface="標楷體" panose="03000509000000000000" pitchFamily="65" charset="-120"/>
              </a:rPr>
              <a:t>Renhong</a:t>
            </a:r>
            <a:r>
              <a:rPr lang="en-US" altLang="zh-TW" sz="1400" dirty="0">
                <a:ea typeface="標楷體" panose="03000509000000000000" pitchFamily="65" charset="-120"/>
              </a:rPr>
              <a:t> Yao , </a:t>
            </a:r>
            <a:r>
              <a:rPr lang="en-US" altLang="zh-TW" sz="1400" dirty="0" err="1">
                <a:ea typeface="標楷體" panose="03000509000000000000" pitchFamily="65" charset="-120"/>
              </a:rPr>
              <a:t>Xianbo</a:t>
            </a:r>
            <a:r>
              <a:rPr lang="en-US" altLang="zh-TW" sz="1400" dirty="0">
                <a:ea typeface="標楷體" panose="03000509000000000000" pitchFamily="65" charset="-120"/>
              </a:rPr>
              <a:t> Huang </a:t>
            </a:r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A1B309-3A86-460D-9F25-F0B15520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5896" y="4715933"/>
            <a:ext cx="5040560" cy="1114731"/>
          </a:xfrm>
        </p:spPr>
        <p:txBody>
          <a:bodyPr>
            <a:normAutofit/>
          </a:bodyPr>
          <a:lstStyle/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陳柏臻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指導教授 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鄭桂忠 教授</a:t>
            </a:r>
          </a:p>
          <a:p>
            <a:pPr algn="l"/>
            <a:endParaRPr lang="zh-TW" altLang="en-US" sz="18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29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6C4D-2825-4488-9FE5-55624C26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76B6-15C8-4355-A951-01577F8B6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問題與既有方法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en-US" altLang="zh-TW" sz="2800" dirty="0"/>
              <a:t>Domain generalization and Contrastive learning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Methodology: CDCNN</a:t>
            </a:r>
            <a:br>
              <a:rPr lang="en-US" altLang="zh-TW" sz="2800" dirty="0"/>
            </a:br>
            <a:r>
              <a:rPr lang="en-US" altLang="zh-TW" sz="2000" dirty="0"/>
              <a:t>(Contrastive </a:t>
            </a:r>
            <a:r>
              <a:rPr lang="en-CA" altLang="zh-TW" sz="2000" dirty="0"/>
              <a:t>domain generalization convolution neural network)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CDCNN</a:t>
            </a:r>
            <a:r>
              <a:rPr lang="zh-TW" altLang="en-US" sz="2800" dirty="0"/>
              <a:t>重現與探討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結論</a:t>
            </a:r>
            <a:endParaRPr lang="en-US" altLang="zh-TW" sz="2800" dirty="0"/>
          </a:p>
          <a:p>
            <a:pPr>
              <a:lnSpc>
                <a:spcPct val="150000"/>
              </a:lnSpc>
            </a:pPr>
            <a:endParaRPr lang="zh-TW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DF44C-30E7-4ED0-A43F-145A28E3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36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3BA-932E-4921-9608-EFC0B401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問題與既有方法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9F614-D416-462F-947C-50C2D6B5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A089B-1845-4CC1-8FAE-918254220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2281"/>
            <a:ext cx="8229600" cy="4929411"/>
          </a:xfrm>
        </p:spPr>
        <p:txBody>
          <a:bodyPr>
            <a:normAutofit fontScale="92500" lnSpcReduction="20000"/>
          </a:bodyPr>
          <a:lstStyle/>
          <a:p>
            <a:pPr algn="l">
              <a:spcAft>
                <a:spcPts val="1200"/>
              </a:spcAft>
            </a:pPr>
            <a:r>
              <a:rPr lang="zh-TW" altLang="en-US" sz="2800" b="1" i="0" dirty="0">
                <a:solidFill>
                  <a:srgbClr val="1E2761"/>
                </a:solidFill>
                <a:latin typeface="Cambria"/>
              </a:rPr>
              <a:t>感測器漂移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CADCFC"/>
                </a:solidFill>
                <a:latin typeface="Calibri"/>
              </a:rPr>
              <a:t>·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MOS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氣體感測器因元件老化與環境波動，對同一氣體的響應隨時間偏移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CADCFC"/>
                </a:solidFill>
                <a:latin typeface="Calibri"/>
              </a:rPr>
              <a:t>·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電子鼻的長期辨識準確率與壽命因此大幅下降</a:t>
            </a:r>
          </a:p>
          <a:p>
            <a:pPr>
              <a:spcAft>
                <a:spcPts val="1200"/>
              </a:spcAft>
            </a:pPr>
            <a:r>
              <a:rPr lang="zh-TW" altLang="en-US" sz="2800" b="1" i="0" dirty="0">
                <a:solidFill>
                  <a:srgbClr val="1E2761"/>
                </a:solidFill>
                <a:latin typeface="Cambria"/>
              </a:rPr>
              <a:t>既有方法的限制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PCA-SVM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、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LDA-SVM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：手工特徵與線性／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kernel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轉換，無法擬合非線性長期漂移</a:t>
            </a:r>
          </a:p>
          <a:p>
            <a:pPr>
              <a:spcAft>
                <a:spcPts val="1200"/>
              </a:spcAft>
            </a:pP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SVM-GFK 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等流形學習或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transfer learning</a:t>
            </a:r>
            <a:r>
              <a:rPr lang="zh-TW" altLang="en-US" sz="2400" b="0" i="0" dirty="0">
                <a:solidFill>
                  <a:srgbClr val="1A1A1A"/>
                </a:solidFill>
                <a:latin typeface="Calibri"/>
              </a:rPr>
              <a:t>：需窺探 </a:t>
            </a:r>
            <a:r>
              <a:rPr lang="en-US" altLang="zh-TW" sz="2400" b="0" i="0" dirty="0">
                <a:solidFill>
                  <a:srgbClr val="1A1A1A"/>
                </a:solidFill>
                <a:latin typeface="Calibri"/>
              </a:rPr>
              <a:t>target domain </a:t>
            </a:r>
            <a:endParaRPr lang="zh-TW" altLang="en-US" sz="2400" b="0" i="0" dirty="0">
              <a:solidFill>
                <a:srgbClr val="1A1A1A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zh-TW" altLang="en-US" sz="2400" b="0" i="0" dirty="0">
                <a:latin typeface="Calibri"/>
              </a:rPr>
              <a:t>其他演算法大多也需要 </a:t>
            </a:r>
            <a:r>
              <a:rPr lang="en-US" altLang="zh-TW" sz="2400" b="0" i="0" dirty="0">
                <a:latin typeface="Calibri"/>
              </a:rPr>
              <a:t>target domain</a:t>
            </a:r>
            <a:r>
              <a:rPr lang="zh-TW" altLang="en-US" sz="2400" b="0" i="0" dirty="0">
                <a:latin typeface="Calibri"/>
              </a:rPr>
              <a:t> 的資料</a:t>
            </a:r>
            <a:r>
              <a:rPr lang="zh-TW" altLang="en-US" sz="2400" dirty="0">
                <a:latin typeface="Calibri"/>
              </a:rPr>
              <a:t>，難以在現實使用</a:t>
            </a:r>
            <a:endParaRPr lang="en-CA" altLang="zh-TW" sz="2400" dirty="0"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zh-TW" altLang="en-US" sz="2400" dirty="0">
                <a:latin typeface="Calibri"/>
              </a:rPr>
              <a:t>此方法相較傳統 </a:t>
            </a:r>
            <a:r>
              <a:rPr lang="en-US" altLang="zh-TW" sz="2400" dirty="0" err="1">
                <a:latin typeface="Calibri"/>
              </a:rPr>
              <a:t>ResNet</a:t>
            </a:r>
            <a:r>
              <a:rPr lang="zh-TW" altLang="en-US" sz="2400" dirty="0">
                <a:latin typeface="Calibri"/>
              </a:rPr>
              <a:t>，在</a:t>
            </a:r>
            <a:r>
              <a:rPr lang="en-US" altLang="zh-TW" sz="2400" dirty="0">
                <a:latin typeface="Calibri"/>
              </a:rPr>
              <a:t>target domain</a:t>
            </a:r>
            <a:r>
              <a:rPr lang="zh-TW" altLang="en-US" sz="2400" dirty="0">
                <a:latin typeface="Calibri"/>
              </a:rPr>
              <a:t>上的表現為</a:t>
            </a:r>
            <a:r>
              <a:rPr lang="en-US" altLang="zh-TW" sz="2400" dirty="0" err="1">
                <a:latin typeface="Calibri"/>
              </a:rPr>
              <a:t>acuucracy</a:t>
            </a:r>
            <a:r>
              <a:rPr lang="zh-TW" altLang="en-US" sz="2400" dirty="0">
                <a:latin typeface="Calibri"/>
              </a:rPr>
              <a:t>提升</a:t>
            </a:r>
            <a:r>
              <a:rPr lang="en-US" altLang="zh-TW" sz="2400" dirty="0">
                <a:latin typeface="Calibri"/>
              </a:rPr>
              <a:t>0.05</a:t>
            </a:r>
            <a:endParaRPr lang="en-CA" altLang="zh-TW" sz="2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75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16B-3902-4C19-AFBD-F64E7E6F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Domain generalization and Contrastive learning</a:t>
            </a:r>
            <a:endParaRPr lang="zh-TW" alt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BE29E-269F-4EDA-A496-FF5590C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6A0D2-B668-4813-8C39-20839EA2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231" y="1657349"/>
            <a:ext cx="6151537" cy="419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0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F661-4210-4FCF-8921-0AC1F1F7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Methodology: CDCNN</a:t>
            </a:r>
            <a:br>
              <a:rPr lang="en-US" altLang="zh-TW" dirty="0"/>
            </a:br>
            <a:r>
              <a:rPr lang="en-US" altLang="zh-TW" sz="2200" dirty="0"/>
              <a:t>Contrastive </a:t>
            </a:r>
            <a:r>
              <a:rPr lang="en-CA" altLang="zh-TW" sz="2200" dirty="0"/>
              <a:t>domain generalization convolution neural network</a:t>
            </a:r>
            <a:endParaRPr lang="zh-TW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25C0-BA9F-4FF5-A754-BEBD4C48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53151-15BC-49E7-86CD-085BC7FFB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8232"/>
            <a:ext cx="7315200" cy="429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92A7-37CD-41BD-A674-9944CFA9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zh-TW" dirty="0"/>
              <a:t>Data augmentation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AD5DF-B6F6-4347-837D-9916BE23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EE2174-501C-4F1E-967D-B2207CDC2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3" y="1196752"/>
            <a:ext cx="8229600" cy="4929411"/>
          </a:xfrm>
        </p:spPr>
        <p:txBody>
          <a:bodyPr>
            <a:normAutofit/>
          </a:bodyPr>
          <a:lstStyle/>
          <a:p>
            <a:r>
              <a:rPr lang="zh-TW" altLang="en-US" sz="1800" dirty="0"/>
              <a:t>研究者受到</a:t>
            </a:r>
            <a:r>
              <a:rPr lang="en-US" altLang="zh-TW" sz="1800" dirty="0"/>
              <a:t>VAE(Variational Auto</a:t>
            </a:r>
            <a:r>
              <a:rPr lang="zh-TW" altLang="en-US" sz="1800" dirty="0"/>
              <a:t> </a:t>
            </a:r>
            <a:r>
              <a:rPr lang="en-US" altLang="zh-TW" sz="1800" dirty="0"/>
              <a:t>Encoder</a:t>
            </a:r>
            <a:r>
              <a:rPr lang="zh-TW" altLang="en-US" sz="1800" dirty="0"/>
              <a:t>，變分自編碼器</a:t>
            </a:r>
            <a:r>
              <a:rPr lang="en-US" altLang="zh-TW" sz="1800" dirty="0"/>
              <a:t>)</a:t>
            </a:r>
            <a:r>
              <a:rPr lang="zh-TW" altLang="en-US" sz="1800" dirty="0"/>
              <a:t>啟發，設計一套專門的資料增強方法，將輸入資料轉換成機率模型並從中取樣並合成。</a:t>
            </a:r>
            <a:endParaRPr lang="en-US" altLang="zh-TW" sz="1800" dirty="0"/>
          </a:p>
          <a:p>
            <a:endParaRPr lang="en-US" altLang="zh-TW" sz="1800" dirty="0"/>
          </a:p>
          <a:p>
            <a:pPr marL="457200" lvl="1" indent="0">
              <a:buNone/>
            </a:pPr>
            <a:endParaRPr lang="en-US" altLang="zh-TW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4DC2FC-0FEB-4D5A-8A68-7D4A28840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23505" b="-1412"/>
          <a:stretch/>
        </p:blipFill>
        <p:spPr>
          <a:xfrm>
            <a:off x="535703" y="1916521"/>
            <a:ext cx="4509521" cy="461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29B048-CC7A-4E5A-AC81-3A51B3160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706" y="2400330"/>
            <a:ext cx="4182161" cy="3797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FC7CD4-E489-43C8-B194-ACDD88255235}"/>
              </a:ext>
            </a:extLst>
          </p:cNvPr>
          <p:cNvSpPr txBox="1"/>
          <p:nvPr/>
        </p:nvSpPr>
        <p:spPr>
          <a:xfrm>
            <a:off x="4659438" y="6218148"/>
            <a:ext cx="3787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相較白高斯雜訊與常數雜訊，</a:t>
            </a:r>
            <a:r>
              <a:rPr lang="en-US" altLang="zh-TW" sz="1400" b="0" i="0" dirty="0">
                <a:solidFill>
                  <a:srgbClr val="5A5A66"/>
                </a:solidFill>
                <a:latin typeface="Calibri"/>
              </a:rPr>
              <a:t>CDCNN </a:t>
            </a:r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的擴充在 </a:t>
            </a:r>
            <a:r>
              <a:rPr lang="en-US" altLang="zh-TW" sz="1400" b="0" i="0" dirty="0">
                <a:solidFill>
                  <a:srgbClr val="5A5A66"/>
                </a:solidFill>
                <a:latin typeface="Calibri"/>
              </a:rPr>
              <a:t>PCA </a:t>
            </a:r>
            <a:r>
              <a:rPr lang="zh-TW" altLang="en-US" sz="1400" b="0" i="0" dirty="0">
                <a:solidFill>
                  <a:srgbClr val="5A5A66"/>
                </a:solidFill>
                <a:latin typeface="Calibri"/>
              </a:rPr>
              <a:t>空間產生明顯更大的分散。</a:t>
            </a:r>
            <a:endParaRPr lang="zh-TW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551E7-54BD-4118-B5FF-0E51F89F7070}"/>
              </a:ext>
            </a:extLst>
          </p:cNvPr>
          <p:cNvSpPr txBox="1"/>
          <p:nvPr/>
        </p:nvSpPr>
        <p:spPr>
          <a:xfrm>
            <a:off x="457203" y="2397948"/>
            <a:ext cx="3360417" cy="300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/>
              <a:t>1. </a:t>
            </a:r>
            <a:r>
              <a:rPr lang="zh-TW" altLang="en-US" sz="1600" dirty="0"/>
              <a:t>   計算其中一個氣體感測器訊號 </a:t>
            </a:r>
            <a:r>
              <a:rPr lang="en-US" altLang="zh-TW" sz="1600" dirty="0"/>
              <a:t>j</a:t>
            </a:r>
            <a:r>
              <a:rPr lang="zh-TW" altLang="en-US" sz="1600" dirty="0"/>
              <a:t> 的資料平均與變異數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r>
              <a:rPr lang="en-US" altLang="zh-TW" sz="1600" dirty="0"/>
              <a:t>2.</a:t>
            </a:r>
            <a:r>
              <a:rPr lang="zh-TW" altLang="en-US" sz="1600" dirty="0"/>
              <a:t>   再挑選同一個氣體資料中另一條不同的訊號 </a:t>
            </a:r>
            <a:r>
              <a:rPr lang="en-US" altLang="zh-TW" sz="1600" dirty="0"/>
              <a:t>k</a:t>
            </a:r>
            <a:r>
              <a:rPr lang="zh-TW" altLang="en-US" sz="1600" dirty="0"/>
              <a:t> 計算平均與變異數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r>
              <a:rPr lang="en-US" altLang="zh-TW" sz="1600" dirty="0"/>
              <a:t>3.</a:t>
            </a:r>
            <a:r>
              <a:rPr lang="zh-TW" altLang="en-US" sz="1600" dirty="0"/>
              <a:t>   將兩者訊號以設定好的 參數</a:t>
            </a:r>
            <a:r>
              <a:rPr lang="el-GR" altLang="zh-TW" sz="1600" dirty="0"/>
              <a:t>λ</a:t>
            </a:r>
            <a:r>
              <a:rPr lang="zh-TW" altLang="en-US" sz="1600" dirty="0"/>
              <a:t> 線性組合，得到混合平均值及混和變異數，再建立高斯分布模型，合成擴充訊號並保留原本的標籤。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297355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DFFE-47A9-42A1-AB91-255668E4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Feature Generation</a:t>
            </a:r>
            <a:endParaRPr lang="zh-TW" alt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3ADD9-3627-4DC3-8215-9B53C8A7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A208A1-8E70-44E6-BC82-8F7FE9095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41" y="1426939"/>
            <a:ext cx="4453720" cy="492941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zh-TW" altLang="en-US" sz="7200" b="1" dirty="0"/>
              <a:t>高頻特徵：</a:t>
            </a:r>
            <a:r>
              <a:rPr lang="zh-TW" altLang="en-US" sz="7200" dirty="0"/>
              <a:t>先將訊號以 </a:t>
            </a:r>
            <a:r>
              <a:rPr lang="en-US" altLang="zh-TW" sz="7200" dirty="0" err="1"/>
              <a:t>Maxpool</a:t>
            </a:r>
            <a:r>
              <a:rPr lang="en-US" altLang="zh-TW" sz="7200" dirty="0"/>
              <a:t>() </a:t>
            </a:r>
            <a:r>
              <a:rPr lang="zh-TW" altLang="en-US" sz="7200" dirty="0"/>
              <a:t>取出，再用最近鄰上採樣</a:t>
            </a:r>
            <a:r>
              <a:rPr lang="en-US" altLang="zh-TW" sz="7200" dirty="0"/>
              <a:t>(sample)</a:t>
            </a:r>
            <a:r>
              <a:rPr lang="zh-TW" altLang="en-US" sz="7200" dirty="0"/>
              <a:t>還原尺寸。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b="1" dirty="0"/>
              <a:t>低頻特徵：</a:t>
            </a:r>
            <a:r>
              <a:rPr lang="zh-TW" altLang="en-US" sz="7200" dirty="0"/>
              <a:t>原始特徵減去高頻特徵得到，這部分視為與</a:t>
            </a:r>
            <a:r>
              <a:rPr lang="en-US" altLang="zh-TW" sz="7200" dirty="0"/>
              <a:t>domain</a:t>
            </a:r>
            <a:r>
              <a:rPr lang="zh-TW" altLang="en-US" sz="7200" dirty="0"/>
              <a:t>相關的緩慢變化。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將高頻特徵與另一組低頻特徵組合，可生成具原始分類標籤且帶有 </a:t>
            </a:r>
            <a:r>
              <a:rPr lang="en-US" altLang="zh-TW" sz="7200" dirty="0"/>
              <a:t>domain </a:t>
            </a:r>
            <a:r>
              <a:rPr lang="zh-TW" altLang="en-US" sz="7200" dirty="0"/>
              <a:t>漂移的特徵訊號。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再進入 </a:t>
            </a:r>
            <a:r>
              <a:rPr lang="en-US" altLang="zh-TW" sz="7200" dirty="0"/>
              <a:t>ResNet-4,5 </a:t>
            </a:r>
            <a:r>
              <a:rPr lang="zh-TW" altLang="en-US" sz="7200" dirty="0"/>
              <a:t>生成深層特徵，計算 </a:t>
            </a:r>
            <a:r>
              <a:rPr lang="en-US" altLang="zh-TW" sz="7200" dirty="0"/>
              <a:t>Contrast Loss</a:t>
            </a:r>
            <a:r>
              <a:rPr lang="zh-TW" altLang="en-US" sz="7200" dirty="0"/>
              <a:t>。</a:t>
            </a:r>
            <a:endParaRPr lang="en-US" altLang="zh-TW" sz="7200" dirty="0"/>
          </a:p>
          <a:p>
            <a:pPr>
              <a:lnSpc>
                <a:spcPct val="150000"/>
              </a:lnSpc>
            </a:pPr>
            <a:r>
              <a:rPr lang="zh-TW" altLang="en-US" sz="7200" dirty="0"/>
              <a:t>最後在得到分類機率後計算</a:t>
            </a:r>
            <a:r>
              <a:rPr lang="en-US" altLang="zh-TW" sz="7200" dirty="0"/>
              <a:t>MSE Loss</a:t>
            </a:r>
            <a:r>
              <a:rPr lang="zh-TW" altLang="en-US" sz="7200" dirty="0"/>
              <a:t>，確保兩種</a:t>
            </a:r>
            <a:r>
              <a:rPr lang="en-US" altLang="zh-TW" sz="7200" dirty="0"/>
              <a:t>feature</a:t>
            </a:r>
            <a:r>
              <a:rPr lang="zh-TW" altLang="en-US" sz="7200" dirty="0"/>
              <a:t>的預測結果一致。</a:t>
            </a:r>
            <a:endParaRPr lang="en-US" altLang="zh-TW" sz="7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9A453-1BE5-4F31-BA62-AAEA0BC9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58" y="1594965"/>
            <a:ext cx="3903401" cy="1577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1BEE24-1DA4-4C6D-B719-5E2759D0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22" y="3666527"/>
            <a:ext cx="3729137" cy="205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CDE5-8C66-4FEE-9AE9-B703CBA5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Loss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E91FD-636D-4051-908C-A3245C32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73BEA-41DA-4AE2-B9FB-091E7C3B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損失函數</a:t>
            </a:r>
            <a:r>
              <a:rPr lang="en-US" altLang="zh-TW" sz="2800" dirty="0"/>
              <a:t>L</a:t>
            </a:r>
            <a:r>
              <a:rPr lang="zh-TW" altLang="en-US" sz="2800" dirty="0"/>
              <a:t>：</a:t>
            </a:r>
            <a:endParaRPr lang="en-US" altLang="zh-TW" sz="2800" dirty="0"/>
          </a:p>
          <a:p>
            <a:pPr lvl="1"/>
            <a:r>
              <a:rPr lang="en-US" altLang="zh-TW" sz="2400" dirty="0" err="1"/>
              <a:t>L</a:t>
            </a:r>
            <a:r>
              <a:rPr lang="en-US" altLang="zh-TW" sz="2400" baseline="-25000" dirty="0" err="1"/>
              <a:t>ce</a:t>
            </a:r>
            <a:r>
              <a:rPr lang="en-US" altLang="zh-TW" sz="2400" dirty="0"/>
              <a:t>: Cross-Entropy loss</a:t>
            </a:r>
          </a:p>
          <a:p>
            <a:pPr lvl="1"/>
            <a:endParaRPr lang="en-US" altLang="zh-TW" sz="2400" dirty="0"/>
          </a:p>
          <a:p>
            <a:pPr lvl="1"/>
            <a:endParaRPr lang="en-US" altLang="zh-TW" sz="2400" dirty="0"/>
          </a:p>
          <a:p>
            <a:pPr lvl="1"/>
            <a:r>
              <a:rPr lang="en-US" altLang="zh-TW" sz="2400" dirty="0"/>
              <a:t>L</a:t>
            </a:r>
            <a:r>
              <a:rPr lang="en-US" altLang="zh-TW" sz="2400" baseline="-25000" dirty="0"/>
              <a:t>MSE</a:t>
            </a:r>
            <a:r>
              <a:rPr lang="en-US" altLang="zh-TW" sz="2400" dirty="0"/>
              <a:t>: </a:t>
            </a:r>
            <a:r>
              <a:rPr lang="zh-TW" altLang="en-US" sz="2400" dirty="0"/>
              <a:t>確保</a:t>
            </a:r>
            <a:r>
              <a:rPr lang="en-US" altLang="zh-TW" sz="2400" dirty="0"/>
              <a:t>generate feature </a:t>
            </a:r>
            <a:r>
              <a:rPr lang="zh-TW" altLang="en-US" sz="2400" dirty="0"/>
              <a:t>跟原始特徵保持一致性。</a:t>
            </a:r>
            <a:endParaRPr lang="en-US" altLang="zh-TW" sz="2400" dirty="0"/>
          </a:p>
          <a:p>
            <a:pPr marL="457200" lvl="1" indent="0">
              <a:buNone/>
            </a:pPr>
            <a:endParaRPr lang="en-US" altLang="zh-TW" sz="2400" dirty="0"/>
          </a:p>
          <a:p>
            <a:pPr marL="457200" lvl="1" indent="0">
              <a:buNone/>
            </a:pPr>
            <a:r>
              <a:rPr lang="en-US" altLang="zh-TW" sz="2400" dirty="0"/>
              <a:t>	</a:t>
            </a:r>
          </a:p>
          <a:p>
            <a:pPr lvl="1"/>
            <a:r>
              <a:rPr lang="en-US" altLang="zh-TW" sz="2400" dirty="0" err="1"/>
              <a:t>L</a:t>
            </a:r>
            <a:r>
              <a:rPr lang="en-US" altLang="zh-TW" sz="2400" baseline="-25000" dirty="0" err="1"/>
              <a:t>con</a:t>
            </a:r>
            <a:r>
              <a:rPr lang="en-US" altLang="zh-TW" sz="2400" dirty="0"/>
              <a:t>: </a:t>
            </a:r>
            <a:r>
              <a:rPr lang="zh-TW" altLang="en-US" sz="2400" dirty="0"/>
              <a:t>使用 </a:t>
            </a:r>
            <a:r>
              <a:rPr lang="en-US" altLang="zh-TW" sz="2400" dirty="0"/>
              <a:t>dot-product similarity</a:t>
            </a:r>
            <a:r>
              <a:rPr lang="zh-TW" altLang="en-US" sz="2400" dirty="0"/>
              <a:t>拉近同標籤樣本的距離。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sz="2400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341214-5CCD-48E5-B5E1-E130F55D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10" y="1196752"/>
            <a:ext cx="4153219" cy="700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A0B6E-51BC-400D-B696-F25034785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545" y="2154778"/>
            <a:ext cx="4505675" cy="916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D64E16-DA3B-4126-BD66-4C578A9E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545" y="3555089"/>
            <a:ext cx="5385785" cy="825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282726-88C7-4014-A1AD-266FB69A4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526" y="4865044"/>
            <a:ext cx="5870947" cy="149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7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E4CA-8B45-498E-9B3C-0CD5989A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Dataset:</a:t>
            </a:r>
            <a:r>
              <a:rPr lang="zh-TW" altLang="en-US" sz="3200" dirty="0"/>
              <a:t> </a:t>
            </a:r>
            <a:r>
              <a:rPr lang="en-CA" altLang="zh-TW" sz="3200" dirty="0"/>
              <a:t>UCI long-term sensor drift dataset</a:t>
            </a:r>
            <a:r>
              <a:rPr lang="zh-TW" altLang="en-US" sz="32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D6E7C-18BE-4AA2-970E-0E252A84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9DFA15-DA68-44DE-9B5B-EF2ACD0B6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00" y="3628330"/>
            <a:ext cx="7956799" cy="2032918"/>
          </a:xfr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3A94744-DCE6-4EAC-B9B1-E141DB080B15}"/>
              </a:ext>
            </a:extLst>
          </p:cNvPr>
          <p:cNvSpPr txBox="1">
            <a:spLocks/>
          </p:cNvSpPr>
          <p:nvPr/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36</a:t>
            </a:r>
            <a:r>
              <a:rPr lang="zh-TW" altLang="en-US" sz="2000" dirty="0"/>
              <a:t>個月採集時間</a:t>
            </a:r>
            <a:endParaRPr lang="en-US" altLang="zh-TW" sz="2000" dirty="0"/>
          </a:p>
          <a:p>
            <a:r>
              <a:rPr lang="en-US" altLang="zh-TW" sz="2000" dirty="0"/>
              <a:t>13910</a:t>
            </a:r>
            <a:r>
              <a:rPr lang="zh-TW" altLang="en-US" sz="2000" dirty="0"/>
              <a:t>個樣本，根據時間切成</a:t>
            </a:r>
            <a:r>
              <a:rPr lang="en-US" altLang="zh-TW" sz="2000" dirty="0"/>
              <a:t>10 batches</a:t>
            </a:r>
          </a:p>
          <a:p>
            <a:r>
              <a:rPr lang="en-US" altLang="zh-TW" sz="2000" dirty="0"/>
              <a:t>Label:</a:t>
            </a:r>
            <a:r>
              <a:rPr lang="zh-TW" altLang="en-US" sz="2000" dirty="0"/>
              <a:t>氨氣 </a:t>
            </a:r>
            <a:r>
              <a:rPr lang="en-US" altLang="zh-TW" sz="2000" dirty="0"/>
              <a:t>ammonia</a:t>
            </a:r>
            <a:r>
              <a:rPr lang="zh-TW" altLang="en-US" sz="2000" dirty="0"/>
              <a:t>、乙醛 </a:t>
            </a:r>
            <a:r>
              <a:rPr lang="en-US" altLang="zh-TW" sz="2000" dirty="0"/>
              <a:t>acetaldehyde</a:t>
            </a:r>
            <a:r>
              <a:rPr lang="zh-TW" altLang="en-US" sz="2000" dirty="0"/>
              <a:t>、丙酮 </a:t>
            </a:r>
            <a:r>
              <a:rPr lang="en-US" altLang="zh-TW" sz="2000" dirty="0"/>
              <a:t>acetone</a:t>
            </a:r>
            <a:r>
              <a:rPr lang="zh-TW" altLang="en-US" sz="2000" dirty="0"/>
              <a:t>、乙烯 </a:t>
            </a:r>
            <a:r>
              <a:rPr lang="en-US" altLang="zh-TW" sz="2000" dirty="0"/>
              <a:t>ethylene</a:t>
            </a:r>
            <a:r>
              <a:rPr lang="zh-TW" altLang="en-US" sz="2000" dirty="0"/>
              <a:t>、乙醇 </a:t>
            </a:r>
            <a:r>
              <a:rPr lang="en-US" altLang="zh-TW" sz="2000" dirty="0"/>
              <a:t>ethanol</a:t>
            </a:r>
            <a:r>
              <a:rPr lang="zh-TW" altLang="en-US" sz="2000" dirty="0"/>
              <a:t>、甲苯 </a:t>
            </a:r>
            <a:r>
              <a:rPr lang="en-US" altLang="zh-TW" sz="2000" dirty="0"/>
              <a:t>toluene</a:t>
            </a:r>
          </a:p>
          <a:p>
            <a:r>
              <a:rPr lang="en-US" altLang="zh-TW" sz="2000" dirty="0"/>
              <a:t>16</a:t>
            </a:r>
            <a:r>
              <a:rPr lang="zh-TW" altLang="en-US" sz="2000" dirty="0"/>
              <a:t>顆 </a:t>
            </a:r>
            <a:r>
              <a:rPr lang="en-US" altLang="zh-TW" sz="2000" dirty="0"/>
              <a:t>MOS</a:t>
            </a:r>
            <a:r>
              <a:rPr lang="zh-TW" altLang="en-US" sz="2000" dirty="0"/>
              <a:t> </a:t>
            </a:r>
            <a:r>
              <a:rPr lang="en-US" altLang="zh-TW" sz="2000" dirty="0"/>
              <a:t>array</a:t>
            </a:r>
          </a:p>
          <a:p>
            <a:r>
              <a:rPr lang="en-US" altLang="zh-TW" sz="2000" dirty="0"/>
              <a:t>8</a:t>
            </a:r>
            <a:r>
              <a:rPr lang="zh-TW" altLang="en-US" sz="2000" dirty="0"/>
              <a:t>種特徵：</a:t>
            </a:r>
            <a:r>
              <a:rPr lang="en-US" altLang="zh-TW" sz="2000" dirty="0" err="1"/>
              <a:t>R</a:t>
            </a:r>
            <a:r>
              <a:rPr lang="en-US" altLang="zh-TW" sz="2000" baseline="-25000" dirty="0" err="1"/>
              <a:t>max</a:t>
            </a:r>
            <a:r>
              <a:rPr lang="zh-TW" altLang="en-US" sz="2000" dirty="0"/>
              <a:t>、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R</a:t>
            </a:r>
            <a:r>
              <a:rPr lang="en-US" altLang="zh-TW" sz="2000" baseline="-25000" dirty="0" err="1"/>
              <a:t>max</a:t>
            </a:r>
            <a:r>
              <a:rPr lang="en-US" altLang="zh-TW" sz="2000" dirty="0"/>
              <a:t> – R</a:t>
            </a:r>
            <a:r>
              <a:rPr lang="en-US" altLang="zh-TW" sz="2000" baseline="-25000" dirty="0"/>
              <a:t>o</a:t>
            </a:r>
            <a:r>
              <a:rPr lang="en-US" altLang="zh-TW" sz="2000" dirty="0"/>
              <a:t>)/R</a:t>
            </a:r>
            <a:r>
              <a:rPr lang="en-US" altLang="zh-TW" sz="2000" baseline="-25000" dirty="0"/>
              <a:t>o</a:t>
            </a:r>
            <a:r>
              <a:rPr lang="zh-TW" altLang="en-US" sz="2000" dirty="0"/>
              <a:t>、三個不同參數的上升與衰減</a:t>
            </a:r>
            <a:r>
              <a:rPr lang="en-US" altLang="zh-TW" sz="2000" dirty="0"/>
              <a:t>EMA	</a:t>
            </a:r>
          </a:p>
        </p:txBody>
      </p:sp>
    </p:spTree>
    <p:extLst>
      <p:ext uri="{BB962C8B-B14F-4D97-AF65-F5344CB8AC3E}">
        <p14:creationId xmlns:p14="http://schemas.microsoft.com/office/powerpoint/2010/main" val="193445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8814-1431-433E-84DD-4812C58F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 </a:t>
            </a:r>
            <a:r>
              <a:rPr lang="en-US" altLang="zh-TW" sz="2700" dirty="0"/>
              <a:t>Performance differences between CDCNN and CDWC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99E36-3E2C-454A-AEF5-24A4BAE6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图片 1" descr="图表&#10;&#10;描述已自动生成">
            <a:extLst>
              <a:ext uri="{FF2B5EF4-FFF2-40B4-BE49-F238E27FC236}">
                <a16:creationId xmlns:a16="http://schemas.microsoft.com/office/drawing/2014/main" id="{74C59661-D5A9-4F49-9561-32045EDB032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"/>
          <a:stretch/>
        </p:blipFill>
        <p:spPr bwMode="auto">
          <a:xfrm>
            <a:off x="582930" y="1111607"/>
            <a:ext cx="6286500" cy="24784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图片 17" descr="图表&#10;&#10;描述已自动生成">
            <a:extLst>
              <a:ext uri="{FF2B5EF4-FFF2-40B4-BE49-F238E27FC236}">
                <a16:creationId xmlns:a16="http://schemas.microsoft.com/office/drawing/2014/main" id="{255EC01B-7AD2-42D7-A479-68016B831F6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1700" y="3772640"/>
            <a:ext cx="6515100" cy="2766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25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1366-542D-49F6-A087-F642879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各式方法比較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44D8F-33ED-438C-B951-43673A9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5FA307-E241-43FF-9236-E481CDDC3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766" y="1254125"/>
            <a:ext cx="5559234" cy="49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1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2178-C8AC-4F2F-A49C-36C89AB0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實驗探討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09714B-F794-4B0E-9D96-E94A0A41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95B45-32FB-480C-980F-702D2E9CF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altLang="zh-TW" dirty="0"/>
              <a:t>Executive Summary:</a:t>
            </a:r>
          </a:p>
          <a:p>
            <a:pPr marL="914400" lvl="1" indent="-514350">
              <a:buAutoNum type="arabicPeriod"/>
            </a:pPr>
            <a:r>
              <a:rPr lang="zh-TW" altLang="en-US" dirty="0"/>
              <a:t>只用</a:t>
            </a:r>
            <a:r>
              <a:rPr lang="en-US" altLang="zh-TW" dirty="0"/>
              <a:t>Batch1</a:t>
            </a:r>
            <a:r>
              <a:rPr lang="zh-TW" altLang="en-US" dirty="0"/>
              <a:t>進行訓練，針對</a:t>
            </a:r>
            <a:r>
              <a:rPr lang="en-US" altLang="zh-TW" dirty="0"/>
              <a:t>CDCNN</a:t>
            </a:r>
            <a:r>
              <a:rPr lang="zh-TW" altLang="en-US" dirty="0"/>
              <a:t>的三個重要元件：</a:t>
            </a:r>
            <a:r>
              <a:rPr lang="en-US" altLang="zh-TW" dirty="0"/>
              <a:t>data augmentation, feature generation, contrastive learning </a:t>
            </a:r>
            <a:r>
              <a:rPr lang="zh-TW" altLang="en-US" dirty="0"/>
              <a:t>進行消融實驗。</a:t>
            </a:r>
            <a:endParaRPr lang="en-US" altLang="zh-TW" dirty="0"/>
          </a:p>
          <a:p>
            <a:pPr marL="914400" lvl="1" indent="-514350">
              <a:buAutoNum type="arabicPeriod"/>
            </a:pPr>
            <a:r>
              <a:rPr lang="zh-TW" altLang="en-US" dirty="0"/>
              <a:t>依據論文設定使用五個</a:t>
            </a:r>
            <a:r>
              <a:rPr lang="en-US" altLang="zh-TW" dirty="0"/>
              <a:t>random seeds</a:t>
            </a:r>
            <a:r>
              <a:rPr lang="zh-TW" altLang="en-US" dirty="0"/>
              <a:t>訓練</a:t>
            </a:r>
            <a:r>
              <a:rPr lang="en-US" altLang="zh-TW" dirty="0"/>
              <a:t>100 epochs</a:t>
            </a:r>
            <a:r>
              <a:rPr lang="zh-TW" altLang="en-US" dirty="0"/>
              <a:t>後，以</a:t>
            </a:r>
            <a:r>
              <a:rPr lang="en-US" altLang="zh-TW" dirty="0"/>
              <a:t>batch2 -9</a:t>
            </a:r>
            <a:r>
              <a:rPr lang="zh-TW" altLang="en-US" dirty="0"/>
              <a:t>作為</a:t>
            </a:r>
            <a:r>
              <a:rPr lang="en-US" altLang="zh-TW" dirty="0"/>
              <a:t>domain target</a:t>
            </a:r>
            <a:r>
              <a:rPr lang="zh-TW" altLang="en-US" dirty="0"/>
              <a:t>得到</a:t>
            </a:r>
            <a:r>
              <a:rPr lang="en-US" altLang="zh-TW" dirty="0"/>
              <a:t> mean accuracy</a:t>
            </a:r>
            <a:r>
              <a:rPr lang="zh-TW" altLang="en-US" dirty="0"/>
              <a:t>以評估抗漂移效益。</a:t>
            </a:r>
            <a:endParaRPr lang="en-US" altLang="zh-TW" dirty="0"/>
          </a:p>
          <a:p>
            <a:pPr marL="914400" lvl="1" indent="-514350">
              <a:buAutoNum type="arabicPeriod"/>
            </a:pPr>
            <a:r>
              <a:rPr lang="en-US" altLang="zh-TW" dirty="0"/>
              <a:t> </a:t>
            </a:r>
            <a:r>
              <a:rPr lang="zh-TW" altLang="en-US" dirty="0"/>
              <a:t>論文表示加入資料增強和特徵生成</a:t>
            </a:r>
            <a:r>
              <a:rPr lang="en-US" altLang="zh-TW" dirty="0"/>
              <a:t>(CDWC)</a:t>
            </a:r>
            <a:r>
              <a:rPr lang="zh-TW" altLang="en-US" dirty="0"/>
              <a:t> </a:t>
            </a:r>
            <a:r>
              <a:rPr lang="en-US" altLang="zh-TW" dirty="0"/>
              <a:t>accuracy</a:t>
            </a:r>
            <a:r>
              <a:rPr lang="zh-TW" altLang="en-US" dirty="0"/>
              <a:t>可提升</a:t>
            </a:r>
            <a:r>
              <a:rPr lang="en-US" altLang="zh-TW" dirty="0"/>
              <a:t>0.03</a:t>
            </a:r>
            <a:r>
              <a:rPr lang="zh-TW" altLang="en-US" dirty="0"/>
              <a:t>左右，但特徵生成後的資料並不能有效涵蓋 </a:t>
            </a:r>
            <a:r>
              <a:rPr lang="en-US" altLang="zh-TW" dirty="0"/>
              <a:t>domain target</a:t>
            </a:r>
            <a:r>
              <a:rPr lang="zh-TW" altLang="en-US" dirty="0"/>
              <a:t>，甚至對表現產生負面影響。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56603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4B23-4183-4A8F-ADDF-38670CAA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400" dirty="0"/>
              <a:t>論文的</a:t>
            </a:r>
            <a:r>
              <a:rPr lang="en-US" altLang="zh-TW" sz="2400" dirty="0"/>
              <a:t>feature generation </a:t>
            </a:r>
            <a:r>
              <a:rPr lang="zh-TW" altLang="en-US" sz="2400" dirty="0"/>
              <a:t>在 </a:t>
            </a:r>
            <a:r>
              <a:rPr lang="en-CA" altLang="zh-TW" sz="2400" dirty="0"/>
              <a:t>source-only</a:t>
            </a:r>
            <a:r>
              <a:rPr lang="zh-TW" altLang="en-US" sz="2400" dirty="0"/>
              <a:t>無法重現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075020-283E-4075-997E-AC7352DE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839A0-231C-4BD4-880A-4E93896B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Picture 8" descr="fig5-feature-generation.png">
            <a:extLst>
              <a:ext uri="{FF2B5EF4-FFF2-40B4-BE49-F238E27FC236}">
                <a16:creationId xmlns:a16="http://schemas.microsoft.com/office/drawing/2014/main" id="{EA16291B-E140-4975-A576-18AEE9CA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74" y="966565"/>
            <a:ext cx="5179452" cy="2988329"/>
          </a:xfrm>
          <a:prstGeom prst="rect">
            <a:avLst/>
          </a:prstGeom>
        </p:spPr>
      </p:pic>
      <p:pic>
        <p:nvPicPr>
          <p:cNvPr id="10" name="Picture 9" descr="feature_generation.png">
            <a:extLst>
              <a:ext uri="{FF2B5EF4-FFF2-40B4-BE49-F238E27FC236}">
                <a16:creationId xmlns:a16="http://schemas.microsoft.com/office/drawing/2014/main" id="{2F518D64-EBD4-47FD-ACE7-C2C7C5540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656" y="3954894"/>
            <a:ext cx="5402687" cy="281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6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8C00-6155-44FE-AD63-E51FE1EC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400" dirty="0"/>
              <a:t>從 </a:t>
            </a:r>
            <a:r>
              <a:rPr lang="en-US" altLang="zh-TW" sz="2400" dirty="0"/>
              <a:t>Batch 1 </a:t>
            </a:r>
            <a:r>
              <a:rPr lang="zh-TW" altLang="en-US" sz="2400" dirty="0"/>
              <a:t>生成的特徵沒有覆蓋任何後續 </a:t>
            </a:r>
            <a:r>
              <a:rPr lang="en-US" altLang="zh-TW" sz="2400" dirty="0"/>
              <a:t>batch</a:t>
            </a:r>
            <a:endParaRPr lang="zh-TW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861BD3-FAEA-46EE-BA18-A021EDD2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5" name="Content Placeholder 4" descr="generation_drift_aligned_2d_b2-7-10.png">
            <a:extLst>
              <a:ext uri="{FF2B5EF4-FFF2-40B4-BE49-F238E27FC236}">
                <a16:creationId xmlns:a16="http://schemas.microsoft.com/office/drawing/2014/main" id="{FE4A640B-165F-441D-A4B4-6732B408E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1207"/>
          <a:stretch/>
        </p:blipFill>
        <p:spPr>
          <a:xfrm>
            <a:off x="0" y="1173930"/>
            <a:ext cx="9208961" cy="1725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C18316-3740-4BED-BE64-EF1BC30197EE}"/>
              </a:ext>
            </a:extLst>
          </p:cNvPr>
          <p:cNvSpPr txBox="1"/>
          <p:nvPr/>
        </p:nvSpPr>
        <p:spPr>
          <a:xfrm>
            <a:off x="489680" y="4675136"/>
            <a:ext cx="822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X</a:t>
            </a:r>
            <a:r>
              <a:rPr lang="zh-TW" altLang="en-US" dirty="0"/>
              <a:t>軸為此氣體在</a:t>
            </a:r>
            <a:r>
              <a:rPr lang="en-US" altLang="zh-TW" dirty="0"/>
              <a:t>source domain</a:t>
            </a:r>
            <a:r>
              <a:rPr lang="zh-TW" altLang="en-US" dirty="0"/>
              <a:t>到 </a:t>
            </a:r>
            <a:r>
              <a:rPr lang="en-US" altLang="zh-TW" dirty="0"/>
              <a:t>batch2,3,4</a:t>
            </a:r>
            <a:r>
              <a:rPr lang="zh-TW" altLang="en-US" dirty="0"/>
              <a:t>的漂移方向</a:t>
            </a:r>
            <a:r>
              <a:rPr lang="en-US" altLang="zh-TW" dirty="0"/>
              <a:t>(</a:t>
            </a:r>
            <a:r>
              <a:rPr lang="zh-TW" altLang="en-US" dirty="0"/>
              <a:t>以資料點質心為向量</a:t>
            </a:r>
            <a:r>
              <a:rPr lang="en-US" altLang="zh-TW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/>
              <a:t>Y</a:t>
            </a:r>
            <a:r>
              <a:rPr lang="zh-TW" altLang="en-US" dirty="0"/>
              <a:t>軸為扣除漂移方向後的第一主成分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若特徵生成有效，橘色點</a:t>
            </a:r>
            <a:r>
              <a:rPr lang="en-US" altLang="zh-TW" dirty="0"/>
              <a:t>(</a:t>
            </a:r>
            <a:r>
              <a:rPr lang="zh-TW" altLang="en-US" dirty="0"/>
              <a:t>生成特徵</a:t>
            </a:r>
            <a:r>
              <a:rPr lang="en-US" altLang="zh-TW" dirty="0"/>
              <a:t>)</a:t>
            </a:r>
            <a:r>
              <a:rPr lang="zh-TW" altLang="en-US" dirty="0"/>
              <a:t>應覆蓋藍色點</a:t>
            </a:r>
            <a:r>
              <a:rPr lang="en-US" altLang="zh-TW" dirty="0"/>
              <a:t>(target domain feature)</a:t>
            </a:r>
            <a:r>
              <a:rPr lang="zh-TW" altLang="en-US" dirty="0"/>
              <a:t>，</a:t>
            </a:r>
            <a:br>
              <a:rPr lang="en-US" altLang="zh-TW" dirty="0"/>
            </a:br>
            <a:r>
              <a:rPr lang="zh-TW" altLang="en-US" dirty="0"/>
              <a:t>但橘色點只跟灰色點</a:t>
            </a:r>
            <a:r>
              <a:rPr lang="en-US" altLang="zh-TW" dirty="0"/>
              <a:t>(source domain</a:t>
            </a:r>
            <a:r>
              <a:rPr lang="zh-TW" altLang="en-US" dirty="0"/>
              <a:t> </a:t>
            </a:r>
            <a:r>
              <a:rPr lang="en-US" altLang="zh-TW" dirty="0"/>
              <a:t>feature)</a:t>
            </a:r>
            <a:r>
              <a:rPr lang="zh-TW" altLang="en-US" dirty="0"/>
              <a:t>重疊，無法覆蓋。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在這樣的情況下，使用</a:t>
            </a:r>
            <a:r>
              <a:rPr lang="en-US" altLang="zh-TW" dirty="0"/>
              <a:t>contrastive loss</a:t>
            </a:r>
            <a:r>
              <a:rPr lang="zh-TW" altLang="en-US" dirty="0"/>
              <a:t>並沒有意義，因為生成特徵本來就與</a:t>
            </a:r>
            <a:r>
              <a:rPr lang="en-US" altLang="zh-TW" dirty="0"/>
              <a:t>source domain feature</a:t>
            </a:r>
            <a:r>
              <a:rPr lang="zh-TW" altLang="en-US" dirty="0"/>
              <a:t>非常相似。</a:t>
            </a:r>
            <a:endParaRPr lang="en-US" altLang="zh-TW" dirty="0"/>
          </a:p>
        </p:txBody>
      </p:sp>
      <p:pic>
        <p:nvPicPr>
          <p:cNvPr id="7" name="Content Placeholder 4" descr="generation_drift_aligned_2d_b2-7-10.png">
            <a:extLst>
              <a:ext uri="{FF2B5EF4-FFF2-40B4-BE49-F238E27FC236}">
                <a16:creationId xmlns:a16="http://schemas.microsoft.com/office/drawing/2014/main" id="{8899289B-7428-4425-802E-B2B4B70696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788"/>
          <a:stretch/>
        </p:blipFill>
        <p:spPr>
          <a:xfrm>
            <a:off x="0" y="3103371"/>
            <a:ext cx="9208961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1C04-DB78-473C-BBA1-44FD4C33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實驗結果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862FE-6925-4165-9457-ADFCFE9F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9C05A4-61D4-4E45-96E0-5E0B88E70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48143"/>
              </p:ext>
            </p:extLst>
          </p:nvPr>
        </p:nvGraphicFramePr>
        <p:xfrm>
          <a:off x="457200" y="1073955"/>
          <a:ext cx="8454980" cy="5489989"/>
        </p:xfrm>
        <a:graphic>
          <a:graphicData uri="http://schemas.openxmlformats.org/drawingml/2006/table">
            <a:tbl>
              <a:tblPr/>
              <a:tblGrid>
                <a:gridCol w="2113745">
                  <a:extLst>
                    <a:ext uri="{9D8B030D-6E8A-4147-A177-3AD203B41FA5}">
                      <a16:colId xmlns:a16="http://schemas.microsoft.com/office/drawing/2014/main" val="2576898485"/>
                    </a:ext>
                  </a:extLst>
                </a:gridCol>
                <a:gridCol w="2113745">
                  <a:extLst>
                    <a:ext uri="{9D8B030D-6E8A-4147-A177-3AD203B41FA5}">
                      <a16:colId xmlns:a16="http://schemas.microsoft.com/office/drawing/2014/main" val="3004682743"/>
                    </a:ext>
                  </a:extLst>
                </a:gridCol>
                <a:gridCol w="2113745">
                  <a:extLst>
                    <a:ext uri="{9D8B030D-6E8A-4147-A177-3AD203B41FA5}">
                      <a16:colId xmlns:a16="http://schemas.microsoft.com/office/drawing/2014/main" val="3788046788"/>
                    </a:ext>
                  </a:extLst>
                </a:gridCol>
                <a:gridCol w="2113745">
                  <a:extLst>
                    <a:ext uri="{9D8B030D-6E8A-4147-A177-3AD203B41FA5}">
                      <a16:colId xmlns:a16="http://schemas.microsoft.com/office/drawing/2014/main" val="210818969"/>
                    </a:ext>
                  </a:extLst>
                </a:gridCol>
              </a:tblGrid>
              <a:tr h="938996">
                <a:tc>
                  <a:txBody>
                    <a:bodyPr/>
                    <a:lstStyle/>
                    <a:p>
                      <a:r>
                        <a:rPr lang="zh-TW" altLang="en-US" sz="2000" dirty="0">
                          <a:effectLst/>
                          <a:latin typeface="Google Sans Text"/>
                        </a:rPr>
                        <a:t>實驗元件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dirty="0">
                          <a:effectLst/>
                          <a:latin typeface="Google Sans Text"/>
                        </a:rPr>
                        <a:t>重現結果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dirty="0">
                          <a:effectLst/>
                          <a:latin typeface="Google Sans Text"/>
                        </a:rPr>
                        <a:t>論文結果</a:t>
                      </a:r>
                      <a:endParaRPr lang="en-CA" sz="20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58163"/>
                  </a:ext>
                </a:extLst>
              </a:tr>
              <a:tr h="938996">
                <a:tc>
                  <a:txBody>
                    <a:bodyPr/>
                    <a:lstStyle/>
                    <a:p>
                      <a:r>
                        <a:rPr lang="en-US" altLang="zh-TW" sz="1400" b="1" dirty="0">
                          <a:effectLst/>
                          <a:latin typeface="Google Sans Text"/>
                        </a:rPr>
                        <a:t>1. </a:t>
                      </a:r>
                      <a:r>
                        <a:rPr lang="zh-TW" altLang="en-US" sz="1400" b="1" dirty="0">
                          <a:effectLst/>
                          <a:latin typeface="Google Sans Text"/>
                        </a:rPr>
                        <a:t>原版資料擴增</a:t>
                      </a:r>
                      <a:endParaRPr lang="zh-TW" altLang="en-US" sz="1400" dirty="0">
                        <a:effectLst/>
                        <a:latin typeface="Google Sans Text"/>
                      </a:endParaRPr>
                    </a:p>
                    <a:p>
                      <a:br>
                        <a:rPr lang="zh-TW" altLang="en-US" sz="1400" dirty="0">
                          <a:effectLst/>
                          <a:latin typeface="Google Sans Text"/>
                        </a:rPr>
                      </a:br>
                      <a:r>
                        <a:rPr lang="en-US" altLang="zh-TW" sz="1400" i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 i="1" dirty="0">
                          <a:effectLst/>
                          <a:latin typeface="Google Sans Text"/>
                        </a:rPr>
                        <a:t>等向高斯噪聲</a:t>
                      </a:r>
                      <a:r>
                        <a:rPr lang="en-US" altLang="zh-TW" sz="1400" i="1" dirty="0">
                          <a:effectLst/>
                          <a:latin typeface="Google Sans Text"/>
                        </a:rPr>
                        <a:t>, Eq. 7)</a:t>
                      </a:r>
                      <a:endParaRPr lang="zh-TW" altLang="en-US" sz="14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>
                          <a:effectLst/>
                          <a:latin typeface="Google Sans Text"/>
                        </a:rPr>
                        <a:t>−</a:t>
                      </a:r>
                      <a:r>
                        <a:rPr lang="en-US" altLang="zh-TW" sz="1600" b="1">
                          <a:effectLst/>
                          <a:latin typeface="Google Sans Text"/>
                        </a:rPr>
                        <a:t>0.0216</a:t>
                      </a:r>
                      <a:endParaRPr lang="zh-TW" altLang="en-US" sz="160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 err="1">
                          <a:effectLst/>
                          <a:latin typeface="Google Sans Text"/>
                        </a:rPr>
                        <a:t>ResNet</a:t>
                      </a:r>
                      <a:r>
                        <a:rPr lang="en-CA" sz="1600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zh-TW" sz="1600" dirty="0">
                          <a:effectLst/>
                          <a:latin typeface="Google Sans Text"/>
                        </a:rPr>
                        <a:t>-&gt;</a:t>
                      </a:r>
                      <a:r>
                        <a:rPr lang="zh-TW" altLang="en-US" sz="1600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CA" sz="1600" dirty="0">
                          <a:effectLst/>
                          <a:latin typeface="Google Sans Text"/>
                        </a:rPr>
                        <a:t>CDWC</a:t>
                      </a:r>
                    </a:p>
                    <a:p>
                      <a:br>
                        <a:rPr lang="en-CA" sz="1600" dirty="0">
                          <a:effectLst/>
                          <a:latin typeface="Google Sans Text"/>
                        </a:rPr>
                      </a:br>
                      <a:r>
                        <a:rPr lang="en-CA" sz="1600" b="1" dirty="0">
                          <a:effectLst/>
                          <a:latin typeface="Google Sans Text"/>
                        </a:rPr>
                        <a:t>+0.036</a:t>
                      </a:r>
                      <a:endParaRPr lang="en-CA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  <a:latin typeface="Google Sans Text"/>
                        </a:rPr>
                        <a:t>無方向的等向噪聲無法模擬漂移，反而干擾特徵分佈，導致效能下降。 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8608"/>
                  </a:ext>
                </a:extLst>
              </a:tr>
              <a:tr h="938996">
                <a:tc>
                  <a:txBody>
                    <a:bodyPr/>
                    <a:lstStyle/>
                    <a:p>
                      <a:r>
                        <a:rPr lang="en-US" altLang="zh-TW" sz="1400" b="1" dirty="0">
                          <a:effectLst/>
                          <a:latin typeface="Google Sans Text"/>
                        </a:rPr>
                        <a:t>2. </a:t>
                      </a:r>
                      <a:r>
                        <a:rPr lang="zh-TW" altLang="en-US" sz="1400" b="1" dirty="0">
                          <a:effectLst/>
                          <a:latin typeface="Google Sans Text"/>
                        </a:rPr>
                        <a:t>定向資料擴增</a:t>
                      </a:r>
                      <a:endParaRPr lang="zh-TW" altLang="en-US" sz="1400" dirty="0">
                        <a:effectLst/>
                        <a:latin typeface="Google Sans Text"/>
                      </a:endParaRPr>
                    </a:p>
                    <a:p>
                      <a:br>
                        <a:rPr lang="zh-TW" altLang="en-US" sz="1400" dirty="0">
                          <a:effectLst/>
                          <a:latin typeface="Google Sans Text"/>
                        </a:rPr>
                      </a:br>
                      <a:r>
                        <a:rPr lang="en-US" altLang="zh-TW" sz="1400" i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 i="1" dirty="0">
                          <a:effectLst/>
                          <a:latin typeface="Google Sans Text"/>
                        </a:rPr>
                        <a:t>噪聲沿真實漂移方向</a:t>
                      </a:r>
                      <a:r>
                        <a:rPr lang="en-US" altLang="zh-TW" sz="1400" i="1" dirty="0">
                          <a:effectLst/>
                          <a:latin typeface="Google Sans Text"/>
                        </a:rPr>
                        <a:t>)</a:t>
                      </a:r>
                      <a:endParaRPr lang="zh-TW" altLang="en-US" sz="14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dirty="0">
                          <a:effectLst/>
                          <a:latin typeface="Google Sans Text"/>
                        </a:rPr>
                        <a:t>+0.0214</a:t>
                      </a:r>
                      <a:r>
                        <a:rPr lang="en-CA" sz="1600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CA" sz="1600" i="1" dirty="0">
                          <a:effectLst/>
                          <a:latin typeface="Google Sans Text"/>
                        </a:rPr>
                        <a:t>(Target-informed)</a:t>
                      </a:r>
                      <a:endParaRPr lang="en-CA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  <a:latin typeface="Google Sans Text"/>
                        </a:rPr>
                        <a:t>若引入從後續批次估算出的「真實漂移方向」（作動態上界），可帶來正向增益。 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879136"/>
                  </a:ext>
                </a:extLst>
              </a:tr>
              <a:tr h="938996">
                <a:tc>
                  <a:txBody>
                    <a:bodyPr/>
                    <a:lstStyle/>
                    <a:p>
                      <a:r>
                        <a:rPr lang="en-US" altLang="zh-TW" sz="1400" b="1" dirty="0">
                          <a:effectLst/>
                          <a:latin typeface="Google Sans Text"/>
                        </a:rPr>
                        <a:t>3. </a:t>
                      </a:r>
                      <a:r>
                        <a:rPr lang="zh-TW" altLang="en-US" sz="1400" b="1" dirty="0">
                          <a:effectLst/>
                          <a:latin typeface="Google Sans Text"/>
                        </a:rPr>
                        <a:t>特徵生成模組</a:t>
                      </a:r>
                      <a:endParaRPr lang="zh-TW" altLang="en-US" sz="14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1" dirty="0">
                          <a:effectLst/>
                          <a:latin typeface="Google Sans Text"/>
                        </a:rPr>
                        <a:t>+0.0023</a:t>
                      </a:r>
                      <a:endParaRPr lang="zh-TW" altLang="en-US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zh-TW" sz="1600" i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600" i="1" dirty="0">
                          <a:effectLst/>
                          <a:latin typeface="Google Sans Text"/>
                        </a:rPr>
                        <a:t>含在上述綜合增益中</a:t>
                      </a:r>
                      <a:r>
                        <a:rPr lang="en-US" altLang="zh-TW" sz="1600" i="1" dirty="0">
                          <a:effectLst/>
                          <a:latin typeface="Google Sans Text"/>
                        </a:rPr>
                        <a:t>)</a:t>
                      </a:r>
                      <a:endParaRPr lang="zh-TW" altLang="en-US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  <a:latin typeface="Google Sans Text"/>
                        </a:rPr>
                        <a:t>由於原版公式缺乏定向性（對稱高斯），人工生成的特徵無法涵蓋目標域，增益趨近於零。 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175686"/>
                  </a:ext>
                </a:extLst>
              </a:tr>
              <a:tr h="769977">
                <a:tc>
                  <a:txBody>
                    <a:bodyPr/>
                    <a:lstStyle/>
                    <a:p>
                      <a:r>
                        <a:rPr lang="en-US" altLang="zh-TW" sz="1400" b="1" dirty="0">
                          <a:effectLst/>
                          <a:latin typeface="Google Sans Text"/>
                        </a:rPr>
                        <a:t>4. </a:t>
                      </a:r>
                      <a:r>
                        <a:rPr lang="zh-TW" altLang="en-US" sz="1400" b="1" dirty="0">
                          <a:effectLst/>
                          <a:latin typeface="Google Sans Text"/>
                        </a:rPr>
                        <a:t>資料擴增 </a:t>
                      </a:r>
                      <a:r>
                        <a:rPr lang="en-US" altLang="zh-TW" sz="1400" b="1" dirty="0">
                          <a:effectLst/>
                          <a:latin typeface="Google Sans Text"/>
                        </a:rPr>
                        <a:t>+ </a:t>
                      </a:r>
                      <a:r>
                        <a:rPr lang="zh-TW" altLang="en-US" sz="1400" b="1" dirty="0">
                          <a:effectLst/>
                          <a:latin typeface="Google Sans Text"/>
                        </a:rPr>
                        <a:t>特徵生成</a:t>
                      </a:r>
                      <a:endParaRPr lang="zh-TW" altLang="en-US" sz="14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1" dirty="0">
                          <a:effectLst/>
                          <a:latin typeface="Google Sans Text"/>
                        </a:rPr>
                        <a:t>+0.0050</a:t>
                      </a:r>
                      <a:endParaRPr lang="zh-TW" altLang="en-US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  <a:latin typeface="Google Sans Text"/>
                        </a:rPr>
                        <a:t>兩者疊加後在嚴格 </a:t>
                      </a:r>
                      <a:r>
                        <a:rPr lang="en-CA" sz="1400">
                          <a:effectLst/>
                          <a:latin typeface="Google Sans Text"/>
                        </a:rPr>
                        <a:t>source-only </a:t>
                      </a:r>
                      <a:r>
                        <a:rPr lang="zh-TW" altLang="en-US" sz="1400">
                          <a:effectLst/>
                          <a:latin typeface="Google Sans Text"/>
                        </a:rPr>
                        <a:t>下並未產生協同效應（</a:t>
                      </a:r>
                      <a:r>
                        <a:rPr lang="en-CA" sz="1400">
                          <a:effectLst/>
                          <a:latin typeface="Google Sans Text"/>
                        </a:rPr>
                        <a:t>Synergy）。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610799"/>
                  </a:ext>
                </a:extLst>
              </a:tr>
              <a:tr h="938996">
                <a:tc>
                  <a:txBody>
                    <a:bodyPr/>
                    <a:lstStyle/>
                    <a:p>
                      <a:r>
                        <a:rPr lang="en-US" altLang="zh-TW" sz="1400" b="1" dirty="0">
                          <a:effectLst/>
                          <a:latin typeface="Google Sans Text"/>
                        </a:rPr>
                        <a:t>5. Contrastive Loss</a:t>
                      </a:r>
                      <a:endParaRPr lang="en-CA" sz="14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Google Sans Text"/>
                        </a:rPr>
                        <a:t>—</a:t>
                      </a:r>
                    </a:p>
                    <a:p>
                      <a:endParaRPr lang="zh-TW" altLang="en-US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effectLst/>
                          <a:latin typeface="Google Sans Text"/>
                        </a:rPr>
                        <a:t>CDWC </a:t>
                      </a:r>
                      <a:r>
                        <a:rPr lang="en-US" altLang="zh-TW" sz="1600" dirty="0">
                          <a:effectLst/>
                          <a:latin typeface="Google Sans Text"/>
                        </a:rPr>
                        <a:t>-&gt;</a:t>
                      </a:r>
                      <a:r>
                        <a:rPr lang="zh-TW" altLang="en-US" sz="1600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CA" sz="1600" dirty="0">
                          <a:effectLst/>
                          <a:latin typeface="Google Sans Text"/>
                        </a:rPr>
                        <a:t>CDCNN</a:t>
                      </a:r>
                    </a:p>
                    <a:p>
                      <a:br>
                        <a:rPr lang="en-CA" sz="1600" dirty="0">
                          <a:effectLst/>
                          <a:latin typeface="Google Sans Text"/>
                        </a:rPr>
                      </a:br>
                      <a:r>
                        <a:rPr lang="en-CA" sz="1600" b="1" dirty="0">
                          <a:effectLst/>
                          <a:latin typeface="Google Sans Text"/>
                        </a:rPr>
                        <a:t>+0.053</a:t>
                      </a:r>
                      <a:endParaRPr lang="en-CA" sz="1600" dirty="0">
                        <a:effectLst/>
                        <a:latin typeface="Google Sans Text"/>
                      </a:endParaRP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ffectLst/>
                          <a:latin typeface="Google Sans Text"/>
                        </a:rPr>
                        <a:t>因前置生成特徵未離開 </a:t>
                      </a:r>
                      <a:r>
                        <a:rPr lang="en-US" altLang="zh-TW" sz="1400" dirty="0">
                          <a:effectLst/>
                          <a:latin typeface="Google Sans Text"/>
                        </a:rPr>
                        <a:t>Source </a:t>
                      </a:r>
                      <a:r>
                        <a:rPr lang="zh-TW" altLang="en-US" sz="1400" dirty="0">
                          <a:effectLst/>
                          <a:latin typeface="Google Sans Text"/>
                        </a:rPr>
                        <a:t>空間，強加不變性約束的前提已被否證，故未執行。 </a:t>
                      </a:r>
                    </a:p>
                  </a:txBody>
                  <a:tcPr marL="70425" marR="70425" marT="46950" marB="4695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729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11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AC21-72DB-4B58-B184-10EE8D73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/>
              <a:t>結論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CB70C-B34F-4154-A986-4C14AF70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50A0-E7D3-4082-9763-8E866FCC88F7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4CD51-7521-4B7C-90C3-1067D8DC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/>
              <a:t>消融實驗的結果表示，單純做</a:t>
            </a:r>
            <a:r>
              <a:rPr lang="en-US" altLang="zh-TW" sz="2000" dirty="0"/>
              <a:t>data augmentation</a:t>
            </a:r>
            <a:r>
              <a:rPr lang="zh-TW" altLang="en-US" sz="2000" dirty="0"/>
              <a:t>加上</a:t>
            </a:r>
            <a:r>
              <a:rPr lang="en-US" altLang="zh-TW" sz="2000" dirty="0"/>
              <a:t>feature generate</a:t>
            </a:r>
            <a:r>
              <a:rPr lang="zh-TW" altLang="en-US" sz="2000" dirty="0"/>
              <a:t>並不能有效提高模型的精確度，主要還是靠</a:t>
            </a:r>
            <a:r>
              <a:rPr lang="en-US" altLang="zh-TW" sz="2000" dirty="0"/>
              <a:t>contrastive learning</a:t>
            </a:r>
            <a:r>
              <a:rPr lang="zh-TW" altLang="en-US" sz="2000" dirty="0"/>
              <a:t>保持群內點密集。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zh-TW" altLang="en-US" sz="2000" dirty="0"/>
              <a:t>不依靠 </a:t>
            </a:r>
            <a:r>
              <a:rPr lang="en-US" altLang="zh-TW" sz="2000" dirty="0"/>
              <a:t>target domain leakage</a:t>
            </a:r>
            <a:r>
              <a:rPr lang="zh-TW" altLang="en-US" sz="2000" dirty="0"/>
              <a:t>的模型是現實中比較需要的種類，但需要有良好的設計和檢驗方法。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UCI</a:t>
            </a:r>
            <a:r>
              <a:rPr lang="zh-TW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TW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Gas drift dataset </a:t>
            </a:r>
            <a:r>
              <a:rPr lang="zh-TW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中的 </a:t>
            </a:r>
            <a:r>
              <a:rPr lang="en-US" altLang="zh-TW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Acetaldehyde</a:t>
            </a:r>
            <a:r>
              <a:rPr lang="zh-TW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在 </a:t>
            </a:r>
            <a:r>
              <a:rPr lang="en-US" altLang="zh-TW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batch1 </a:t>
            </a:r>
            <a:r>
              <a:rPr lang="zh-TW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就非常容易誤判成 </a:t>
            </a:r>
            <a:r>
              <a:rPr lang="en-US" altLang="zh-TW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Ethanol</a:t>
            </a:r>
            <a:r>
              <a:rPr lang="zh-TW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，應該要特別處理</a:t>
            </a:r>
            <a:r>
              <a:rPr lang="zh-TW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94191139"/>
      </p:ext>
    </p:extLst>
  </p:cSld>
  <p:clrMapOvr>
    <a:masterClrMapping/>
  </p:clrMapOvr>
</p:sld>
</file>

<file path=ppt/theme/theme1.xml><?xml version="1.0" encoding="utf-8"?>
<a:theme xmlns:a="http://schemas.openxmlformats.org/drawingml/2006/main" name="NB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8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ME" id="{AA7E6EA0-1D5F-409F-956C-E3D4A11D80D7}" vid="{AE300734-491F-41D7-B009-1A9C00DED9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NBME</Template>
  <TotalTime>71814</TotalTime>
  <Words>1080</Words>
  <Application>Microsoft Office PowerPoint</Application>
  <PresentationFormat>On-screen Show (4:3)</PresentationFormat>
  <Paragraphs>115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Google Sans Text</vt:lpstr>
      <vt:lpstr>標楷體</vt:lpstr>
      <vt:lpstr>Arial</vt:lpstr>
      <vt:lpstr>Calibri</vt:lpstr>
      <vt:lpstr>Cambria</vt:lpstr>
      <vt:lpstr>Times New Roman</vt:lpstr>
      <vt:lpstr>NBME</vt:lpstr>
      <vt:lpstr>Contrastive domain generalization convolution neural network correcting the drift of gas sensors  Sensors and Actuators A: Physical, 2024 Jifeng Chu , Renhong Yao , Xianbo Huang </vt:lpstr>
      <vt:lpstr>目錄</vt:lpstr>
      <vt:lpstr>問題與既有方法</vt:lpstr>
      <vt:lpstr>Domain generalization and Contrastive learning</vt:lpstr>
      <vt:lpstr>Methodology: CDCNN Contrastive domain generalization convolution neural network</vt:lpstr>
      <vt:lpstr>Data augmentation</vt:lpstr>
      <vt:lpstr>Feature Generation</vt:lpstr>
      <vt:lpstr>Loss Function</vt:lpstr>
      <vt:lpstr>Dataset: UCI long-term sensor drift dataset </vt:lpstr>
      <vt:lpstr> Performance differences between CDCNN and CDWC</vt:lpstr>
      <vt:lpstr>各式方法比較</vt:lpstr>
      <vt:lpstr>實驗探討</vt:lpstr>
      <vt:lpstr>論文的feature generation 在 source-only無法重現</vt:lpstr>
      <vt:lpstr>從 Batch 1 生成的特徵沒有覆蓋任何後續 batch</vt:lpstr>
      <vt:lpstr>實驗結果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邦均 劉</dc:creator>
  <cp:lastModifiedBy>Yvonne Chen</cp:lastModifiedBy>
  <cp:revision>2148</cp:revision>
  <cp:lastPrinted>2026-09-29T05:22:58Z</cp:lastPrinted>
  <dcterms:created xsi:type="dcterms:W3CDTF">2022-06-23T07:26:37Z</dcterms:created>
  <dcterms:modified xsi:type="dcterms:W3CDTF">2026-09-29T07:09:19Z</dcterms:modified>
</cp:coreProperties>
</file>