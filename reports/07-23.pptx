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8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4BEF-D147-4C28-8CC4-D9367AD0E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07F02-7E37-4971-B6FC-763BE16A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4A293-CE9A-4E0C-975E-628911AE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CBD8E-3AEE-409C-9953-38F05F24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1C039-B858-4654-85D0-2CB8ADB9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49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FDD7-1013-4A91-AAEA-7297749D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6D7E8-FCBA-4BC1-BB1E-DBD1DB48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9190-8F49-4FD0-BB11-192663D5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F77EC-4CE1-4766-8C17-0B171FD5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F9F1-3F20-4A1E-A3F0-EE5E63D0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742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FDCC-8A13-46F2-9115-384C31F1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E0038-A6D0-426B-AA05-B8B08C9AC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4404A-021C-4B35-9B84-CFC3653A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CB101-804C-4C69-9A85-6A915D41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F330E-41A1-4E71-8061-8B9609C7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03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7B42-9C38-4539-81F3-32056355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87D6-E5A1-40C8-B0A4-09307D263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C2C9F-D942-4519-B6F3-21A1E7E2F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6ADAB-79DB-426D-8E2F-B75A7B62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ED429-66F7-45DF-ABC5-5CD1DF107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4A087-B3E6-4E99-84C2-21A080D1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25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D424-48B3-4474-B69D-71243FAFB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FDCC5-B05B-4FEB-A1C4-FEAA989CB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DEDDB-0F97-4665-B39B-1BD37697F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5F6BE-BA45-4917-BEE0-D7D45E3E8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06A5A4-7C2A-4B8D-858B-4BA6810AA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62795-C09F-4127-B6CF-B558F01D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0ACD9-B5A8-46E2-A113-1C31B400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5001F-EE14-440F-8193-197F00EE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09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3414-4B20-4B3A-A9B3-1F0E047B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4FFD1-8965-42B7-B420-219376DB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4D1CE-E9DF-4CDE-A971-4EBEF068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3870A-6937-43C7-BB01-F6FD699E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88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E1687-DB26-4CF9-814A-3769712C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A62AD-C8F2-47D5-A338-12C43140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BA26C-46CB-41D9-818A-B52E7E9C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495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6E1E-1802-49D9-BEFF-B59D7A368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4680-BAF0-4B4E-ADC6-073E5F20A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6236B-0E08-4030-91BB-A1D5B4FB3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FC834-66AB-4D7D-97F9-A1A993FA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E74E7-5250-416A-BF7C-5A1E1927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2FC88-286C-460B-B8DE-614DAB00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123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DD32-800E-4575-A59E-C74AA49D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5F5B-6972-45AF-AA0A-62ADE9614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9EF99-D9E1-4C50-AB3B-F4F3C06C3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34873-C474-4B7D-916B-747158D9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AF6C3-0A14-4C48-A9A7-922839C7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931FB-418E-4017-BA65-60A14511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43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A3C8-DA38-4FF5-B01D-4B52AE73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9C77D-D9C5-4A66-83E3-3F124CC22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C249B-69AC-4FAA-B23E-D34E49BC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843F5-55D2-4D1D-82E9-5BF47953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46E5F-61F4-44EA-B3CC-4A90647F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41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72741-2D76-488E-A9FA-538C2CDC1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2E66A-BC0B-4BA6-9E61-560CBB612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E283-1A13-4929-8289-ED4E78D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F0AE6-8AE0-4E31-8F55-6128B563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4AC28-FE00-4C1D-BB57-038DD0F3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57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A70CD6-900A-44CC-96D6-CA0F954A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E7E68-F974-451A-BBFA-227C45DC9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2459C-6C02-4EB8-B2D7-9B4DAEE5A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AE86F-CCB5-4867-95EB-99302FAC5D77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795E6-74AA-4B9A-BA1B-6D111D459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75AB-1B8F-440F-8CD5-78E19B701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4B5C4-48FF-4E0F-918B-045691B246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65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1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1177-D61B-47F0-AFF7-B4B59D379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zh-TW" dirty="0"/>
              <a:t>Feature Screening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3C4D3-229A-4B8D-8188-3443407FD3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39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9283-759C-493B-A85A-1733CA2A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Based Feature Screening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18085-3012-4922-AA45-3BFDCB372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sz="1800" b="1" dirty="0">
                <a:solidFill>
                  <a:srgbClr val="FF0000"/>
                </a:solidFill>
              </a:rPr>
              <a:t>R</a:t>
            </a:r>
            <a:r>
              <a:rPr lang="en-US" altLang="zh-TW" sz="1800" b="1" baseline="-25000" dirty="0">
                <a:solidFill>
                  <a:srgbClr val="FF0000"/>
                </a:solidFill>
              </a:rPr>
              <a:t>0​ </a:t>
            </a:r>
            <a:r>
              <a:rPr lang="en-US" altLang="zh-TW" sz="1800" b="1" dirty="0"/>
              <a:t>was removed due to temporal baseline drift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Strongly affected by sensor aging and measurement-day variation.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May cause the model to learn day-dependent patterns instead of VOC characteristics.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Retained only for calculating normalized features.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b="1" dirty="0" err="1">
                <a:solidFill>
                  <a:srgbClr val="FF0000"/>
                </a:solidFill>
              </a:rPr>
              <a:t>R</a:t>
            </a:r>
            <a:r>
              <a:rPr lang="en-US" altLang="zh-TW" sz="1800" b="1" baseline="-25000" dirty="0" err="1">
                <a:solidFill>
                  <a:srgbClr val="FF0000"/>
                </a:solidFill>
              </a:rPr>
              <a:t>max</a:t>
            </a:r>
            <a:r>
              <a:rPr lang="en-US" altLang="zh-TW" sz="1800" b="1" dirty="0"/>
              <a:t>⁡​ was removed due to redundancy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Highly correlated with </a:t>
            </a:r>
            <a:r>
              <a:rPr lang="en-US" altLang="zh-TW" sz="1800" dirty="0" err="1"/>
              <a:t>R</a:t>
            </a:r>
            <a:r>
              <a:rPr lang="en-US" altLang="zh-TW" sz="1800" baseline="-25000" dirty="0" err="1"/>
              <a:t>plateau</a:t>
            </a:r>
            <a:r>
              <a:rPr lang="en-US" altLang="zh-TW" sz="1800" dirty="0"/>
              <a:t>​.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More sensitive to transient noise and signal spikes.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 err="1"/>
              <a:t>R</a:t>
            </a:r>
            <a:r>
              <a:rPr lang="en-US" altLang="zh-TW" sz="1800" baseline="-25000" dirty="0" err="1"/>
              <a:t>plateau</a:t>
            </a:r>
            <a:r>
              <a:rPr lang="en-US" altLang="zh-TW" sz="1800" dirty="0"/>
              <a:t>​ was retained as a more stable steady-state feature.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b="1" dirty="0"/>
              <a:t>Screening outcome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PC1: </a:t>
            </a:r>
            <a:r>
              <a:rPr lang="en-US" altLang="zh-TW" sz="1800" b="1" dirty="0"/>
              <a:t>48.6% → 59.9%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PC1 + PC2: </a:t>
            </a:r>
            <a:r>
              <a:rPr lang="en-US" altLang="zh-TW" sz="1800" b="1" dirty="0"/>
              <a:t>72.9% → 81.2%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Reduced unstable and redundant information in the feature set. </a:t>
            </a:r>
          </a:p>
          <a:p>
            <a:pPr marL="0" indent="0">
              <a:buNone/>
            </a:pP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3965984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6921-AC97-49BF-8023-0C1AF06A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Feature Extraction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D142-EDEF-47D6-9FD9-442AAB36A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1800" dirty="0"/>
              <a:t>62 sensors</a:t>
            </a:r>
          </a:p>
          <a:p>
            <a:pPr>
              <a:lnSpc>
                <a:spcPct val="150000"/>
              </a:lnSpc>
            </a:pPr>
            <a:r>
              <a:rPr lang="en-US" altLang="zh-TW" sz="1800" dirty="0"/>
              <a:t>Each sensor provides 5 features: (</a:t>
            </a:r>
            <a:r>
              <a:rPr lang="en-US" altLang="zh-TW" sz="1800" dirty="0" err="1"/>
              <a:t>R</a:t>
            </a:r>
            <a:r>
              <a:rPr lang="en-US" altLang="zh-TW" sz="1800" baseline="-25000" dirty="0" err="1"/>
              <a:t>max</a:t>
            </a:r>
            <a:r>
              <a:rPr lang="en-US" altLang="zh-TW" sz="1800" dirty="0"/>
              <a:t>- R</a:t>
            </a:r>
            <a:r>
              <a:rPr lang="en-US" altLang="zh-TW" sz="1800" baseline="-25000" dirty="0"/>
              <a:t>0</a:t>
            </a:r>
            <a:r>
              <a:rPr lang="en-US" altLang="zh-TW" sz="1800" dirty="0"/>
              <a:t>)/ R</a:t>
            </a:r>
            <a:r>
              <a:rPr lang="en-US" altLang="zh-TW" sz="1800" baseline="-25000" dirty="0"/>
              <a:t>0 ,</a:t>
            </a:r>
            <a:r>
              <a:rPr lang="en-US" altLang="zh-TW" sz="1800" dirty="0"/>
              <a:t> </a:t>
            </a:r>
            <a:r>
              <a:rPr lang="en-US" altLang="zh-TW" sz="1800" dirty="0" err="1"/>
              <a:t>R</a:t>
            </a:r>
            <a:r>
              <a:rPr lang="en-US" altLang="zh-TW" sz="1800" baseline="-25000" dirty="0" err="1"/>
              <a:t>plateau</a:t>
            </a:r>
            <a:r>
              <a:rPr lang="en-US" altLang="zh-TW" sz="1800" baseline="-25000" dirty="0"/>
              <a:t> ,</a:t>
            </a:r>
            <a:r>
              <a:rPr lang="en-US" altLang="zh-TW" sz="1800" dirty="0"/>
              <a:t>AUC, </a:t>
            </a:r>
            <a:r>
              <a:rPr lang="en-US" altLang="zh-TW" sz="1800" dirty="0" err="1"/>
              <a:t>max+min</a:t>
            </a:r>
            <a:r>
              <a:rPr lang="en-US" altLang="zh-TW" sz="1800" dirty="0"/>
              <a:t> slope</a:t>
            </a:r>
          </a:p>
          <a:p>
            <a:pPr>
              <a:lnSpc>
                <a:spcPct val="150000"/>
              </a:lnSpc>
            </a:pPr>
            <a:r>
              <a:rPr lang="en-US" altLang="zh-TW" sz="1800" dirty="0"/>
              <a:t> 62*5 features for each gas</a:t>
            </a:r>
          </a:p>
          <a:p>
            <a:pPr>
              <a:lnSpc>
                <a:spcPct val="150000"/>
              </a:lnSpc>
            </a:pPr>
            <a:r>
              <a:rPr lang="en-US" altLang="zh-TW" sz="1800" dirty="0"/>
              <a:t>Dataset: </a:t>
            </a:r>
            <a:r>
              <a:rPr lang="en-US" altLang="zh-TW" sz="1800" dirty="0" err="1"/>
              <a:t>zenodo_long_term_drift</a:t>
            </a:r>
            <a:endParaRPr lang="en-US" altLang="zh-TW" sz="1800" dirty="0"/>
          </a:p>
          <a:p>
            <a:pPr lvl="1">
              <a:lnSpc>
                <a:spcPct val="150000"/>
              </a:lnSpc>
            </a:pPr>
            <a:r>
              <a:rPr lang="en-US" altLang="zh-TW" sz="1800" dirty="0"/>
              <a:t>62 sensors</a:t>
            </a:r>
          </a:p>
          <a:p>
            <a:pPr lvl="1">
              <a:lnSpc>
                <a:spcPct val="150000"/>
              </a:lnSpc>
            </a:pPr>
            <a:r>
              <a:rPr lang="en-US" altLang="zh-TW" sz="1800" dirty="0"/>
              <a:t>700 time-series * 12 months</a:t>
            </a:r>
          </a:p>
          <a:p>
            <a:pPr lvl="1">
              <a:lnSpc>
                <a:spcPct val="150000"/>
              </a:lnSpc>
            </a:pPr>
            <a:r>
              <a:rPr lang="en-US" altLang="zh-TW" sz="1800" dirty="0"/>
              <a:t>Diacetyl(</a:t>
            </a:r>
            <a:r>
              <a:rPr lang="en-US" altLang="zh-TW" sz="1800" dirty="0">
                <a:solidFill>
                  <a:srgbClr val="FF0000"/>
                </a:solidFill>
              </a:rPr>
              <a:t>0.1ppm</a:t>
            </a:r>
            <a:r>
              <a:rPr lang="en-US" altLang="zh-TW" sz="1800" dirty="0"/>
              <a:t>,1ppm), </a:t>
            </a:r>
            <a:r>
              <a:rPr lang="en-US" altLang="zh-TW" sz="1800" dirty="0" err="1"/>
              <a:t>phenylethanol</a:t>
            </a:r>
            <a:r>
              <a:rPr lang="en-US" altLang="zh-TW" sz="1800" dirty="0"/>
              <a:t>(</a:t>
            </a:r>
            <a:r>
              <a:rPr lang="en-US" altLang="zh-TW" sz="1800" dirty="0">
                <a:solidFill>
                  <a:srgbClr val="FF0000"/>
                </a:solidFill>
              </a:rPr>
              <a:t>200ppm</a:t>
            </a:r>
            <a:r>
              <a:rPr lang="en-US" altLang="zh-TW" sz="1800" dirty="0"/>
              <a:t>,1000ppm), ethanol(2 unknown concentration)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380131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4E22F-F75B-497A-9A86-C1B78EBE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PCA</a:t>
            </a:r>
            <a:r>
              <a:rPr lang="zh-TW" altLang="en-US" dirty="0"/>
              <a:t> </a:t>
            </a:r>
            <a:r>
              <a:rPr lang="en-US" altLang="zh-TW" dirty="0"/>
              <a:t>Day1-3 result comparison</a:t>
            </a:r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29C73-1A05-4405-9E09-6FCEF46017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0"/>
          <a:stretch/>
        </p:blipFill>
        <p:spPr>
          <a:xfrm>
            <a:off x="6350258" y="1690688"/>
            <a:ext cx="5297790" cy="3946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E052F-D177-4A81-B7D0-42B5326D9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301" y="1609222"/>
            <a:ext cx="5034699" cy="4027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208172-1991-4DA9-97F0-E9D2BE6EFAE7}"/>
              </a:ext>
            </a:extLst>
          </p:cNvPr>
          <p:cNvSpPr txBox="1"/>
          <p:nvPr/>
        </p:nvSpPr>
        <p:spPr>
          <a:xfrm>
            <a:off x="2159916" y="5636981"/>
            <a:ext cx="283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All feature</a:t>
            </a:r>
            <a:endParaRPr lang="zh-TW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EFA5E-F7D9-4E4E-ADC7-C525E65558D2}"/>
              </a:ext>
            </a:extLst>
          </p:cNvPr>
          <p:cNvSpPr txBox="1"/>
          <p:nvPr/>
        </p:nvSpPr>
        <p:spPr>
          <a:xfrm>
            <a:off x="7580419" y="5636981"/>
            <a:ext cx="283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Removed Ro, </a:t>
            </a:r>
            <a:r>
              <a:rPr lang="en-US" altLang="zh-TW" dirty="0" err="1"/>
              <a:t>Rmax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42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33A6-AD5F-4352-8846-CCE713F8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PCA</a:t>
            </a:r>
            <a:r>
              <a:rPr lang="zh-TW" altLang="en-US" dirty="0"/>
              <a:t> </a:t>
            </a:r>
            <a:r>
              <a:rPr lang="en-US" altLang="zh-TW" dirty="0"/>
              <a:t>evaluation after base screening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BEFB3C-0408-4C5D-807E-F7A209000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758" y="2103715"/>
            <a:ext cx="3848908" cy="29849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E3A963-DFDC-45BA-A07D-5E981D738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036" y="2103715"/>
            <a:ext cx="3848905" cy="2984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3EE24E-3442-41A5-88E3-434956357A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73" y="2103715"/>
            <a:ext cx="3848907" cy="2984925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AAD2BD0-1C9A-4591-A2A1-DF4350399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678076"/>
              </p:ext>
            </p:extLst>
          </p:nvPr>
        </p:nvGraphicFramePr>
        <p:xfrm>
          <a:off x="3214687" y="5407876"/>
          <a:ext cx="57626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Worksheet" r:id="rId6" imgW="5762847" imgH="809635" progId="Excel.Sheet.12">
                  <p:embed/>
                </p:oleObj>
              </mc:Choice>
              <mc:Fallback>
                <p:oleObj name="Worksheet" r:id="rId6" imgW="5762847" imgH="8096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4687" y="5407876"/>
                        <a:ext cx="5762625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6836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34E8-503D-4489-A27B-6A06A1D4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Correlation-Based Redundancy Screening</a:t>
            </a:r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F0540-96B2-4162-8174-13470D18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512" y="1350662"/>
            <a:ext cx="3290653" cy="75162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453427-0021-4CCD-8B44-658B97AD0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TW" sz="1800" dirty="0"/>
              <a:t>Pearson correlation</a:t>
            </a:r>
          </a:p>
          <a:p>
            <a:pPr marL="457200" lvl="1" indent="0">
              <a:buNone/>
            </a:pPr>
            <a:endParaRPr lang="en-US" altLang="zh-TW" dirty="0"/>
          </a:p>
          <a:p>
            <a:pPr lvl="1"/>
            <a:r>
              <a:rPr lang="en-US" altLang="zh-TW" sz="1800" dirty="0"/>
              <a:t>multiple </a:t>
            </a:r>
            <a:r>
              <a:rPr lang="en-US" altLang="zh-TW" sz="1800" dirty="0" err="1"/>
              <a:t>R</a:t>
            </a:r>
            <a:r>
              <a:rPr lang="en-US" altLang="zh-TW" sz="1800" baseline="-25000" dirty="0" err="1"/>
              <a:t>plateau</a:t>
            </a:r>
            <a:r>
              <a:rPr lang="en-US" altLang="zh-TW" sz="1800" dirty="0"/>
              <a:t>​ features</a:t>
            </a:r>
          </a:p>
          <a:p>
            <a:pPr lvl="1"/>
            <a:r>
              <a:rPr lang="en-US" altLang="zh-TW" sz="1800" dirty="0"/>
              <a:t>large groups of AUC features</a:t>
            </a:r>
          </a:p>
          <a:p>
            <a:pPr lvl="1"/>
            <a:r>
              <a:rPr lang="en-US" altLang="zh-TW" sz="1800" dirty="0"/>
              <a:t>several Max Slope features</a:t>
            </a:r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marL="457200" lvl="1" indent="0">
              <a:buNone/>
            </a:pPr>
            <a:endParaRPr lang="en-US" altLang="zh-TW" sz="1800" dirty="0"/>
          </a:p>
          <a:p>
            <a:pPr marL="457200" lvl="1" indent="0">
              <a:buNone/>
            </a:pPr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r>
              <a:rPr lang="en-US" altLang="zh-TW" sz="1800" dirty="0"/>
              <a:t>These results indicate severe feature redundancy and multicollinearity.</a:t>
            </a:r>
          </a:p>
          <a:p>
            <a:pPr lvl="1"/>
            <a:r>
              <a:rPr lang="en-US" altLang="zh-TW" sz="1800" dirty="0"/>
              <a:t>Correlation was used to identify feature clusters rather than immediately remove individual features.</a:t>
            </a:r>
          </a:p>
          <a:p>
            <a:pPr lvl="1"/>
            <a:r>
              <a:rPr lang="en-US" altLang="zh-TW" sz="1800" dirty="0"/>
              <a:t>Final representative features will be selected based on stability, class discrimination, and RANSAC performance.</a:t>
            </a:r>
          </a:p>
          <a:p>
            <a:pPr lvl="1"/>
            <a:endParaRPr lang="en-US" altLang="zh-TW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B2ED71C-09B9-4494-B95C-247ECEE33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514174"/>
              </p:ext>
            </p:extLst>
          </p:nvPr>
        </p:nvGraphicFramePr>
        <p:xfrm>
          <a:off x="6740165" y="1690688"/>
          <a:ext cx="4580889" cy="3080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4" imgW="3285992" imgH="2209839" progId="Excel.Sheet.12">
                  <p:embed/>
                </p:oleObj>
              </mc:Choice>
              <mc:Fallback>
                <p:oleObj name="Worksheet" r:id="rId4" imgW="3285992" imgH="22098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40165" y="1690688"/>
                        <a:ext cx="4580889" cy="3080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583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1F30-8BD9-4787-8911-798D612A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RANSAC-Based Inlier Identification</a:t>
            </a:r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F0C18-41FF-46D1-8B2F-68F84679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144" y="2299087"/>
            <a:ext cx="5086237" cy="13255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C0557C-48EB-45AD-A88C-9483B89D4B78}"/>
              </a:ext>
            </a:extLst>
          </p:cNvPr>
          <p:cNvSpPr txBox="1"/>
          <p:nvPr/>
        </p:nvSpPr>
        <p:spPr>
          <a:xfrm>
            <a:off x="1094450" y="1690688"/>
            <a:ext cx="6153992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altLang="zh-TW" dirty="0"/>
              <a:t>Randomly sample 50% of the training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altLang="zh-TW" dirty="0"/>
              <a:t>Estimate a candidate center using the median.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altLang="zh-TW" dirty="0"/>
              <a:t>Compute residuals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altLang="zh-TW" dirty="0"/>
              <a:t>Apply truncated squared loss: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altLang="zh-TW" dirty="0"/>
              <a:t>Repeat up to 1,000 times.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altLang="zh-TW" dirty="0"/>
              <a:t>Select the model with the minimum loss</a:t>
            </a:r>
            <a:r>
              <a:rPr lang="en-US" altLang="zh-TW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Threshold determination: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altLang="zh-TW" dirty="0"/>
              <a:t>Inlier identification: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45136E-2EC8-4C5A-8742-DF3749634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353" y="4233049"/>
            <a:ext cx="3277057" cy="48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DF4BD2-E1A5-445E-9F7D-5CA8882D2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353" y="4703883"/>
            <a:ext cx="1838582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80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D4CD-A70A-4DC0-88FF-3F2811B4B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RANSAC</a:t>
            </a:r>
            <a:r>
              <a:rPr lang="zh-TW" altLang="en-US" dirty="0"/>
              <a:t> </a:t>
            </a:r>
            <a:r>
              <a:rPr lang="en-US" altLang="zh-TW" dirty="0"/>
              <a:t>results: Top2 feature </a:t>
            </a:r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D780C-4796-4E0A-85A1-B53468274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40" y="1461128"/>
            <a:ext cx="5439168" cy="3139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0A09C4-E6A8-4CBA-8416-DB25DEABF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368" y="1461127"/>
            <a:ext cx="5440692" cy="313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97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754C5-EB04-4ED6-8E23-6F7CC3AE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C1FC-C6E6-4672-9547-B2FE3ECD0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07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1800" dirty="0"/>
              <a:t>The maximum inlier ratio was approximately 0.68, indicating only moderate within-class consistency.</a:t>
            </a:r>
          </a:p>
          <a:p>
            <a:pPr>
              <a:lnSpc>
                <a:spcPct val="150000"/>
              </a:lnSpc>
            </a:pPr>
            <a:r>
              <a:rPr lang="en-US" altLang="zh-TW" sz="1800" dirty="0"/>
              <a:t>Many feature–VOC combinations contained substantial numbers of outliers.</a:t>
            </a:r>
          </a:p>
          <a:p>
            <a:pPr>
              <a:lnSpc>
                <a:spcPct val="150000"/>
              </a:lnSpc>
            </a:pPr>
            <a:r>
              <a:rPr lang="en-US" altLang="zh-TW" sz="1800" dirty="0"/>
              <a:t>Several top-ranked features still exhibited clear temporal trends.</a:t>
            </a:r>
          </a:p>
          <a:p>
            <a:pPr>
              <a:lnSpc>
                <a:spcPct val="150000"/>
              </a:lnSpc>
            </a:pPr>
            <a:r>
              <a:rPr lang="en-US" altLang="zh-TW" sz="1800" dirty="0"/>
              <a:t>The fixed-center RANSAC model could not fully describe features with time-dependent drift.</a:t>
            </a:r>
          </a:p>
          <a:p>
            <a:pPr>
              <a:lnSpc>
                <a:spcPct val="150000"/>
              </a:lnSpc>
            </a:pPr>
            <a:r>
              <a:rPr lang="en-US" altLang="zh-TW" sz="1800" dirty="0"/>
              <a:t>Therefore, RANSAC was mainly used to reveal unstable observations and estimate inlier probability, rather than confirm feature stability.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6941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DC37-AB11-4A9F-86B4-7902F3F9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89079-D483-4B5F-A886-4620A4626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Complete the MDIP calculation 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RANSAC-derived inlier probability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minimum distance between VOC class centers.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Rank all features according to their MDIP scores.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correlation-based cluster reduction to remove highly redundant features.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Try the linear RANSAC rather than fixed-center RANSAC.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Use Day 1–9 as the training dataset and later measurement days as validation data.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Validate the selected features on longer-term data, including Day 20, Day 30, and Day 40.</a:t>
            </a:r>
          </a:p>
        </p:txBody>
      </p:sp>
    </p:spTree>
    <p:extLst>
      <p:ext uri="{BB962C8B-B14F-4D97-AF65-F5344CB8AC3E}">
        <p14:creationId xmlns:p14="http://schemas.microsoft.com/office/powerpoint/2010/main" val="99871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706A-F5D5-47EB-B2B1-EFEA1F38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Work:</a:t>
            </a:r>
            <a:br>
              <a:rPr lang="en-US" altLang="zh-TW" dirty="0"/>
            </a:br>
            <a:r>
              <a:rPr lang="en-US" altLang="zh-TW" dirty="0"/>
              <a:t>Classification pipeline</a:t>
            </a:r>
            <a:endParaRPr lang="zh-TW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E67A2-B42B-48A5-B30C-2DE9356C094E}"/>
              </a:ext>
            </a:extLst>
          </p:cNvPr>
          <p:cNvSpPr txBox="1"/>
          <p:nvPr/>
        </p:nvSpPr>
        <p:spPr>
          <a:xfrm>
            <a:off x="7030358" y="163860"/>
            <a:ext cx="2504168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Raw Sensor Response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Extraction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(372 features)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Validation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(Response curve + PCA)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Baseline Drift Analysis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(PCA Loading)</a:t>
            </a:r>
          </a:p>
          <a:p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</a:t>
            </a:r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▼</a:t>
            </a:r>
          </a:p>
          <a:p>
            <a:r>
              <a:rPr lang="zh-TW" altLang="en-US" sz="1100" dirty="0">
                <a:solidFill>
                  <a:srgbClr val="FF0000"/>
                </a:solidFill>
              </a:rPr>
              <a:t>Feature Screening</a:t>
            </a:r>
          </a:p>
          <a:p>
            <a:r>
              <a:rPr lang="zh-TW" altLang="en-US" sz="1100" dirty="0">
                <a:solidFill>
                  <a:srgbClr val="FF0000"/>
                </a:solidFill>
              </a:rPr>
              <a:t>(Remove drift-sensitive features)</a:t>
            </a:r>
          </a:p>
          <a:p>
            <a:r>
              <a:rPr lang="zh-TW" altLang="en-US" sz="1100" dirty="0">
                <a:solidFill>
                  <a:srgbClr val="FF0000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rgbClr val="FF0000"/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rgbClr val="FF0000"/>
                </a:solidFill>
              </a:rPr>
              <a:t>310 features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├────────┐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                  </a:t>
            </a:r>
            <a:r>
              <a:rPr lang="zh-TW" altLang="en-US" sz="1100" dirty="0">
                <a:solidFill>
                  <a:srgbClr val="FF0000"/>
                </a:solidFill>
              </a:rPr>
              <a:t>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                </a:t>
            </a:r>
            <a:r>
              <a:rPr lang="zh-TW" altLang="en-US" sz="1100" dirty="0">
                <a:solidFill>
                  <a:srgbClr val="FF0000"/>
                </a:solidFill>
              </a:rPr>
              <a:t>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SVM-RFE             </a:t>
            </a:r>
            <a:r>
              <a:rPr lang="zh-TW" altLang="en-US" sz="1100" dirty="0">
                <a:solidFill>
                  <a:srgbClr val="FF0000"/>
                </a:solidFill>
              </a:rPr>
              <a:t>MDIP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(Wrapper)       </a:t>
            </a:r>
            <a:r>
              <a:rPr lang="zh-TW" altLang="en-US" sz="1100" dirty="0">
                <a:solidFill>
                  <a:srgbClr val="FF0000"/>
                </a:solidFill>
              </a:rPr>
              <a:t>(Classifier-independent)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          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        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Selected          Selected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Features          Features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         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└────────┬───────┘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  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     Classifier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      (SVM 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 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 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Future-day Validation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(Day-based split)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9B3A8C-9BD8-431E-AC93-0D20B8FC9B51}"/>
              </a:ext>
            </a:extLst>
          </p:cNvPr>
          <p:cNvSpPr/>
          <p:nvPr/>
        </p:nvSpPr>
        <p:spPr>
          <a:xfrm>
            <a:off x="6410326" y="85725"/>
            <a:ext cx="3124200" cy="669414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5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611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Microsoft Excel Worksheet</vt:lpstr>
      <vt:lpstr>Feature Screening</vt:lpstr>
      <vt:lpstr>Based Feature Screening</vt:lpstr>
      <vt:lpstr>Feature Extraction</vt:lpstr>
      <vt:lpstr>PCA Day1-3 result comparison</vt:lpstr>
      <vt:lpstr>PCA evaluation after base screening</vt:lpstr>
      <vt:lpstr>Correlation-Based Redundancy Screening</vt:lpstr>
      <vt:lpstr>RANSAC-Based Inlier Identification</vt:lpstr>
      <vt:lpstr>RANSAC results: Top2 feature </vt:lpstr>
      <vt:lpstr>Conclusion</vt:lpstr>
      <vt:lpstr>Future Work</vt:lpstr>
      <vt:lpstr>Future Work: Classification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Screening</dc:title>
  <dc:creator>Yvonne Chen</dc:creator>
  <cp:lastModifiedBy>Yvonne Chen</cp:lastModifiedBy>
  <cp:revision>7</cp:revision>
  <dcterms:created xsi:type="dcterms:W3CDTF">2026-07-22T13:52:49Z</dcterms:created>
  <dcterms:modified xsi:type="dcterms:W3CDTF">2026-07-22T14:42:23Z</dcterms:modified>
</cp:coreProperties>
</file>